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60" r:id="rId23"/>
    <p:sldId id="278" r:id="rId24"/>
    <p:sldId id="279"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2667000" y="0"/>
            <a:ext cx="6477000" cy="6858000"/>
          </a:xfrm>
          <a:prstGeom prst="rect">
            <a:avLst/>
          </a:prstGeom>
          <a:blipFill>
            <a:blip r:embed="rId2">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Straight Connector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Title 11"/>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en-US" smtClean="0"/>
              <a:t>Click to edit Master title style</a:t>
            </a:r>
            <a:endParaRPr kumimoji="0" lang="en-US"/>
          </a:p>
        </p:txBody>
      </p:sp>
      <p:sp>
        <p:nvSpPr>
          <p:cNvPr id="25" name="Subtitle 24"/>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31" name="Date Placeholder 30"/>
          <p:cNvSpPr>
            <a:spLocks noGrp="1"/>
          </p:cNvSpPr>
          <p:nvPr>
            <p:ph type="dt" sz="half" idx="10"/>
          </p:nvPr>
        </p:nvSpPr>
        <p:spPr>
          <a:xfrm>
            <a:off x="5871224" y="6557946"/>
            <a:ext cx="2002464" cy="226902"/>
          </a:xfrm>
        </p:spPr>
        <p:txBody>
          <a:bodyPr/>
          <a:lstStyle>
            <a:lvl1pPr>
              <a:defRPr lang="en-US" smtClean="0">
                <a:solidFill>
                  <a:srgbClr val="FFFFFF"/>
                </a:solidFill>
              </a:defRPr>
            </a:lvl1pPr>
            <a:extLst/>
          </a:lstStyle>
          <a:p>
            <a:fld id="{1D8BD707-D9CF-40AE-B4C6-C98DA3205C09}" type="datetimeFigureOut">
              <a:rPr lang="en-US" smtClean="0"/>
              <a:pPr/>
              <a:t>1/12/2026</a:t>
            </a:fld>
            <a:endParaRPr lang="en-US"/>
          </a:p>
        </p:txBody>
      </p:sp>
      <p:sp>
        <p:nvSpPr>
          <p:cNvPr id="18" name="Footer Placeholder 17"/>
          <p:cNvSpPr>
            <a:spLocks noGrp="1"/>
          </p:cNvSpPr>
          <p:nvPr>
            <p:ph type="ftr" sz="quarter" idx="11"/>
          </p:nvPr>
        </p:nvSpPr>
        <p:spPr>
          <a:xfrm>
            <a:off x="2819400" y="6557946"/>
            <a:ext cx="2927722" cy="228600"/>
          </a:xfrm>
        </p:spPr>
        <p:txBody>
          <a:bodyPr/>
          <a:lstStyle>
            <a:lvl1pPr>
              <a:defRPr lang="en-US" dirty="0">
                <a:solidFill>
                  <a:srgbClr val="FFFFFF"/>
                </a:solidFill>
              </a:defRPr>
            </a:lvl1pPr>
            <a:extLst/>
          </a:lstStyle>
          <a:p>
            <a:endParaRPr lang="en-US"/>
          </a:p>
        </p:txBody>
      </p:sp>
      <p:sp>
        <p:nvSpPr>
          <p:cNvPr id="29" name="Slide Number Placeholder 28"/>
          <p:cNvSpPr>
            <a:spLocks noGrp="1"/>
          </p:cNvSpPr>
          <p:nvPr>
            <p:ph type="sldNum" sz="quarter" idx="12"/>
          </p:nvPr>
        </p:nvSpPr>
        <p:spPr>
          <a:xfrm>
            <a:off x="7880884" y="6556248"/>
            <a:ext cx="588336" cy="228600"/>
          </a:xfrm>
        </p:spPr>
        <p:txBody>
          <a:bodyPr/>
          <a:lstStyle>
            <a:lvl1pPr>
              <a:defRPr lang="en-US" smtClean="0">
                <a:solidFill>
                  <a:srgbClr val="FFFFFF"/>
                </a:solidFill>
              </a:defRPr>
            </a:lvl1pPr>
            <a:extLst/>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1/12/2026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4724238" y="6556810"/>
            <a:ext cx="2002464" cy="226902"/>
          </a:xfrm>
        </p:spPr>
        <p:txBody>
          <a:bodyPr bIns="0" anchor="b"/>
          <a:lstStyle>
            <a:lvl1pPr>
              <a:defRPr>
                <a:solidFill>
                  <a:schemeClr val="tx2"/>
                </a:solidFill>
              </a:defRPr>
            </a:lvl1pPr>
            <a:extLst/>
          </a:lstStyle>
          <a:p>
            <a:fld id="{1D8BD707-D9CF-40AE-B4C6-C98DA3205C09}" type="datetimeFigureOut">
              <a:rPr lang="en-US" smtClean="0"/>
              <a:pPr/>
              <a:t>1/12/2026</a:t>
            </a:fld>
            <a:endParaRPr lang="en-US"/>
          </a:p>
        </p:txBody>
      </p:sp>
      <p:sp>
        <p:nvSpPr>
          <p:cNvPr id="5" name="Footer Placeholder 4"/>
          <p:cNvSpPr>
            <a:spLocks noGrp="1"/>
          </p:cNvSpPr>
          <p:nvPr>
            <p:ph type="ftr" sz="quarter" idx="11"/>
          </p:nvPr>
        </p:nvSpPr>
        <p:spPr>
          <a:xfrm>
            <a:off x="1735358" y="6556810"/>
            <a:ext cx="2895600" cy="228600"/>
          </a:xfrm>
        </p:spPr>
        <p:txBody>
          <a:bodyPr bIns="0" anchor="b"/>
          <a:lstStyle>
            <a:lvl1pPr>
              <a:defRPr>
                <a:solidFill>
                  <a:schemeClr val="tx2"/>
                </a:solidFill>
              </a:defRPr>
            </a:lvl1pPr>
            <a:extLst/>
          </a:lstStyle>
          <a:p>
            <a:endParaRPr lang="en-US"/>
          </a:p>
        </p:txBody>
      </p:sp>
      <p:sp>
        <p:nvSpPr>
          <p:cNvPr id="6" name="Slide Number Placeholder 5"/>
          <p:cNvSpPr>
            <a:spLocks noGrp="1"/>
          </p:cNvSpPr>
          <p:nvPr>
            <p:ph type="sldNum" sz="quarter" idx="12"/>
          </p:nvPr>
        </p:nvSpPr>
        <p:spPr>
          <a:xfrm>
            <a:off x="6733952" y="6555112"/>
            <a:ext cx="588336" cy="228600"/>
          </a:xfrm>
        </p:spPr>
        <p:txBody>
          <a:bodyPr/>
          <a:lstStyle>
            <a:extLst/>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1/12/2026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nchor="b"/>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1/12/2026</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1D8BD707-D9CF-40AE-B4C6-C98DA3205C09}" type="datetimeFigureOut">
              <a:rPr lang="en-US" smtClean="0"/>
              <a:pPr/>
              <a:t>1/12/2026</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extLst/>
          </a:lstStyle>
          <a:p>
            <a:fld id="{1D8BD707-D9CF-40AE-B4C6-C98DA3205C09}" type="datetimeFigureOut">
              <a:rPr lang="en-US" smtClean="0"/>
              <a:pPr/>
              <a:t>1/12/2026</a:t>
            </a:fld>
            <a:endParaRPr lang="en-US"/>
          </a:p>
        </p:txBody>
      </p:sp>
      <p:sp>
        <p:nvSpPr>
          <p:cNvPr id="3" name="Footer Placeholder 2"/>
          <p:cNvSpPr>
            <a:spLocks noGrp="1"/>
          </p:cNvSpPr>
          <p:nvPr>
            <p:ph type="ftr" sz="quarter" idx="11"/>
          </p:nvPr>
        </p:nvSpPr>
        <p:spPr/>
        <p:txBody>
          <a:bodyPr/>
          <a:lstStyle>
            <a:lvl1pPr>
              <a:defRPr>
                <a:solidFill>
                  <a:schemeClr val="tx2"/>
                </a:solidFill>
              </a:defRPr>
            </a:lvl1pPr>
            <a:extLst/>
          </a:lstStyle>
          <a:p>
            <a:endParaRPr lang="en-US"/>
          </a:p>
        </p:txBody>
      </p:sp>
      <p:sp>
        <p:nvSpPr>
          <p:cNvPr id="4" name="Slide Number Placeholder 3"/>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1/12/2026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n-US" smtClean="0"/>
              <a:t>Click to edit Master title style</a:t>
            </a:r>
            <a:endParaRPr kumimoji="0" lang="en-US" dirty="0"/>
          </a:p>
        </p:txBody>
      </p:sp>
      <p:sp>
        <p:nvSpPr>
          <p:cNvPr id="4" name="Text Placeholder 3"/>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smtClean="0"/>
              <a:t>Click to edit Master text styles</a:t>
            </a:r>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1/12/2026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10" name="Picture Placeholder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n-US" smtClean="0"/>
              <a:t>Click icon to add picture</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1/12/2026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274955"/>
            <a:ext cx="1524000" cy="5851525"/>
          </a:xfrm>
        </p:spPr>
        <p:txBody>
          <a:bodyPr vert="eaVert" ancho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2"/>
            <a:ext cx="60198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4242816" y="6557946"/>
            <a:ext cx="2002464" cy="226902"/>
          </a:xfrm>
        </p:spPr>
        <p:txBody>
          <a:bodyPr/>
          <a:lstStyle>
            <a:extLst/>
          </a:lstStyle>
          <a:p>
            <a:fld id="{1D8BD707-D9CF-40AE-B4C6-C98DA3205C09}" type="datetimeFigureOut">
              <a:rPr lang="en-US" smtClean="0"/>
              <a:pPr/>
              <a:t>1/12/2026</a:t>
            </a:fld>
            <a:endParaRPr lang="en-US"/>
          </a:p>
        </p:txBody>
      </p:sp>
      <p:sp>
        <p:nvSpPr>
          <p:cNvPr id="5" name="Footer Placeholder 4"/>
          <p:cNvSpPr>
            <a:spLocks noGrp="1"/>
          </p:cNvSpPr>
          <p:nvPr>
            <p:ph type="ftr" sz="quarter" idx="11"/>
          </p:nvPr>
        </p:nvSpPr>
        <p:spPr>
          <a:xfrm>
            <a:off x="457200" y="6556248"/>
            <a:ext cx="3657600" cy="228600"/>
          </a:xfrm>
        </p:spPr>
        <p:txBody>
          <a:bodyPr/>
          <a:lstStyle>
            <a:extLst/>
          </a:lstStyle>
          <a:p>
            <a:endParaRPr lang="en-US"/>
          </a:p>
        </p:txBody>
      </p:sp>
      <p:sp>
        <p:nvSpPr>
          <p:cNvPr id="6" name="Slide Number Placeholder 5"/>
          <p:cNvSpPr>
            <a:spLocks noGrp="1"/>
          </p:cNvSpPr>
          <p:nvPr>
            <p:ph type="sldNum" sz="quarter" idx="12"/>
          </p:nvPr>
        </p:nvSpPr>
        <p:spPr>
          <a:xfrm>
            <a:off x="6254496" y="6553200"/>
            <a:ext cx="588336" cy="228600"/>
          </a:xfrm>
        </p:spPr>
        <p:txBody>
          <a:bodyPr/>
          <a:lstStyle>
            <a:lvl1pPr>
              <a:defRPr>
                <a:solidFill>
                  <a:schemeClr val="tx2"/>
                </a:solidFill>
              </a:defRPr>
            </a:lvl1pPr>
            <a:extLst/>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8153400" y="0"/>
            <a:ext cx="990600" cy="6858000"/>
          </a:xfrm>
          <a:prstGeom prst="rect">
            <a:avLst/>
          </a:prstGeom>
          <a:blipFill>
            <a:blip r:embed="rId13">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3" name="Title Placeholder 2"/>
          <p:cNvSpPr>
            <a:spLocks noGrp="1"/>
          </p:cNvSpPr>
          <p:nvPr>
            <p:ph type="title"/>
          </p:nvPr>
        </p:nvSpPr>
        <p:spPr>
          <a:xfrm>
            <a:off x="457200" y="320040"/>
            <a:ext cx="7239000" cy="1143000"/>
          </a:xfrm>
          <a:prstGeom prst="rect">
            <a:avLst/>
          </a:prstGeom>
        </p:spPr>
        <p:txBody>
          <a:bodyPr vert="horz" lIns="45720" tIns="0" rIns="45720" bIns="0" anchor="b" anchorCtr="0">
            <a:normAutofit/>
          </a:bodyPr>
          <a:lstStyle>
            <a:extLst/>
          </a:lstStyle>
          <a:p>
            <a:r>
              <a:rPr kumimoji="0" lang="en-US" smtClean="0"/>
              <a:t>Click to edit Master title style</a:t>
            </a:r>
            <a:endParaRPr kumimoji="0" lang="en-US"/>
          </a:p>
        </p:txBody>
      </p:sp>
      <p:sp>
        <p:nvSpPr>
          <p:cNvPr id="31" name="Text Placeholder 30"/>
          <p:cNvSpPr>
            <a:spLocks noGrp="1"/>
          </p:cNvSpPr>
          <p:nvPr>
            <p:ph type="body" idx="1"/>
          </p:nvPr>
        </p:nvSpPr>
        <p:spPr>
          <a:xfrm>
            <a:off x="457200" y="1609416"/>
            <a:ext cx="7239000" cy="4846320"/>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7" name="Date Placeholder 26"/>
          <p:cNvSpPr>
            <a:spLocks noGrp="1"/>
          </p:cNvSpPr>
          <p:nvPr>
            <p:ph type="dt" sz="half" idx="2"/>
          </p:nvPr>
        </p:nvSpPr>
        <p:spPr>
          <a:xfrm>
            <a:off x="4245936" y="6557946"/>
            <a:ext cx="2002464" cy="226902"/>
          </a:xfrm>
          <a:prstGeom prst="rect">
            <a:avLst/>
          </a:prstGeom>
        </p:spPr>
        <p:txBody>
          <a:bodyPr vert="horz" tIns="0" bIns="0" anchor="b"/>
          <a:lstStyle>
            <a:lvl1pPr algn="l" eaLnBrk="1" latinLnBrk="0" hangingPunct="1">
              <a:defRPr kumimoji="0" sz="1000">
                <a:solidFill>
                  <a:schemeClr val="tx2"/>
                </a:solidFill>
              </a:defRPr>
            </a:lvl1pPr>
            <a:extLst/>
          </a:lstStyle>
          <a:p>
            <a:fld id="{1D8BD707-D9CF-40AE-B4C6-C98DA3205C09}" type="datetimeFigureOut">
              <a:rPr lang="en-US" smtClean="0"/>
              <a:pPr/>
              <a:t>1/12/2026</a:t>
            </a:fld>
            <a:endParaRPr lang="en-US"/>
          </a:p>
        </p:txBody>
      </p:sp>
      <p:sp>
        <p:nvSpPr>
          <p:cNvPr id="4" name="Footer Placeholder 3"/>
          <p:cNvSpPr>
            <a:spLocks noGrp="1"/>
          </p:cNvSpPr>
          <p:nvPr>
            <p:ph type="ftr" sz="quarter" idx="3"/>
          </p:nvPr>
        </p:nvSpPr>
        <p:spPr>
          <a:xfrm>
            <a:off x="457200" y="6557946"/>
            <a:ext cx="36576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en-US"/>
          </a:p>
        </p:txBody>
      </p:sp>
      <p:sp>
        <p:nvSpPr>
          <p:cNvPr id="16" name="Slide Number Placeholder 15"/>
          <p:cNvSpPr>
            <a:spLocks noGrp="1"/>
          </p:cNvSpPr>
          <p:nvPr>
            <p:ph type="sldNum" sz="quarter" idx="4"/>
          </p:nvPr>
        </p:nvSpPr>
        <p:spPr>
          <a:xfrm>
            <a:off x="6251448"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ro.rsdelivers.com/product/rs-pro/rs-pro-pt100-rtd-sensor-3mm-dia-100mm-long-4-wire/4-bspp-250c-max/2842378"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743200" y="533400"/>
            <a:ext cx="6248400" cy="3200400"/>
          </a:xfrm>
        </p:spPr>
        <p:txBody>
          <a:bodyPr/>
          <a:lstStyle/>
          <a:p>
            <a:pPr algn="ctr"/>
            <a:r>
              <a:rPr lang="ro-RO" sz="3200" dirty="0"/>
              <a:t>Proiect Senzori și Traductoare</a:t>
            </a:r>
            <a:br>
              <a:rPr lang="ro-RO" sz="3200" dirty="0"/>
            </a:br>
            <a:r>
              <a:rPr lang="ro-RO" sz="3200" dirty="0"/>
              <a:t>Sistem integrat de achiziție și afișare a temperaturii utilizând senzor PT100 și microcontroler PIC16F877A</a:t>
            </a:r>
          </a:p>
        </p:txBody>
      </p:sp>
      <p:sp>
        <p:nvSpPr>
          <p:cNvPr id="3" name="Subtitle 2"/>
          <p:cNvSpPr>
            <a:spLocks noGrp="1"/>
          </p:cNvSpPr>
          <p:nvPr>
            <p:ph type="subTitle" idx="1"/>
          </p:nvPr>
        </p:nvSpPr>
        <p:spPr>
          <a:xfrm>
            <a:off x="2819400" y="3810000"/>
            <a:ext cx="6096000" cy="1101248"/>
          </a:xfrm>
        </p:spPr>
        <p:txBody>
          <a:bodyPr/>
          <a:lstStyle/>
          <a:p>
            <a:r>
              <a:rPr lang="ro-RO" dirty="0" smtClean="0"/>
              <a:t>Proiect realizat de Ciobotaru Ionuț-Andrei</a:t>
            </a:r>
          </a:p>
          <a:p>
            <a:r>
              <a:rPr lang="ro-RO" dirty="0" smtClean="0"/>
              <a:t>Grupa 5405</a:t>
            </a:r>
            <a:endParaRPr lang="ro-RO" dirty="0"/>
          </a:p>
        </p:txBody>
      </p:sp>
    </p:spTree>
    <p:extLst>
      <p:ext uri="{BB962C8B-B14F-4D97-AF65-F5344CB8AC3E}">
        <p14:creationId xmlns:p14="http://schemas.microsoft.com/office/powerpoint/2010/main" val="59875805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ro-RO" dirty="0" smtClean="0"/>
              <a:t>CUPRINS</a:t>
            </a:r>
            <a:endParaRPr lang="ro-RO" dirty="0"/>
          </a:p>
        </p:txBody>
      </p:sp>
      <p:sp>
        <p:nvSpPr>
          <p:cNvPr id="3" name="Content Placeholder 2"/>
          <p:cNvSpPr>
            <a:spLocks noGrp="1"/>
          </p:cNvSpPr>
          <p:nvPr>
            <p:ph idx="1"/>
          </p:nvPr>
        </p:nvSpPr>
        <p:spPr/>
        <p:txBody>
          <a:bodyPr/>
          <a:lstStyle/>
          <a:p>
            <a:r>
              <a:rPr lang="vi-VN" dirty="0" smtClean="0"/>
              <a:t>Stadiul </a:t>
            </a:r>
            <a:r>
              <a:rPr lang="vi-VN" dirty="0"/>
              <a:t>Actual </a:t>
            </a:r>
            <a:endParaRPr lang="ro-RO" dirty="0"/>
          </a:p>
          <a:p>
            <a:r>
              <a:rPr lang="vi-VN" dirty="0" smtClean="0"/>
              <a:t>Arhitectura </a:t>
            </a:r>
            <a:endParaRPr lang="ro-RO" dirty="0" smtClean="0"/>
          </a:p>
          <a:p>
            <a:r>
              <a:rPr lang="vi-VN" dirty="0" smtClean="0"/>
              <a:t>Schema </a:t>
            </a:r>
            <a:r>
              <a:rPr lang="vi-VN" dirty="0"/>
              <a:t>electronică </a:t>
            </a:r>
            <a:endParaRPr lang="ro-RO" dirty="0"/>
          </a:p>
          <a:p>
            <a:r>
              <a:rPr lang="vi-VN" dirty="0" smtClean="0"/>
              <a:t>Editarea </a:t>
            </a:r>
            <a:r>
              <a:rPr lang="vi-VN" dirty="0"/>
              <a:t>codului </a:t>
            </a:r>
            <a:endParaRPr lang="ro-RO" dirty="0"/>
          </a:p>
          <a:p>
            <a:r>
              <a:rPr lang="vi-VN" dirty="0" smtClean="0"/>
              <a:t>Testare/Validare </a:t>
            </a:r>
            <a:endParaRPr lang="ro-RO" dirty="0" smtClean="0"/>
          </a:p>
          <a:p>
            <a:r>
              <a:rPr lang="vi-VN" dirty="0" smtClean="0"/>
              <a:t>Concluzii </a:t>
            </a:r>
            <a:endParaRPr lang="ro-RO" dirty="0" smtClean="0"/>
          </a:p>
          <a:p>
            <a:r>
              <a:rPr lang="vi-VN" dirty="0" smtClean="0"/>
              <a:t>Bibliografie </a:t>
            </a:r>
            <a:endParaRPr lang="ro-RO" dirty="0" smtClean="0"/>
          </a:p>
          <a:p>
            <a:r>
              <a:rPr lang="vi-VN" dirty="0" smtClean="0"/>
              <a:t>Anexă</a:t>
            </a:r>
            <a:r>
              <a:rPr lang="vi-VN" dirty="0"/>
              <a:t>. </a:t>
            </a:r>
            <a:r>
              <a:rPr lang="vi-VN" dirty="0" smtClean="0"/>
              <a:t>Codul </a:t>
            </a:r>
            <a:r>
              <a:rPr lang="vi-VN" dirty="0"/>
              <a:t>sursă al proiectului </a:t>
            </a:r>
            <a:endParaRPr lang="ro-RO" dirty="0" smtClean="0"/>
          </a:p>
          <a:p>
            <a:r>
              <a:rPr lang="vi-VN" dirty="0" smtClean="0"/>
              <a:t>Anexă</a:t>
            </a:r>
            <a:r>
              <a:rPr lang="vi-VN" dirty="0"/>
              <a:t>. Imagine 3D a circuitului</a:t>
            </a:r>
            <a:endParaRPr lang="ro-RO" dirty="0"/>
          </a:p>
        </p:txBody>
      </p:sp>
    </p:spTree>
    <p:extLst>
      <p:ext uri="{BB962C8B-B14F-4D97-AF65-F5344CB8AC3E}">
        <p14:creationId xmlns:p14="http://schemas.microsoft.com/office/powerpoint/2010/main" val="2973229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ro-RO" dirty="0" smtClean="0"/>
              <a:t>Stadiul ACTUAL</a:t>
            </a:r>
            <a:endParaRPr lang="ro-RO" dirty="0"/>
          </a:p>
        </p:txBody>
      </p:sp>
      <p:sp>
        <p:nvSpPr>
          <p:cNvPr id="3" name="Content Placeholder 2"/>
          <p:cNvSpPr>
            <a:spLocks noGrp="1"/>
          </p:cNvSpPr>
          <p:nvPr>
            <p:ph idx="1"/>
          </p:nvPr>
        </p:nvSpPr>
        <p:spPr>
          <a:xfrm>
            <a:off x="0" y="1524000"/>
            <a:ext cx="8153400" cy="5334000"/>
          </a:xfrm>
        </p:spPr>
        <p:txBody>
          <a:bodyPr/>
          <a:lstStyle/>
          <a:p>
            <a:r>
              <a:rPr lang="vi-VN" dirty="0"/>
              <a:t>PT100 este un senzor RTD bazat pe platină, având 100 </a:t>
            </a:r>
            <a:r>
              <a:rPr lang="el-GR" dirty="0"/>
              <a:t>Ω </a:t>
            </a:r>
            <a:r>
              <a:rPr lang="vi-VN" dirty="0"/>
              <a:t>la 0°C și un coeficient de variație de 0,00385 </a:t>
            </a:r>
            <a:r>
              <a:rPr lang="el-GR" dirty="0" smtClean="0"/>
              <a:t>Ω</a:t>
            </a:r>
            <a:r>
              <a:rPr lang="el-GR" dirty="0"/>
              <a:t>/°</a:t>
            </a:r>
            <a:r>
              <a:rPr lang="vi-VN" dirty="0"/>
              <a:t>C</a:t>
            </a:r>
            <a:r>
              <a:rPr lang="vi-VN" dirty="0" smtClean="0"/>
              <a:t>.</a:t>
            </a:r>
            <a:r>
              <a:rPr lang="ro-RO" dirty="0" smtClean="0"/>
              <a:t> </a:t>
            </a:r>
            <a:r>
              <a:rPr lang="en-US" dirty="0" smtClean="0"/>
              <a:t>[1]</a:t>
            </a:r>
            <a:endParaRPr lang="ro-RO" dirty="0" smtClean="0"/>
          </a:p>
          <a:p>
            <a:r>
              <a:rPr lang="vi-VN" dirty="0"/>
              <a:t>Oferă precizie ridicată, stabilitate în timp și funcționare pe un domeniu larg de temperatură (≈ −200…+850 °C</a:t>
            </a:r>
            <a:r>
              <a:rPr lang="vi-VN" dirty="0" smtClean="0"/>
              <a:t>).</a:t>
            </a:r>
            <a:endParaRPr lang="ro-RO" dirty="0" smtClean="0"/>
          </a:p>
          <a:p>
            <a:r>
              <a:rPr lang="vi-VN" dirty="0"/>
              <a:t>Este larg utilizat în aplicații industriale, datorită linearității, repetabilității și rezistenței la medii dure</a:t>
            </a:r>
            <a:r>
              <a:rPr lang="vi-VN" dirty="0" smtClean="0"/>
              <a:t>.</a:t>
            </a:r>
            <a:endParaRPr lang="ro-RO" dirty="0" smtClean="0"/>
          </a:p>
          <a:p>
            <a:r>
              <a:rPr lang="ro-RO" dirty="0"/>
              <a:t>Conectarea senzorului se face în configurații cu 2, 3 sau 4 fire, în funcție de nivelul de precizie dorit și de compensarea rezistenței cablurilor</a:t>
            </a:r>
            <a:r>
              <a:rPr lang="ro-RO" dirty="0" smtClean="0"/>
              <a:t>.</a:t>
            </a:r>
            <a:r>
              <a:rPr lang="en-US" dirty="0" smtClean="0"/>
              <a:t> [2]</a:t>
            </a:r>
            <a:endParaRPr lang="ro-RO" dirty="0"/>
          </a:p>
        </p:txBody>
      </p:sp>
    </p:spTree>
    <p:extLst>
      <p:ext uri="{BB962C8B-B14F-4D97-AF65-F5344CB8AC3E}">
        <p14:creationId xmlns:p14="http://schemas.microsoft.com/office/powerpoint/2010/main" val="612747121"/>
      </p:ext>
    </p:extLst>
  </p:cSld>
  <p:clrMapOvr>
    <a:masterClrMapping/>
  </p:clrMapOvr>
  <p:transition spd="slow">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0"/>
            <a:ext cx="8153400" cy="601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0" y="5943600"/>
            <a:ext cx="8153400" cy="369332"/>
          </a:xfrm>
          <a:prstGeom prst="rect">
            <a:avLst/>
          </a:prstGeom>
          <a:noFill/>
        </p:spPr>
        <p:txBody>
          <a:bodyPr wrap="square" rtlCol="0">
            <a:spAutoFit/>
          </a:bodyPr>
          <a:lstStyle/>
          <a:p>
            <a:pPr algn="ctr"/>
            <a:r>
              <a:rPr lang="en-US" dirty="0" err="1" smtClean="0"/>
              <a:t>Senzor</a:t>
            </a:r>
            <a:r>
              <a:rPr lang="en-US" dirty="0" smtClean="0"/>
              <a:t> PT100 </a:t>
            </a:r>
            <a:r>
              <a:rPr lang="ro-RO" dirty="0" smtClean="0"/>
              <a:t>în format fizic </a:t>
            </a:r>
            <a:r>
              <a:rPr lang="en-US" dirty="0" smtClean="0"/>
              <a:t>[3]</a:t>
            </a:r>
            <a:endParaRPr lang="ro-RO" dirty="0"/>
          </a:p>
        </p:txBody>
      </p:sp>
    </p:spTree>
    <p:extLst>
      <p:ext uri="{BB962C8B-B14F-4D97-AF65-F5344CB8AC3E}">
        <p14:creationId xmlns:p14="http://schemas.microsoft.com/office/powerpoint/2010/main" val="3924414527"/>
      </p:ext>
    </p:extLst>
  </p:cSld>
  <p:clrMapOvr>
    <a:masterClrMapping/>
  </p:clrMapOvr>
  <p:transition spd="slow">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62000"/>
            <a:ext cx="8153400" cy="5693736"/>
          </a:xfrm>
        </p:spPr>
        <p:txBody>
          <a:bodyPr>
            <a:normAutofit/>
          </a:bodyPr>
          <a:lstStyle/>
          <a:p>
            <a:r>
              <a:rPr lang="pt-BR" dirty="0"/>
              <a:t>Numeroase brevete propun metode de</a:t>
            </a:r>
            <a:r>
              <a:rPr lang="pt-BR" dirty="0" smtClean="0"/>
              <a:t>:</a:t>
            </a:r>
          </a:p>
          <a:p>
            <a:pPr marL="514350" indent="-514350">
              <a:buFont typeface="+mj-lt"/>
              <a:buAutoNum type="arabicPeriod"/>
            </a:pPr>
            <a:r>
              <a:rPr lang="en-US" dirty="0"/>
              <a:t>c</a:t>
            </a:r>
            <a:r>
              <a:rPr lang="vi-VN" dirty="0" smtClean="0"/>
              <a:t>ompensare </a:t>
            </a:r>
            <a:r>
              <a:rPr lang="vi-VN" dirty="0"/>
              <a:t>automată a rezistenței firelor (în special conexiuni în 4 fire</a:t>
            </a:r>
            <a:r>
              <a:rPr lang="vi-VN" dirty="0" smtClean="0"/>
              <a:t>)</a:t>
            </a:r>
            <a:r>
              <a:rPr lang="en-US" dirty="0" smtClean="0"/>
              <a:t> [4] [5]</a:t>
            </a:r>
          </a:p>
          <a:p>
            <a:pPr marL="514350" indent="-514350">
              <a:buFont typeface="+mj-lt"/>
              <a:buAutoNum type="arabicPeriod"/>
            </a:pPr>
            <a:r>
              <a:rPr lang="vi-VN" dirty="0"/>
              <a:t>corectare a erorilor și </a:t>
            </a:r>
            <a:r>
              <a:rPr lang="vi-VN" dirty="0" smtClean="0"/>
              <a:t>neliniarităților</a:t>
            </a:r>
            <a:endParaRPr lang="en-US" dirty="0" smtClean="0"/>
          </a:p>
          <a:p>
            <a:pPr marL="514350" indent="-514350">
              <a:buFont typeface="+mj-lt"/>
              <a:buAutoNum type="arabicPeriod"/>
            </a:pPr>
            <a:r>
              <a:rPr lang="vi-VN" dirty="0"/>
              <a:t>integrare cu ADC-uri de înaltă rezoluție și </a:t>
            </a:r>
            <a:r>
              <a:rPr lang="vi-VN" dirty="0" smtClean="0"/>
              <a:t>microcontrolere</a:t>
            </a:r>
            <a:r>
              <a:rPr lang="en-US" dirty="0"/>
              <a:t>. [6</a:t>
            </a:r>
            <a:r>
              <a:rPr lang="en-US" dirty="0" smtClean="0"/>
              <a:t>] [7] [8]</a:t>
            </a:r>
          </a:p>
          <a:p>
            <a:r>
              <a:rPr lang="en-US" dirty="0" smtClean="0"/>
              <a:t>S</a:t>
            </a:r>
            <a:r>
              <a:rPr lang="vi-VN" dirty="0" smtClean="0"/>
              <a:t>unt </a:t>
            </a:r>
            <a:r>
              <a:rPr lang="vi-VN" dirty="0"/>
              <a:t>utilizate punți de măsură, amplificatoare diferențiale, surse de curent constant și conversie analog–digitală precisă. </a:t>
            </a:r>
            <a:r>
              <a:rPr lang="vi-VN" dirty="0" smtClean="0"/>
              <a:t>[</a:t>
            </a:r>
            <a:r>
              <a:rPr lang="en-US" dirty="0"/>
              <a:t>9</a:t>
            </a:r>
            <a:r>
              <a:rPr lang="vi-VN" dirty="0" smtClean="0"/>
              <a:t>]</a:t>
            </a:r>
            <a:endParaRPr lang="en-US" dirty="0" smtClean="0"/>
          </a:p>
          <a:p>
            <a:r>
              <a:rPr lang="vi-VN" dirty="0"/>
              <a:t>Tendința actuală: simplificarea și reducerea costurilor, menținând o precizie bună — direcție urmată și de proiectul propus.</a:t>
            </a:r>
            <a:endParaRPr lang="en-US" dirty="0" smtClean="0"/>
          </a:p>
          <a:p>
            <a:pPr marL="514350" indent="-514350">
              <a:buFont typeface="+mj-lt"/>
              <a:buAutoNum type="arabicPeriod"/>
            </a:pPr>
            <a:endParaRPr lang="ro-RO" dirty="0"/>
          </a:p>
        </p:txBody>
      </p:sp>
    </p:spTree>
    <p:extLst>
      <p:ext uri="{BB962C8B-B14F-4D97-AF65-F5344CB8AC3E}">
        <p14:creationId xmlns:p14="http://schemas.microsoft.com/office/powerpoint/2010/main" val="405292938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smtClean="0"/>
              <a:t>Arhitectura</a:t>
            </a:r>
            <a:endParaRPr lang="ro-RO" dirty="0"/>
          </a:p>
        </p:txBody>
      </p:sp>
      <p:pic>
        <p:nvPicPr>
          <p:cNvPr id="4" name="Image 5"/>
          <p:cNvPicPr>
            <a:picLocks noGrp="1"/>
          </p:cNvPicPr>
          <p:nvPr>
            <p:ph idx="1"/>
          </p:nvPr>
        </p:nvPicPr>
        <p:blipFill>
          <a:blip r:embed="rId2" cstate="print"/>
          <a:stretch>
            <a:fillRect/>
          </a:stretch>
        </p:blipFill>
        <p:spPr>
          <a:xfrm>
            <a:off x="27709" y="1524000"/>
            <a:ext cx="8125691" cy="5334000"/>
          </a:xfrm>
          <a:prstGeom prst="rect">
            <a:avLst/>
          </a:prstGeom>
        </p:spPr>
      </p:pic>
    </p:spTree>
    <p:extLst>
      <p:ext uri="{BB962C8B-B14F-4D97-AF65-F5344CB8AC3E}">
        <p14:creationId xmlns:p14="http://schemas.microsoft.com/office/powerpoint/2010/main" val="345363375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smtClean="0"/>
              <a:t>Arhitectura</a:t>
            </a:r>
            <a:endParaRPr lang="ro-RO" dirty="0"/>
          </a:p>
        </p:txBody>
      </p:sp>
      <p:sp>
        <p:nvSpPr>
          <p:cNvPr id="3" name="Content Placeholder 2"/>
          <p:cNvSpPr>
            <a:spLocks noGrp="1"/>
          </p:cNvSpPr>
          <p:nvPr>
            <p:ph idx="1"/>
          </p:nvPr>
        </p:nvSpPr>
        <p:spPr>
          <a:xfrm>
            <a:off x="0" y="1609416"/>
            <a:ext cx="8153400" cy="5248584"/>
          </a:xfrm>
        </p:spPr>
        <p:txBody>
          <a:bodyPr>
            <a:normAutofit fontScale="92500"/>
          </a:bodyPr>
          <a:lstStyle/>
          <a:p>
            <a:r>
              <a:rPr lang="vi-VN" dirty="0"/>
              <a:t>Sistemul de achiziție a temperaturii este bazat pe senzorul RTD PT100, care transformă variațiile de temperatură în variații de rezistență</a:t>
            </a:r>
            <a:r>
              <a:rPr lang="vi-VN" dirty="0" smtClean="0"/>
              <a:t>.</a:t>
            </a:r>
            <a:r>
              <a:rPr lang="en-US" dirty="0" smtClean="0"/>
              <a:t> [1] [10]</a:t>
            </a:r>
          </a:p>
          <a:p>
            <a:r>
              <a:rPr lang="vi-VN" dirty="0"/>
              <a:t>Puntea Wheatstone, împreună cu amplificatorul operațional LM358N, convertește variația de rezistență într-un semnal de tensiune proporțional cu temperatura</a:t>
            </a:r>
            <a:r>
              <a:rPr lang="vi-VN" dirty="0" smtClean="0"/>
              <a:t>.</a:t>
            </a:r>
            <a:endParaRPr lang="en-US" dirty="0" smtClean="0"/>
          </a:p>
          <a:p>
            <a:r>
              <a:rPr lang="vi-VN" dirty="0"/>
              <a:t>Semnalul analogic este achiziționat</a:t>
            </a:r>
            <a:r>
              <a:rPr lang="vi-VN" dirty="0" smtClean="0"/>
              <a:t>:</a:t>
            </a:r>
            <a:endParaRPr lang="en-US" dirty="0" smtClean="0"/>
          </a:p>
          <a:p>
            <a:pPr>
              <a:buFont typeface="Wingdings" panose="05000000000000000000" pitchFamily="2" charset="2"/>
              <a:buChar char="Ø"/>
            </a:pPr>
            <a:r>
              <a:rPr lang="vi-VN" dirty="0" smtClean="0"/>
              <a:t>fie </a:t>
            </a:r>
            <a:r>
              <a:rPr lang="vi-VN" dirty="0"/>
              <a:t>prin convertorul A/D extern PCF8591 (8 biți</a:t>
            </a:r>
            <a:r>
              <a:rPr lang="vi-VN" dirty="0" smtClean="0"/>
              <a:t>),</a:t>
            </a:r>
            <a:endParaRPr lang="en-US" dirty="0" smtClean="0"/>
          </a:p>
          <a:p>
            <a:pPr>
              <a:buFont typeface="Wingdings" panose="05000000000000000000" pitchFamily="2" charset="2"/>
              <a:buChar char="Ø"/>
            </a:pPr>
            <a:r>
              <a:rPr lang="vi-VN" dirty="0" smtClean="0"/>
              <a:t>fie </a:t>
            </a:r>
            <a:r>
              <a:rPr lang="vi-VN" dirty="0"/>
              <a:t>prin convertorul A/D intern al PIC16F877A (10 biți), permițând compararea și creșterea flexibilității măsurării</a:t>
            </a:r>
            <a:r>
              <a:rPr lang="vi-VN" dirty="0" smtClean="0"/>
              <a:t>.</a:t>
            </a:r>
            <a:endParaRPr lang="en-US" dirty="0" smtClean="0"/>
          </a:p>
          <a:p>
            <a:pPr>
              <a:buFont typeface="Wingdings" panose="05000000000000000000" pitchFamily="2" charset="2"/>
              <a:buChar char="Ø"/>
            </a:pPr>
            <a:r>
              <a:rPr lang="it-IT" dirty="0"/>
              <a:t>Microcontrolerul PIC16F877A realizează procesarea numerică a datelor și gestionează comunicația cu perifericele.</a:t>
            </a:r>
            <a:endParaRPr lang="en-US" dirty="0" smtClean="0"/>
          </a:p>
          <a:p>
            <a:pPr>
              <a:buFont typeface="Wingdings" panose="05000000000000000000" pitchFamily="2" charset="2"/>
              <a:buChar char="Ø"/>
            </a:pPr>
            <a:endParaRPr lang="ro-RO" dirty="0"/>
          </a:p>
        </p:txBody>
      </p:sp>
    </p:spTree>
    <p:extLst>
      <p:ext uri="{BB962C8B-B14F-4D97-AF65-F5344CB8AC3E}">
        <p14:creationId xmlns:p14="http://schemas.microsoft.com/office/powerpoint/2010/main" val="4080576846"/>
      </p:ext>
    </p:extLst>
  </p:cSld>
  <p:clrMapOvr>
    <a:masterClrMapping/>
  </p:clrMapOvr>
  <p:transition spd="slow">
    <p:randomBar dir="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29" b="3497"/>
          <a:stretch/>
        </p:blipFill>
        <p:spPr bwMode="auto">
          <a:xfrm>
            <a:off x="0" y="17318"/>
            <a:ext cx="8153400" cy="6307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0" y="6463329"/>
            <a:ext cx="8153400" cy="369332"/>
          </a:xfrm>
          <a:prstGeom prst="rect">
            <a:avLst/>
          </a:prstGeom>
          <a:noFill/>
        </p:spPr>
        <p:txBody>
          <a:bodyPr wrap="square" rtlCol="0">
            <a:spAutoFit/>
          </a:bodyPr>
          <a:lstStyle/>
          <a:p>
            <a:pPr algn="ctr"/>
            <a:r>
              <a:rPr lang="ro-RO" dirty="0" smtClean="0"/>
              <a:t>PCF8591</a:t>
            </a:r>
            <a:r>
              <a:rPr lang="en-US" dirty="0" smtClean="0"/>
              <a:t>[11]</a:t>
            </a:r>
            <a:endParaRPr lang="ro-RO" dirty="0"/>
          </a:p>
        </p:txBody>
      </p:sp>
    </p:spTree>
    <p:extLst>
      <p:ext uri="{BB962C8B-B14F-4D97-AF65-F5344CB8AC3E}">
        <p14:creationId xmlns:p14="http://schemas.microsoft.com/office/powerpoint/2010/main" val="197220022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8"/>
          <p:cNvPicPr/>
          <p:nvPr/>
        </p:nvPicPr>
        <p:blipFill>
          <a:blip r:embed="rId2" cstate="print"/>
          <a:stretch>
            <a:fillRect/>
          </a:stretch>
        </p:blipFill>
        <p:spPr>
          <a:xfrm>
            <a:off x="-2310" y="20782"/>
            <a:ext cx="8106064" cy="6227618"/>
          </a:xfrm>
          <a:prstGeom prst="rect">
            <a:avLst/>
          </a:prstGeom>
        </p:spPr>
      </p:pic>
      <p:sp>
        <p:nvSpPr>
          <p:cNvPr id="5" name="TextBox 4"/>
          <p:cNvSpPr txBox="1"/>
          <p:nvPr/>
        </p:nvSpPr>
        <p:spPr>
          <a:xfrm>
            <a:off x="0" y="6400800"/>
            <a:ext cx="8103754" cy="369332"/>
          </a:xfrm>
          <a:prstGeom prst="rect">
            <a:avLst/>
          </a:prstGeom>
          <a:noFill/>
        </p:spPr>
        <p:txBody>
          <a:bodyPr wrap="square" rtlCol="0">
            <a:spAutoFit/>
          </a:bodyPr>
          <a:lstStyle/>
          <a:p>
            <a:pPr algn="ctr"/>
            <a:r>
              <a:rPr lang="ro-RO" dirty="0"/>
              <a:t>Pinout-ul lui PIC16F877A </a:t>
            </a:r>
            <a:r>
              <a:rPr lang="en-US" dirty="0" smtClean="0"/>
              <a:t> [12]</a:t>
            </a:r>
            <a:endParaRPr lang="ro-RO" dirty="0"/>
          </a:p>
        </p:txBody>
      </p:sp>
    </p:spTree>
    <p:extLst>
      <p:ext uri="{BB962C8B-B14F-4D97-AF65-F5344CB8AC3E}">
        <p14:creationId xmlns:p14="http://schemas.microsoft.com/office/powerpoint/2010/main" val="1382788754"/>
      </p:ext>
    </p:extLst>
  </p:cSld>
  <p:clrMapOvr>
    <a:masterClrMapping/>
  </p:clrMapOvr>
  <p:transition spd="slow">
    <p:pull/>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609416"/>
            <a:ext cx="8153400" cy="4846320"/>
          </a:xfrm>
        </p:spPr>
        <p:txBody>
          <a:bodyPr/>
          <a:lstStyle/>
          <a:p>
            <a:r>
              <a:rPr lang="vi-VN" dirty="0"/>
              <a:t>PCF8591 comunică cu PIC16F877A prin interfața I²C, utilizând liniile:RC3 – </a:t>
            </a:r>
            <a:r>
              <a:rPr lang="vi-VN" dirty="0" smtClean="0"/>
              <a:t>SCL</a:t>
            </a:r>
            <a:r>
              <a:rPr lang="en-US" dirty="0" smtClean="0"/>
              <a:t> </a:t>
            </a:r>
            <a:r>
              <a:rPr lang="ro-RO" dirty="0" smtClean="0"/>
              <a:t>și </a:t>
            </a:r>
            <a:r>
              <a:rPr lang="vi-VN" dirty="0" smtClean="0"/>
              <a:t>RC4 </a:t>
            </a:r>
            <a:r>
              <a:rPr lang="vi-VN" dirty="0"/>
              <a:t>– </a:t>
            </a:r>
            <a:r>
              <a:rPr lang="vi-VN" dirty="0" smtClean="0"/>
              <a:t>SDA</a:t>
            </a:r>
            <a:r>
              <a:rPr lang="ro-RO" dirty="0"/>
              <a:t> </a:t>
            </a:r>
            <a:r>
              <a:rPr lang="vi-VN" dirty="0" smtClean="0"/>
              <a:t>cu </a:t>
            </a:r>
            <a:r>
              <a:rPr lang="vi-VN" dirty="0"/>
              <a:t>rezistențe de pull-up pentru stabilitatea magistralei</a:t>
            </a:r>
            <a:r>
              <a:rPr lang="vi-VN" dirty="0" smtClean="0"/>
              <a:t>.</a:t>
            </a:r>
            <a:endParaRPr lang="ro-RO" dirty="0" smtClean="0"/>
          </a:p>
          <a:p>
            <a:r>
              <a:rPr lang="vi-VN" dirty="0"/>
              <a:t>I²C este utilizat pentru achiziția datelor analogice </a:t>
            </a:r>
            <a:r>
              <a:rPr lang="vi-VN" dirty="0" smtClean="0"/>
              <a:t>datorită</a:t>
            </a:r>
            <a:r>
              <a:rPr lang="ro-RO" dirty="0" smtClean="0"/>
              <a:t> </a:t>
            </a:r>
            <a:r>
              <a:rPr lang="vi-VN" dirty="0" smtClean="0"/>
              <a:t>utilizării </a:t>
            </a:r>
            <a:r>
              <a:rPr lang="vi-VN" dirty="0"/>
              <a:t>unui număr redus de </a:t>
            </a:r>
            <a:r>
              <a:rPr lang="vi-VN" dirty="0" smtClean="0"/>
              <a:t>pini</a:t>
            </a:r>
            <a:r>
              <a:rPr lang="ro-RO" dirty="0"/>
              <a:t> </a:t>
            </a:r>
            <a:r>
              <a:rPr lang="ro-RO" dirty="0" smtClean="0"/>
              <a:t>și </a:t>
            </a:r>
            <a:r>
              <a:rPr lang="vi-VN" dirty="0" smtClean="0"/>
              <a:t>posibilității </a:t>
            </a:r>
            <a:r>
              <a:rPr lang="vi-VN" dirty="0"/>
              <a:t>de extindere cu alte periferice</a:t>
            </a:r>
            <a:r>
              <a:rPr lang="vi-VN" dirty="0" smtClean="0"/>
              <a:t>.</a:t>
            </a:r>
            <a:endParaRPr lang="ro-RO" dirty="0" smtClean="0"/>
          </a:p>
          <a:p>
            <a:r>
              <a:rPr lang="vi-VN" dirty="0"/>
              <a:t>UART este folosit pentru transmiterea datelor procesate către un virtual </a:t>
            </a:r>
            <a:r>
              <a:rPr lang="vi-VN" dirty="0" smtClean="0"/>
              <a:t>terminal,</a:t>
            </a:r>
            <a:r>
              <a:rPr lang="ro-RO" dirty="0" smtClean="0"/>
              <a:t> </a:t>
            </a:r>
            <a:r>
              <a:rPr lang="vi-VN" dirty="0" smtClean="0"/>
              <a:t>permițând</a:t>
            </a:r>
            <a:r>
              <a:rPr lang="ro-RO" dirty="0" smtClean="0"/>
              <a:t> </a:t>
            </a:r>
            <a:r>
              <a:rPr lang="vi-VN" dirty="0" smtClean="0"/>
              <a:t>afișarea </a:t>
            </a:r>
            <a:r>
              <a:rPr lang="vi-VN" dirty="0"/>
              <a:t>temperaturii în timp real</a:t>
            </a:r>
            <a:r>
              <a:rPr lang="vi-VN" dirty="0" smtClean="0"/>
              <a:t>,</a:t>
            </a:r>
            <a:r>
              <a:rPr lang="ro-RO" dirty="0" smtClean="0"/>
              <a:t> </a:t>
            </a:r>
            <a:r>
              <a:rPr lang="vi-VN" dirty="0" smtClean="0"/>
              <a:t>monitorizare </a:t>
            </a:r>
            <a:r>
              <a:rPr lang="vi-VN" dirty="0"/>
              <a:t>și depanare.</a:t>
            </a:r>
            <a:endParaRPr lang="ro-RO" dirty="0"/>
          </a:p>
        </p:txBody>
      </p:sp>
    </p:spTree>
    <p:extLst>
      <p:ext uri="{BB962C8B-B14F-4D97-AF65-F5344CB8AC3E}">
        <p14:creationId xmlns:p14="http://schemas.microsoft.com/office/powerpoint/2010/main" val="1315865280"/>
      </p:ext>
    </p:extLst>
  </p:cSld>
  <p:clrMapOvr>
    <a:masterClrMapping/>
  </p:clrMapOvr>
  <p:transition spd="slow">
    <p:cove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153400" cy="609600"/>
          </a:xfrm>
        </p:spPr>
        <p:txBody>
          <a:bodyPr/>
          <a:lstStyle/>
          <a:p>
            <a:pPr algn="ctr"/>
            <a:r>
              <a:rPr lang="ro-RO" dirty="0" smtClean="0"/>
              <a:t>Schema electronica</a:t>
            </a:r>
            <a:endParaRPr lang="ro-RO" dirty="0"/>
          </a:p>
        </p:txBody>
      </p:sp>
      <p:pic>
        <p:nvPicPr>
          <p:cNvPr id="4" name="Image 9"/>
          <p:cNvPicPr/>
          <p:nvPr/>
        </p:nvPicPr>
        <p:blipFill>
          <a:blip r:embed="rId2" cstate="print"/>
          <a:stretch>
            <a:fillRect/>
          </a:stretch>
        </p:blipFill>
        <p:spPr>
          <a:xfrm>
            <a:off x="0" y="685800"/>
            <a:ext cx="8153400" cy="6172200"/>
          </a:xfrm>
          <a:prstGeom prst="rect">
            <a:avLst/>
          </a:prstGeom>
        </p:spPr>
      </p:pic>
    </p:spTree>
    <p:extLst>
      <p:ext uri="{BB962C8B-B14F-4D97-AF65-F5344CB8AC3E}">
        <p14:creationId xmlns:p14="http://schemas.microsoft.com/office/powerpoint/2010/main" val="377727586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636" y="13855"/>
            <a:ext cx="8188036" cy="671945"/>
          </a:xfrm>
        </p:spPr>
        <p:txBody>
          <a:bodyPr/>
          <a:lstStyle/>
          <a:p>
            <a:pPr algn="ctr"/>
            <a:r>
              <a:rPr lang="ro-RO" dirty="0" smtClean="0"/>
              <a:t>Funcționarea circuitului</a:t>
            </a:r>
            <a:endParaRPr lang="ro-RO" dirty="0"/>
          </a:p>
        </p:txBody>
      </p:sp>
      <p:sp>
        <p:nvSpPr>
          <p:cNvPr id="3" name="Content Placeholder 2"/>
          <p:cNvSpPr>
            <a:spLocks noGrp="1"/>
          </p:cNvSpPr>
          <p:nvPr>
            <p:ph idx="1"/>
          </p:nvPr>
        </p:nvSpPr>
        <p:spPr>
          <a:xfrm>
            <a:off x="0" y="685800"/>
            <a:ext cx="8153400" cy="6172200"/>
          </a:xfrm>
        </p:spPr>
        <p:txBody>
          <a:bodyPr>
            <a:normAutofit fontScale="85000" lnSpcReduction="10000"/>
          </a:bodyPr>
          <a:lstStyle/>
          <a:p>
            <a:r>
              <a:rPr lang="vi-VN" dirty="0"/>
              <a:t>Senzorul RTD PT100 este integrat într-o punte Wheatstone, unde variația rezistenței cu temperatura produce un dezechilibru al punții și o tensiune diferențială de ordinul mV, proporțională cu temperatura.Tensiunea diferențială este aplicată la intrările amplificatorului operațional LM358N, care amplifică și adaptează semnalul la domeniul necesar conversiei analog–digitale, utilizând alimentare cu sursă unică</a:t>
            </a:r>
            <a:r>
              <a:rPr lang="vi-VN" dirty="0" smtClean="0"/>
              <a:t>.</a:t>
            </a:r>
            <a:endParaRPr lang="ro-RO" dirty="0" smtClean="0"/>
          </a:p>
          <a:p>
            <a:r>
              <a:rPr lang="vi-VN" dirty="0"/>
              <a:t>Semnalul analogic amplificat este distribuit simultan către</a:t>
            </a:r>
            <a:r>
              <a:rPr lang="vi-VN" dirty="0" smtClean="0"/>
              <a:t>:</a:t>
            </a:r>
            <a:r>
              <a:rPr lang="ro-RO" dirty="0" smtClean="0"/>
              <a:t> </a:t>
            </a:r>
          </a:p>
          <a:p>
            <a:pPr>
              <a:buFont typeface="Wingdings" panose="05000000000000000000" pitchFamily="2" charset="2"/>
              <a:buChar char="Ø"/>
            </a:pPr>
            <a:r>
              <a:rPr lang="vi-VN" dirty="0" smtClean="0"/>
              <a:t>ADC-ul </a:t>
            </a:r>
            <a:r>
              <a:rPr lang="vi-VN" dirty="0"/>
              <a:t>extern PCF8591, pentru achiziție prin interfața </a:t>
            </a:r>
            <a:r>
              <a:rPr lang="vi-VN" dirty="0" smtClean="0"/>
              <a:t>I²C</a:t>
            </a:r>
            <a:endParaRPr lang="ro-RO" dirty="0" smtClean="0"/>
          </a:p>
          <a:p>
            <a:pPr>
              <a:buFont typeface="Wingdings" panose="05000000000000000000" pitchFamily="2" charset="2"/>
              <a:buChar char="Ø"/>
            </a:pPr>
            <a:r>
              <a:rPr lang="vi-VN" dirty="0" smtClean="0"/>
              <a:t>ADC-ul </a:t>
            </a:r>
            <a:r>
              <a:rPr lang="vi-VN" dirty="0"/>
              <a:t>intern al PIC16F877A, permițând comparația și flexibilitatea măsurării</a:t>
            </a:r>
            <a:r>
              <a:rPr lang="vi-VN" dirty="0" smtClean="0"/>
              <a:t>.</a:t>
            </a:r>
            <a:endParaRPr lang="ro-RO" dirty="0" smtClean="0"/>
          </a:p>
          <a:p>
            <a:pPr>
              <a:buFont typeface="Wingdings" panose="05000000000000000000" pitchFamily="2" charset="2"/>
              <a:buChar char="Ø"/>
            </a:pPr>
            <a:r>
              <a:rPr lang="vi-VN" dirty="0"/>
              <a:t>PCF8591 comunică cu microcontrolerul prin magistrala I²C (SDA, SCL), cu rezistențe de pull-up pentru stabilitatea comunicației</a:t>
            </a:r>
            <a:r>
              <a:rPr lang="vi-VN" dirty="0" smtClean="0"/>
              <a:t>.</a:t>
            </a:r>
            <a:endParaRPr lang="ro-RO" dirty="0" smtClean="0"/>
          </a:p>
          <a:p>
            <a:pPr>
              <a:buFont typeface="Wingdings" panose="05000000000000000000" pitchFamily="2" charset="2"/>
              <a:buChar char="Ø"/>
            </a:pPr>
            <a:r>
              <a:rPr lang="vi-VN" dirty="0"/>
              <a:t>PIC16F877A procesează datele și transmite valorile temperaturii către un terminal virtual prin UART, pentru afișare și monitorizare în timp real.</a:t>
            </a:r>
            <a:endParaRPr lang="ro-RO" dirty="0"/>
          </a:p>
        </p:txBody>
      </p:sp>
    </p:spTree>
    <p:extLst>
      <p:ext uri="{BB962C8B-B14F-4D97-AF65-F5344CB8AC3E}">
        <p14:creationId xmlns:p14="http://schemas.microsoft.com/office/powerpoint/2010/main" val="59971760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10"/>
          <p:cNvPicPr/>
          <p:nvPr/>
        </p:nvPicPr>
        <p:blipFill>
          <a:blip r:embed="rId2" cstate="print"/>
          <a:stretch>
            <a:fillRect/>
          </a:stretch>
        </p:blipFill>
        <p:spPr>
          <a:xfrm>
            <a:off x="1336964" y="0"/>
            <a:ext cx="5929745" cy="6878782"/>
          </a:xfrm>
          <a:prstGeom prst="rect">
            <a:avLst/>
          </a:prstGeom>
        </p:spPr>
      </p:pic>
    </p:spTree>
    <p:extLst>
      <p:ext uri="{BB962C8B-B14F-4D97-AF65-F5344CB8AC3E}">
        <p14:creationId xmlns:p14="http://schemas.microsoft.com/office/powerpoint/2010/main" val="2060229587"/>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153400" cy="457200"/>
          </a:xfrm>
        </p:spPr>
        <p:txBody>
          <a:bodyPr>
            <a:normAutofit fontScale="90000"/>
          </a:bodyPr>
          <a:lstStyle/>
          <a:p>
            <a:pPr algn="ctr"/>
            <a:r>
              <a:rPr lang="ro-RO" dirty="0" smtClean="0"/>
              <a:t>Editarea codului</a:t>
            </a:r>
            <a:endParaRPr lang="ro-RO" dirty="0"/>
          </a:p>
        </p:txBody>
      </p:sp>
      <p:sp>
        <p:nvSpPr>
          <p:cNvPr id="3" name="Content Placeholder 2"/>
          <p:cNvSpPr>
            <a:spLocks noGrp="1"/>
          </p:cNvSpPr>
          <p:nvPr>
            <p:ph idx="1"/>
          </p:nvPr>
        </p:nvSpPr>
        <p:spPr>
          <a:xfrm>
            <a:off x="0" y="533400"/>
            <a:ext cx="8153400" cy="6324600"/>
          </a:xfrm>
        </p:spPr>
        <p:txBody>
          <a:bodyPr/>
          <a:lstStyle/>
          <a:p>
            <a:r>
              <a:rPr lang="vi-VN" dirty="0"/>
              <a:t>Sistemul utilizează două metode de achiziție a temperaturii</a:t>
            </a:r>
            <a:r>
              <a:rPr lang="vi-VN" dirty="0" smtClean="0"/>
              <a:t>:</a:t>
            </a:r>
            <a:endParaRPr lang="ro-RO" dirty="0" smtClean="0"/>
          </a:p>
          <a:p>
            <a:pPr>
              <a:buFont typeface="Wingdings" panose="05000000000000000000" pitchFamily="2" charset="2"/>
              <a:buChar char="Ø"/>
            </a:pPr>
            <a:r>
              <a:rPr lang="vi-VN" dirty="0" smtClean="0"/>
              <a:t>ADC </a:t>
            </a:r>
            <a:r>
              <a:rPr lang="vi-VN" dirty="0"/>
              <a:t>intern de 10 biți al PIC16F877A – rezoluție superioară pentru variații mici</a:t>
            </a:r>
            <a:r>
              <a:rPr lang="vi-VN" dirty="0" smtClean="0"/>
              <a:t>,</a:t>
            </a:r>
            <a:endParaRPr lang="ro-RO" dirty="0" smtClean="0"/>
          </a:p>
          <a:p>
            <a:pPr>
              <a:buFont typeface="Wingdings" panose="05000000000000000000" pitchFamily="2" charset="2"/>
              <a:buChar char="Ø"/>
            </a:pPr>
            <a:r>
              <a:rPr lang="vi-VN" dirty="0" smtClean="0"/>
              <a:t>ADC </a:t>
            </a:r>
            <a:r>
              <a:rPr lang="vi-VN" dirty="0"/>
              <a:t>extern PCF8591 (8 biți) – achiziție multi-canal, izolare prin magistrala I²C</a:t>
            </a:r>
            <a:r>
              <a:rPr lang="vi-VN" dirty="0" smtClean="0"/>
              <a:t>.</a:t>
            </a:r>
            <a:endParaRPr lang="ro-RO" dirty="0" smtClean="0"/>
          </a:p>
          <a:p>
            <a:r>
              <a:rPr lang="vi-VN" dirty="0"/>
              <a:t>Valorile sunt mediate și convertite în temperatură prin interpolare liniară</a:t>
            </a:r>
            <a:r>
              <a:rPr lang="vi-VN" dirty="0" smtClean="0"/>
              <a:t>.</a:t>
            </a:r>
            <a:endParaRPr lang="ro-RO" dirty="0" smtClean="0"/>
          </a:p>
          <a:p>
            <a:r>
              <a:rPr lang="vi-VN" dirty="0" smtClean="0"/>
              <a:t>Un </a:t>
            </a:r>
            <a:r>
              <a:rPr lang="vi-VN" dirty="0"/>
              <a:t>algoritm inteligent compară citirile </a:t>
            </a:r>
            <a:r>
              <a:rPr lang="vi-VN" dirty="0" smtClean="0"/>
              <a:t>și</a:t>
            </a:r>
            <a:endParaRPr lang="ro-RO" dirty="0" smtClean="0"/>
          </a:p>
          <a:p>
            <a:pPr>
              <a:buFont typeface="Wingdings" panose="05000000000000000000" pitchFamily="2" charset="2"/>
              <a:buChar char="Ø"/>
            </a:pPr>
            <a:r>
              <a:rPr lang="vi-VN" dirty="0"/>
              <a:t>prioritizează ADC-ul intern pentru precizie,</a:t>
            </a:r>
          </a:p>
          <a:p>
            <a:pPr>
              <a:buFont typeface="Wingdings" panose="05000000000000000000" pitchFamily="2" charset="2"/>
              <a:buChar char="Ø"/>
            </a:pPr>
            <a:r>
              <a:rPr lang="vi-VN" dirty="0"/>
              <a:t>utilizează PCF8591 pe puncte de calibrare,</a:t>
            </a:r>
          </a:p>
          <a:p>
            <a:pPr>
              <a:buFont typeface="Wingdings" panose="05000000000000000000" pitchFamily="2" charset="2"/>
              <a:buChar char="Ø"/>
            </a:pPr>
            <a:r>
              <a:rPr lang="vi-VN" dirty="0"/>
              <a:t>aplică medie ponderată în rest</a:t>
            </a:r>
            <a:r>
              <a:rPr lang="vi-VN" dirty="0" smtClean="0"/>
              <a:t>.</a:t>
            </a:r>
            <a:endParaRPr lang="ro-RO" dirty="0" smtClean="0"/>
          </a:p>
          <a:p>
            <a:r>
              <a:rPr lang="vi-VN" dirty="0"/>
              <a:t>Codul este modular, iar rezultatele sunt afișate în timp real prin UART.</a:t>
            </a:r>
          </a:p>
        </p:txBody>
      </p:sp>
    </p:spTree>
    <p:extLst>
      <p:ext uri="{BB962C8B-B14F-4D97-AF65-F5344CB8AC3E}">
        <p14:creationId xmlns:p14="http://schemas.microsoft.com/office/powerpoint/2010/main" val="229831780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ro-RO"/>
          </a:p>
        </p:txBody>
      </p:sp>
      <p:sp>
        <p:nvSpPr>
          <p:cNvPr id="3" name="Content Placeholder 2"/>
          <p:cNvSpPr>
            <a:spLocks noGrp="1"/>
          </p:cNvSpPr>
          <p:nvPr>
            <p:ph idx="1"/>
          </p:nvPr>
        </p:nvSpPr>
        <p:spPr/>
        <p:txBody>
          <a:bodyPr/>
          <a:lstStyle/>
          <a:p>
            <a:endParaRPr lang="ro-RO"/>
          </a:p>
        </p:txBody>
      </p:sp>
      <p:pic>
        <p:nvPicPr>
          <p:cNvPr id="4" name="Image 11"/>
          <p:cNvPicPr/>
          <p:nvPr/>
        </p:nvPicPr>
        <p:blipFill>
          <a:blip r:embed="rId2" cstate="print"/>
          <a:stretch>
            <a:fillRect/>
          </a:stretch>
        </p:blipFill>
        <p:spPr>
          <a:xfrm>
            <a:off x="0" y="0"/>
            <a:ext cx="8153400" cy="6858000"/>
          </a:xfrm>
          <a:prstGeom prst="rect">
            <a:avLst/>
          </a:prstGeom>
        </p:spPr>
      </p:pic>
    </p:spTree>
    <p:extLst>
      <p:ext uri="{BB962C8B-B14F-4D97-AF65-F5344CB8AC3E}">
        <p14:creationId xmlns:p14="http://schemas.microsoft.com/office/powerpoint/2010/main" val="2781461149"/>
      </p:ext>
    </p:extLst>
  </p:cSld>
  <p:clrMapOvr>
    <a:masterClrMapping/>
  </p:clrMapOvr>
  <p:transition spd="slow">
    <p:wheel spokes="1"/>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153400" cy="1143000"/>
          </a:xfrm>
        </p:spPr>
        <p:txBody>
          <a:bodyPr/>
          <a:lstStyle/>
          <a:p>
            <a:pPr algn="ctr"/>
            <a:r>
              <a:rPr lang="ro-RO" dirty="0" smtClean="0"/>
              <a:t>Testare și validare</a:t>
            </a:r>
            <a:endParaRPr lang="ro-RO" dirty="0"/>
          </a:p>
        </p:txBody>
      </p:sp>
      <p:sp>
        <p:nvSpPr>
          <p:cNvPr id="3" name="Content Placeholder 2"/>
          <p:cNvSpPr>
            <a:spLocks noGrp="1"/>
          </p:cNvSpPr>
          <p:nvPr>
            <p:ph idx="1"/>
          </p:nvPr>
        </p:nvSpPr>
        <p:spPr/>
        <p:txBody>
          <a:bodyPr/>
          <a:lstStyle/>
          <a:p>
            <a:r>
              <a:rPr lang="vi-VN" dirty="0"/>
              <a:t>Validarea experimentală pe intervalul 0–100°C, cu pas de 5°C, a arătat că sistemul dual-ADC cu fuziune inteligentă obține o eroare medie de aproximativ 0,8°C, confirmând precizia și corectitudinea algoritmilor de conversie și interpolare</a:t>
            </a:r>
            <a:r>
              <a:rPr lang="vi-VN" dirty="0" smtClean="0"/>
              <a:t>.</a:t>
            </a:r>
            <a:endParaRPr lang="ro-RO" dirty="0" smtClean="0"/>
          </a:p>
          <a:p>
            <a:r>
              <a:rPr lang="es-ES" dirty="0"/>
              <a:t>La </a:t>
            </a:r>
            <a:r>
              <a:rPr lang="es-ES" dirty="0" err="1"/>
              <a:t>adresa</a:t>
            </a:r>
            <a:r>
              <a:rPr lang="es-ES" dirty="0"/>
              <a:t> de </a:t>
            </a:r>
            <a:r>
              <a:rPr lang="es-ES" dirty="0" err="1"/>
              <a:t>mai</a:t>
            </a:r>
            <a:r>
              <a:rPr lang="es-ES" dirty="0"/>
              <a:t> </a:t>
            </a:r>
            <a:r>
              <a:rPr lang="es-ES" dirty="0" err="1"/>
              <a:t>jos</a:t>
            </a:r>
            <a:r>
              <a:rPr lang="es-ES" dirty="0"/>
              <a:t> se </a:t>
            </a:r>
            <a:r>
              <a:rPr lang="es-ES" dirty="0" err="1"/>
              <a:t>află</a:t>
            </a:r>
            <a:r>
              <a:rPr lang="es-ES" dirty="0"/>
              <a:t> un video </a:t>
            </a:r>
            <a:r>
              <a:rPr lang="es-ES" dirty="0" err="1"/>
              <a:t>încărcat</a:t>
            </a:r>
            <a:r>
              <a:rPr lang="es-ES" dirty="0"/>
              <a:t> pe YouTube </a:t>
            </a:r>
            <a:r>
              <a:rPr lang="es-ES" dirty="0" err="1"/>
              <a:t>cu</a:t>
            </a:r>
            <a:r>
              <a:rPr lang="es-ES" dirty="0"/>
              <a:t> </a:t>
            </a:r>
            <a:r>
              <a:rPr lang="es-ES" dirty="0" err="1"/>
              <a:t>funcționarea</a:t>
            </a:r>
            <a:r>
              <a:rPr lang="es-ES" dirty="0"/>
              <a:t> </a:t>
            </a:r>
            <a:r>
              <a:rPr lang="es-ES" dirty="0" err="1"/>
              <a:t>circuitului</a:t>
            </a:r>
            <a:r>
              <a:rPr lang="es-ES" dirty="0"/>
              <a:t>: </a:t>
            </a:r>
            <a:endParaRPr lang="ro-RO" dirty="0" smtClean="0"/>
          </a:p>
          <a:p>
            <a:r>
              <a:rPr lang="es-ES" dirty="0" smtClean="0"/>
              <a:t>https</a:t>
            </a:r>
            <a:r>
              <a:rPr lang="es-ES" dirty="0"/>
              <a:t>://youtu.be/n3GuP8GxevM</a:t>
            </a:r>
            <a:endParaRPr lang="ro-RO" dirty="0"/>
          </a:p>
        </p:txBody>
      </p:sp>
    </p:spTree>
    <p:extLst>
      <p:ext uri="{BB962C8B-B14F-4D97-AF65-F5344CB8AC3E}">
        <p14:creationId xmlns:p14="http://schemas.microsoft.com/office/powerpoint/2010/main" val="176603958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ro-RO"/>
          </a:p>
        </p:txBody>
      </p:sp>
      <p:sp>
        <p:nvSpPr>
          <p:cNvPr id="3" name="Content Placeholder 2"/>
          <p:cNvSpPr>
            <a:spLocks noGrp="1"/>
          </p:cNvSpPr>
          <p:nvPr>
            <p:ph idx="1"/>
          </p:nvPr>
        </p:nvSpPr>
        <p:spPr/>
        <p:txBody>
          <a:bodyPr/>
          <a:lstStyle/>
          <a:p>
            <a:endParaRPr lang="ro-RO"/>
          </a:p>
        </p:txBody>
      </p:sp>
      <p:pic>
        <p:nvPicPr>
          <p:cNvPr id="4" name="Image 12"/>
          <p:cNvPicPr/>
          <p:nvPr/>
        </p:nvPicPr>
        <p:blipFill>
          <a:blip r:embed="rId2" cstate="print"/>
          <a:stretch>
            <a:fillRect/>
          </a:stretch>
        </p:blipFill>
        <p:spPr>
          <a:xfrm>
            <a:off x="-20782" y="-6927"/>
            <a:ext cx="8174182" cy="6864927"/>
          </a:xfrm>
          <a:prstGeom prst="rect">
            <a:avLst/>
          </a:prstGeom>
        </p:spPr>
      </p:pic>
    </p:spTree>
    <p:extLst>
      <p:ext uri="{BB962C8B-B14F-4D97-AF65-F5344CB8AC3E}">
        <p14:creationId xmlns:p14="http://schemas.microsoft.com/office/powerpoint/2010/main" val="1076958582"/>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1966693540"/>
              </p:ext>
            </p:extLst>
          </p:nvPr>
        </p:nvGraphicFramePr>
        <p:xfrm>
          <a:off x="0" y="5"/>
          <a:ext cx="8153400" cy="6781798"/>
        </p:xfrm>
        <a:graphic>
          <a:graphicData uri="http://schemas.openxmlformats.org/drawingml/2006/table">
            <a:tbl>
              <a:tblPr firstRow="1" firstCol="1" lastRow="1" lastCol="1" bandRow="1" bandCol="1">
                <a:tableStyleId>{5940675A-B579-460E-94D1-54222C63F5DA}</a:tableStyleId>
              </a:tblPr>
              <a:tblGrid>
                <a:gridCol w="1549855"/>
                <a:gridCol w="1550930"/>
                <a:gridCol w="1550930"/>
                <a:gridCol w="1547706"/>
                <a:gridCol w="1032879"/>
                <a:gridCol w="921100"/>
              </a:tblGrid>
              <a:tr h="738230">
                <a:tc>
                  <a:txBody>
                    <a:bodyPr/>
                    <a:lstStyle/>
                    <a:p>
                      <a:pPr marL="6350" marR="59690" algn="ctr">
                        <a:lnSpc>
                          <a:spcPts val="1325"/>
                        </a:lnSpc>
                        <a:spcAft>
                          <a:spcPts val="0"/>
                        </a:spcAft>
                      </a:pPr>
                      <a:r>
                        <a:rPr lang="ro-RO" sz="1200" spc="-10" dirty="0">
                          <a:effectLst/>
                        </a:rPr>
                        <a:t>Temperatură </a:t>
                      </a:r>
                      <a:r>
                        <a:rPr lang="ro-RO" sz="1200" dirty="0">
                          <a:effectLst/>
                        </a:rPr>
                        <a:t>RTD PT-</a:t>
                      </a:r>
                      <a:endParaRPr lang="ro-RO" sz="1100" dirty="0">
                        <a:effectLst/>
                      </a:endParaRPr>
                    </a:p>
                    <a:p>
                      <a:pPr marL="6350" marR="1905" algn="ctr">
                        <a:lnSpc>
                          <a:spcPts val="1320"/>
                        </a:lnSpc>
                        <a:spcAft>
                          <a:spcPts val="0"/>
                        </a:spcAft>
                      </a:pPr>
                      <a:r>
                        <a:rPr lang="ro-RO" sz="1200" spc="-25" dirty="0">
                          <a:effectLst/>
                        </a:rPr>
                        <a:t>100</a:t>
                      </a:r>
                      <a:endParaRPr lang="ro-RO" sz="1100" dirty="0">
                        <a:effectLst/>
                        <a:latin typeface="Calibri"/>
                        <a:ea typeface="Calibri"/>
                        <a:cs typeface="Times New Roman"/>
                      </a:endParaRPr>
                    </a:p>
                  </a:txBody>
                  <a:tcPr marL="0" marR="0" marT="0" marB="0"/>
                </a:tc>
                <a:tc>
                  <a:txBody>
                    <a:bodyPr/>
                    <a:lstStyle/>
                    <a:p>
                      <a:pPr marL="95885" marR="59690" indent="-27940" algn="l">
                        <a:lnSpc>
                          <a:spcPts val="1325"/>
                        </a:lnSpc>
                        <a:spcAft>
                          <a:spcPts val="0"/>
                        </a:spcAft>
                      </a:pPr>
                      <a:r>
                        <a:rPr lang="ro-RO" sz="1200" spc="-10" dirty="0">
                          <a:effectLst/>
                        </a:rPr>
                        <a:t>Temperatură </a:t>
                      </a:r>
                      <a:r>
                        <a:rPr lang="ro-RO" sz="1200" dirty="0">
                          <a:effectLst/>
                        </a:rPr>
                        <a:t>ADC Intern</a:t>
                      </a:r>
                      <a:endParaRPr lang="ro-RO" sz="1100" dirty="0">
                        <a:effectLst/>
                        <a:latin typeface="Calibri"/>
                        <a:ea typeface="Calibri"/>
                        <a:cs typeface="Times New Roman"/>
                      </a:endParaRPr>
                    </a:p>
                  </a:txBody>
                  <a:tcPr marL="0" marR="0" marT="0" marB="0"/>
                </a:tc>
                <a:tc>
                  <a:txBody>
                    <a:bodyPr/>
                    <a:lstStyle/>
                    <a:p>
                      <a:pPr marL="74295" marR="59690" indent="-6350" algn="l">
                        <a:lnSpc>
                          <a:spcPts val="1325"/>
                        </a:lnSpc>
                        <a:spcAft>
                          <a:spcPts val="0"/>
                        </a:spcAft>
                      </a:pPr>
                      <a:r>
                        <a:rPr lang="ro-RO" sz="1200" spc="-10">
                          <a:effectLst/>
                        </a:rPr>
                        <a:t>Temperatură </a:t>
                      </a:r>
                      <a:r>
                        <a:rPr lang="ro-RO" sz="1200">
                          <a:effectLst/>
                        </a:rPr>
                        <a:t>ADC</a:t>
                      </a:r>
                      <a:r>
                        <a:rPr lang="ro-RO" sz="1200" spc="-5">
                          <a:effectLst/>
                        </a:rPr>
                        <a:t> </a:t>
                      </a:r>
                      <a:r>
                        <a:rPr lang="ro-RO" sz="1200" spc="-10">
                          <a:effectLst/>
                        </a:rPr>
                        <a:t>Extern</a:t>
                      </a:r>
                      <a:endParaRPr lang="ro-RO" sz="1100">
                        <a:effectLst/>
                        <a:latin typeface="Calibri"/>
                        <a:ea typeface="Calibri"/>
                        <a:cs typeface="Times New Roman"/>
                      </a:endParaRPr>
                    </a:p>
                  </a:txBody>
                  <a:tcPr marL="0" marR="0" marT="0" marB="0"/>
                </a:tc>
                <a:tc>
                  <a:txBody>
                    <a:bodyPr/>
                    <a:lstStyle/>
                    <a:p>
                      <a:pPr marL="259080" marR="59690" indent="-190500" algn="l">
                        <a:lnSpc>
                          <a:spcPts val="1325"/>
                        </a:lnSpc>
                        <a:spcAft>
                          <a:spcPts val="0"/>
                        </a:spcAft>
                      </a:pPr>
                      <a:r>
                        <a:rPr lang="ro-RO" sz="1200" spc="-10">
                          <a:effectLst/>
                        </a:rPr>
                        <a:t>Temperatură afișată</a:t>
                      </a:r>
                      <a:endParaRPr lang="ro-RO" sz="1100">
                        <a:effectLst/>
                        <a:latin typeface="Calibri"/>
                        <a:ea typeface="Calibri"/>
                        <a:cs typeface="Times New Roman"/>
                      </a:endParaRPr>
                    </a:p>
                  </a:txBody>
                  <a:tcPr marL="0" marR="0" marT="0" marB="0"/>
                </a:tc>
                <a:tc>
                  <a:txBody>
                    <a:bodyPr/>
                    <a:lstStyle/>
                    <a:p>
                      <a:pPr marR="93980" algn="r">
                        <a:lnSpc>
                          <a:spcPts val="1340"/>
                        </a:lnSpc>
                        <a:spcAft>
                          <a:spcPts val="0"/>
                        </a:spcAft>
                      </a:pPr>
                      <a:r>
                        <a:rPr lang="ro-RO" sz="1200" spc="-10">
                          <a:effectLst/>
                        </a:rPr>
                        <a:t>Eroare</a:t>
                      </a:r>
                      <a:endParaRPr lang="ro-RO" sz="1100">
                        <a:effectLst/>
                        <a:latin typeface="Calibri"/>
                        <a:ea typeface="Calibri"/>
                        <a:cs typeface="Times New Roman"/>
                      </a:endParaRPr>
                    </a:p>
                  </a:txBody>
                  <a:tcPr marL="0" marR="0" marT="0" marB="0"/>
                </a:tc>
                <a:tc>
                  <a:txBody>
                    <a:bodyPr/>
                    <a:lstStyle/>
                    <a:p>
                      <a:pPr marL="69850" marR="56515" algn="l">
                        <a:lnSpc>
                          <a:spcPts val="1325"/>
                        </a:lnSpc>
                        <a:spcAft>
                          <a:spcPts val="0"/>
                        </a:spcAft>
                      </a:pPr>
                      <a:r>
                        <a:rPr lang="ro-RO" sz="1200" spc="-10">
                          <a:effectLst/>
                        </a:rPr>
                        <a:t>Eroare medie</a:t>
                      </a:r>
                      <a:endParaRPr lang="ro-RO" sz="1100">
                        <a:effectLst/>
                        <a:latin typeface="Calibri"/>
                        <a:ea typeface="Calibri"/>
                        <a:cs typeface="Times New Roman"/>
                      </a:endParaRPr>
                    </a:p>
                  </a:txBody>
                  <a:tcPr marL="0" marR="0" marT="0" marB="0"/>
                </a:tc>
              </a:tr>
              <a:tr h="501143">
                <a:tc>
                  <a:txBody>
                    <a:bodyPr/>
                    <a:lstStyle/>
                    <a:p>
                      <a:pPr marR="59690" algn="r">
                        <a:lnSpc>
                          <a:spcPts val="1325"/>
                        </a:lnSpc>
                        <a:spcAft>
                          <a:spcPts val="0"/>
                        </a:spcAft>
                      </a:pPr>
                      <a:r>
                        <a:rPr lang="ro-RO" sz="1100" spc="-25">
                          <a:effectLst/>
                        </a:rPr>
                        <a:t>0,0</a:t>
                      </a:r>
                      <a:endParaRPr lang="ro-RO" sz="1100">
                        <a:effectLst/>
                        <a:latin typeface="Calibri"/>
                        <a:ea typeface="Calibri"/>
                        <a:cs typeface="Times New Roman"/>
                      </a:endParaRPr>
                    </a:p>
                  </a:txBody>
                  <a:tcPr marL="0" marR="0" marT="0" marB="0"/>
                </a:tc>
                <a:tc>
                  <a:txBody>
                    <a:bodyPr/>
                    <a:lstStyle/>
                    <a:p>
                      <a:pPr marR="59690" algn="r">
                        <a:lnSpc>
                          <a:spcPts val="1325"/>
                        </a:lnSpc>
                        <a:spcAft>
                          <a:spcPts val="0"/>
                        </a:spcAft>
                      </a:pPr>
                      <a:r>
                        <a:rPr lang="ro-RO" sz="1100" spc="-25">
                          <a:effectLst/>
                        </a:rPr>
                        <a:t>0,0</a:t>
                      </a:r>
                      <a:endParaRPr lang="ro-RO" sz="1100">
                        <a:effectLst/>
                        <a:latin typeface="Calibri"/>
                        <a:ea typeface="Calibri"/>
                        <a:cs typeface="Times New Roman"/>
                      </a:endParaRPr>
                    </a:p>
                  </a:txBody>
                  <a:tcPr marL="0" marR="0" marT="0" marB="0"/>
                </a:tc>
                <a:tc>
                  <a:txBody>
                    <a:bodyPr/>
                    <a:lstStyle/>
                    <a:p>
                      <a:pPr marR="60325" algn="r">
                        <a:lnSpc>
                          <a:spcPts val="1325"/>
                        </a:lnSpc>
                        <a:spcAft>
                          <a:spcPts val="0"/>
                        </a:spcAft>
                      </a:pPr>
                      <a:r>
                        <a:rPr lang="ro-RO" sz="1100" spc="-25">
                          <a:effectLst/>
                        </a:rPr>
                        <a:t>0,0</a:t>
                      </a:r>
                      <a:endParaRPr lang="ro-RO" sz="1100">
                        <a:effectLst/>
                        <a:latin typeface="Calibri"/>
                        <a:ea typeface="Calibri"/>
                        <a:cs typeface="Times New Roman"/>
                      </a:endParaRPr>
                    </a:p>
                  </a:txBody>
                  <a:tcPr marL="0" marR="0" marT="0" marB="0"/>
                </a:tc>
                <a:tc>
                  <a:txBody>
                    <a:bodyPr/>
                    <a:lstStyle/>
                    <a:p>
                      <a:pPr marR="58420" algn="r">
                        <a:lnSpc>
                          <a:spcPts val="1325"/>
                        </a:lnSpc>
                        <a:spcAft>
                          <a:spcPts val="0"/>
                        </a:spcAft>
                      </a:pPr>
                      <a:r>
                        <a:rPr lang="ro-RO" sz="1100" spc="-25">
                          <a:effectLst/>
                        </a:rPr>
                        <a:t>0,0</a:t>
                      </a:r>
                      <a:endParaRPr lang="ro-RO" sz="1100">
                        <a:effectLst/>
                        <a:latin typeface="Calibri"/>
                        <a:ea typeface="Calibri"/>
                        <a:cs typeface="Times New Roman"/>
                      </a:endParaRPr>
                    </a:p>
                  </a:txBody>
                  <a:tcPr marL="0" marR="0" marT="0" marB="0"/>
                </a:tc>
                <a:tc>
                  <a:txBody>
                    <a:bodyPr/>
                    <a:lstStyle/>
                    <a:p>
                      <a:pPr marR="59055" algn="r">
                        <a:lnSpc>
                          <a:spcPts val="1325"/>
                        </a:lnSpc>
                        <a:spcAft>
                          <a:spcPts val="0"/>
                        </a:spcAft>
                      </a:pPr>
                      <a:r>
                        <a:rPr lang="ro-RO" sz="1100" spc="-25">
                          <a:effectLst/>
                        </a:rPr>
                        <a:t>0,0</a:t>
                      </a:r>
                      <a:endParaRPr lang="ro-RO" sz="1100">
                        <a:effectLst/>
                        <a:latin typeface="Calibri"/>
                        <a:ea typeface="Calibri"/>
                        <a:cs typeface="Times New Roman"/>
                      </a:endParaRPr>
                    </a:p>
                  </a:txBody>
                  <a:tcPr marL="0" marR="0" marT="0" marB="0"/>
                </a:tc>
                <a:tc>
                  <a:txBody>
                    <a:bodyPr/>
                    <a:lstStyle/>
                    <a:p>
                      <a:pPr marL="299720" marR="59690" algn="l">
                        <a:lnSpc>
                          <a:spcPts val="1325"/>
                        </a:lnSpc>
                        <a:spcAft>
                          <a:spcPts val="0"/>
                        </a:spcAft>
                      </a:pPr>
                      <a:r>
                        <a:rPr lang="ro-RO" sz="1100" spc="-25">
                          <a:effectLst/>
                        </a:rPr>
                        <a:t>0,8</a:t>
                      </a:r>
                      <a:endParaRPr lang="ro-RO" sz="1100">
                        <a:effectLst/>
                        <a:latin typeface="Calibri"/>
                        <a:ea typeface="Calibri"/>
                        <a:cs typeface="Times New Roman"/>
                      </a:endParaRPr>
                    </a:p>
                  </a:txBody>
                  <a:tcPr marL="0" marR="0" marT="0" marB="0"/>
                </a:tc>
              </a:tr>
              <a:tr h="277557">
                <a:tc>
                  <a:txBody>
                    <a:bodyPr/>
                    <a:lstStyle/>
                    <a:p>
                      <a:pPr marR="59690" algn="r">
                        <a:lnSpc>
                          <a:spcPts val="1330"/>
                        </a:lnSpc>
                        <a:spcAft>
                          <a:spcPts val="0"/>
                        </a:spcAft>
                      </a:pPr>
                      <a:r>
                        <a:rPr lang="ro-RO" sz="1100" spc="-25">
                          <a:effectLst/>
                        </a:rPr>
                        <a:t>5,0</a:t>
                      </a:r>
                      <a:endParaRPr lang="ro-RO" sz="1100">
                        <a:effectLst/>
                        <a:latin typeface="Calibri"/>
                        <a:ea typeface="Calibri"/>
                        <a:cs typeface="Times New Roman"/>
                      </a:endParaRPr>
                    </a:p>
                  </a:txBody>
                  <a:tcPr marL="0" marR="0" marT="0" marB="0"/>
                </a:tc>
                <a:tc>
                  <a:txBody>
                    <a:bodyPr/>
                    <a:lstStyle/>
                    <a:p>
                      <a:pPr marR="59690" algn="r">
                        <a:lnSpc>
                          <a:spcPts val="1330"/>
                        </a:lnSpc>
                        <a:spcAft>
                          <a:spcPts val="0"/>
                        </a:spcAft>
                      </a:pPr>
                      <a:r>
                        <a:rPr lang="ro-RO" sz="1100" spc="-25">
                          <a:effectLst/>
                        </a:rPr>
                        <a:t>5,5</a:t>
                      </a:r>
                      <a:endParaRPr lang="ro-RO" sz="1100">
                        <a:effectLst/>
                        <a:latin typeface="Calibri"/>
                        <a:ea typeface="Calibri"/>
                        <a:cs typeface="Times New Roman"/>
                      </a:endParaRPr>
                    </a:p>
                  </a:txBody>
                  <a:tcPr marL="0" marR="0" marT="0" marB="0"/>
                </a:tc>
                <a:tc>
                  <a:txBody>
                    <a:bodyPr/>
                    <a:lstStyle/>
                    <a:p>
                      <a:pPr marR="60325" algn="r">
                        <a:lnSpc>
                          <a:spcPts val="1330"/>
                        </a:lnSpc>
                        <a:spcAft>
                          <a:spcPts val="0"/>
                        </a:spcAft>
                      </a:pPr>
                      <a:r>
                        <a:rPr lang="ro-RO" sz="1100" spc="-25">
                          <a:effectLst/>
                        </a:rPr>
                        <a:t>8,3</a:t>
                      </a:r>
                      <a:endParaRPr lang="ro-RO" sz="1100">
                        <a:effectLst/>
                        <a:latin typeface="Calibri"/>
                        <a:ea typeface="Calibri"/>
                        <a:cs typeface="Times New Roman"/>
                      </a:endParaRPr>
                    </a:p>
                  </a:txBody>
                  <a:tcPr marL="0" marR="0" marT="0" marB="0"/>
                </a:tc>
                <a:tc>
                  <a:txBody>
                    <a:bodyPr/>
                    <a:lstStyle/>
                    <a:p>
                      <a:pPr marR="58420" algn="r">
                        <a:lnSpc>
                          <a:spcPts val="1330"/>
                        </a:lnSpc>
                        <a:spcAft>
                          <a:spcPts val="0"/>
                        </a:spcAft>
                      </a:pPr>
                      <a:r>
                        <a:rPr lang="ro-RO" sz="1100" spc="-25">
                          <a:effectLst/>
                        </a:rPr>
                        <a:t>5,6</a:t>
                      </a:r>
                      <a:endParaRPr lang="ro-RO" sz="1100">
                        <a:effectLst/>
                        <a:latin typeface="Calibri"/>
                        <a:ea typeface="Calibri"/>
                        <a:cs typeface="Times New Roman"/>
                      </a:endParaRPr>
                    </a:p>
                  </a:txBody>
                  <a:tcPr marL="0" marR="0" marT="0" marB="0"/>
                </a:tc>
                <a:tc>
                  <a:txBody>
                    <a:bodyPr/>
                    <a:lstStyle/>
                    <a:p>
                      <a:pPr marR="59055" algn="r">
                        <a:lnSpc>
                          <a:spcPts val="1330"/>
                        </a:lnSpc>
                        <a:spcAft>
                          <a:spcPts val="0"/>
                        </a:spcAft>
                      </a:pPr>
                      <a:r>
                        <a:rPr lang="ro-RO" sz="1100" spc="-25">
                          <a:effectLst/>
                        </a:rPr>
                        <a:t>0,6</a:t>
                      </a:r>
                      <a:endParaRPr lang="ro-RO" sz="1100">
                        <a:effectLst/>
                        <a:latin typeface="Calibri"/>
                        <a:ea typeface="Calibri"/>
                        <a:cs typeface="Times New Roman"/>
                      </a:endParaRPr>
                    </a:p>
                  </a:txBody>
                  <a:tcPr marL="0" marR="0" marT="0" marB="0"/>
                </a:tc>
                <a:tc>
                  <a:txBody>
                    <a:bodyPr/>
                    <a:lstStyle/>
                    <a:p>
                      <a:pPr marR="59690" algn="l">
                        <a:lnSpc>
                          <a:spcPts val="1325"/>
                        </a:lnSpc>
                        <a:spcAft>
                          <a:spcPts val="0"/>
                        </a:spcAft>
                      </a:pPr>
                      <a:r>
                        <a:rPr lang="ro-RO" sz="1000">
                          <a:effectLst/>
                        </a:rPr>
                        <a:t> </a:t>
                      </a:r>
                      <a:endParaRPr lang="ro-RO" sz="1100">
                        <a:effectLst/>
                        <a:latin typeface="Calibri"/>
                        <a:ea typeface="Calibri"/>
                        <a:cs typeface="Times New Roman"/>
                      </a:endParaRPr>
                    </a:p>
                  </a:txBody>
                  <a:tcPr marL="0" marR="0" marT="0" marB="0"/>
                </a:tc>
              </a:tr>
              <a:tr h="276591">
                <a:tc>
                  <a:txBody>
                    <a:bodyPr/>
                    <a:lstStyle/>
                    <a:p>
                      <a:pPr marR="59690" algn="r">
                        <a:lnSpc>
                          <a:spcPts val="1325"/>
                        </a:lnSpc>
                        <a:spcAft>
                          <a:spcPts val="0"/>
                        </a:spcAft>
                      </a:pPr>
                      <a:r>
                        <a:rPr lang="ro-RO" sz="1100" spc="-20">
                          <a:effectLst/>
                        </a:rPr>
                        <a:t>10,0</a:t>
                      </a:r>
                      <a:endParaRPr lang="ro-RO" sz="1100">
                        <a:effectLst/>
                        <a:latin typeface="Calibri"/>
                        <a:ea typeface="Calibri"/>
                        <a:cs typeface="Times New Roman"/>
                      </a:endParaRPr>
                    </a:p>
                  </a:txBody>
                  <a:tcPr marL="0" marR="0" marT="0" marB="0"/>
                </a:tc>
                <a:tc>
                  <a:txBody>
                    <a:bodyPr/>
                    <a:lstStyle/>
                    <a:p>
                      <a:pPr marR="59690" algn="r">
                        <a:lnSpc>
                          <a:spcPts val="1325"/>
                        </a:lnSpc>
                        <a:spcAft>
                          <a:spcPts val="0"/>
                        </a:spcAft>
                      </a:pPr>
                      <a:r>
                        <a:rPr lang="ro-RO" sz="1100" spc="-20" dirty="0">
                          <a:effectLst/>
                        </a:rPr>
                        <a:t>11,1</a:t>
                      </a:r>
                      <a:endParaRPr lang="ro-RO" sz="1100" dirty="0">
                        <a:effectLst/>
                        <a:latin typeface="Calibri"/>
                        <a:ea typeface="Calibri"/>
                        <a:cs typeface="Times New Roman"/>
                      </a:endParaRPr>
                    </a:p>
                  </a:txBody>
                  <a:tcPr marL="0" marR="0" marT="0" marB="0"/>
                </a:tc>
                <a:tc>
                  <a:txBody>
                    <a:bodyPr/>
                    <a:lstStyle/>
                    <a:p>
                      <a:pPr marR="60325" algn="r">
                        <a:lnSpc>
                          <a:spcPts val="1325"/>
                        </a:lnSpc>
                        <a:spcAft>
                          <a:spcPts val="0"/>
                        </a:spcAft>
                      </a:pPr>
                      <a:r>
                        <a:rPr lang="ro-RO" sz="1100" spc="-25">
                          <a:effectLst/>
                        </a:rPr>
                        <a:t>8,3</a:t>
                      </a:r>
                      <a:endParaRPr lang="ro-RO" sz="1100">
                        <a:effectLst/>
                        <a:latin typeface="Calibri"/>
                        <a:ea typeface="Calibri"/>
                        <a:cs typeface="Times New Roman"/>
                      </a:endParaRPr>
                    </a:p>
                  </a:txBody>
                  <a:tcPr marL="0" marR="0" marT="0" marB="0"/>
                </a:tc>
                <a:tc>
                  <a:txBody>
                    <a:bodyPr/>
                    <a:lstStyle/>
                    <a:p>
                      <a:pPr marR="58420" algn="r">
                        <a:lnSpc>
                          <a:spcPts val="1325"/>
                        </a:lnSpc>
                        <a:spcAft>
                          <a:spcPts val="0"/>
                        </a:spcAft>
                      </a:pPr>
                      <a:r>
                        <a:rPr lang="ro-RO" sz="1100" spc="-20">
                          <a:effectLst/>
                        </a:rPr>
                        <a:t>10,9</a:t>
                      </a:r>
                      <a:endParaRPr lang="ro-RO" sz="1100">
                        <a:effectLst/>
                        <a:latin typeface="Calibri"/>
                        <a:ea typeface="Calibri"/>
                        <a:cs typeface="Times New Roman"/>
                      </a:endParaRPr>
                    </a:p>
                  </a:txBody>
                  <a:tcPr marL="0" marR="0" marT="0" marB="0"/>
                </a:tc>
                <a:tc>
                  <a:txBody>
                    <a:bodyPr/>
                    <a:lstStyle/>
                    <a:p>
                      <a:pPr marR="59055" algn="r">
                        <a:lnSpc>
                          <a:spcPts val="1325"/>
                        </a:lnSpc>
                        <a:spcAft>
                          <a:spcPts val="0"/>
                        </a:spcAft>
                      </a:pPr>
                      <a:r>
                        <a:rPr lang="ro-RO" sz="1100" spc="-25">
                          <a:effectLst/>
                        </a:rPr>
                        <a:t>0,9</a:t>
                      </a:r>
                      <a:endParaRPr lang="ro-RO" sz="1100">
                        <a:effectLst/>
                        <a:latin typeface="Calibri"/>
                        <a:ea typeface="Calibri"/>
                        <a:cs typeface="Times New Roman"/>
                      </a:endParaRPr>
                    </a:p>
                  </a:txBody>
                  <a:tcPr marL="0" marR="0" marT="0" marB="0"/>
                </a:tc>
                <a:tc>
                  <a:txBody>
                    <a:bodyPr/>
                    <a:lstStyle/>
                    <a:p>
                      <a:pPr marR="59690" algn="l">
                        <a:lnSpc>
                          <a:spcPts val="1325"/>
                        </a:lnSpc>
                        <a:spcAft>
                          <a:spcPts val="0"/>
                        </a:spcAft>
                      </a:pPr>
                      <a:r>
                        <a:rPr lang="ro-RO" sz="1000">
                          <a:effectLst/>
                        </a:rPr>
                        <a:t> </a:t>
                      </a:r>
                      <a:endParaRPr lang="ro-RO" sz="1100">
                        <a:effectLst/>
                        <a:latin typeface="Calibri"/>
                        <a:ea typeface="Calibri"/>
                        <a:cs typeface="Times New Roman"/>
                      </a:endParaRPr>
                    </a:p>
                  </a:txBody>
                  <a:tcPr marL="0" marR="0" marT="0" marB="0"/>
                </a:tc>
              </a:tr>
              <a:tr h="276591">
                <a:tc>
                  <a:txBody>
                    <a:bodyPr/>
                    <a:lstStyle/>
                    <a:p>
                      <a:pPr marR="59690" algn="r">
                        <a:lnSpc>
                          <a:spcPts val="1325"/>
                        </a:lnSpc>
                        <a:spcAft>
                          <a:spcPts val="0"/>
                        </a:spcAft>
                      </a:pPr>
                      <a:r>
                        <a:rPr lang="ro-RO" sz="1100" spc="-20">
                          <a:effectLst/>
                        </a:rPr>
                        <a:t>15,0</a:t>
                      </a:r>
                      <a:endParaRPr lang="ro-RO" sz="1100">
                        <a:effectLst/>
                        <a:latin typeface="Calibri"/>
                        <a:ea typeface="Calibri"/>
                        <a:cs typeface="Times New Roman"/>
                      </a:endParaRPr>
                    </a:p>
                  </a:txBody>
                  <a:tcPr marL="0" marR="0" marT="0" marB="0"/>
                </a:tc>
                <a:tc>
                  <a:txBody>
                    <a:bodyPr/>
                    <a:lstStyle/>
                    <a:p>
                      <a:pPr marR="59690" algn="r">
                        <a:lnSpc>
                          <a:spcPts val="1325"/>
                        </a:lnSpc>
                        <a:spcAft>
                          <a:spcPts val="0"/>
                        </a:spcAft>
                      </a:pPr>
                      <a:r>
                        <a:rPr lang="ro-RO" sz="1100" spc="-20">
                          <a:effectLst/>
                        </a:rPr>
                        <a:t>16,6</a:t>
                      </a:r>
                      <a:endParaRPr lang="ro-RO" sz="1100">
                        <a:effectLst/>
                        <a:latin typeface="Calibri"/>
                        <a:ea typeface="Calibri"/>
                        <a:cs typeface="Times New Roman"/>
                      </a:endParaRPr>
                    </a:p>
                  </a:txBody>
                  <a:tcPr marL="0" marR="0" marT="0" marB="0"/>
                </a:tc>
                <a:tc>
                  <a:txBody>
                    <a:bodyPr/>
                    <a:lstStyle/>
                    <a:p>
                      <a:pPr marR="60325" algn="r">
                        <a:lnSpc>
                          <a:spcPts val="1325"/>
                        </a:lnSpc>
                        <a:spcAft>
                          <a:spcPts val="0"/>
                        </a:spcAft>
                      </a:pPr>
                      <a:r>
                        <a:rPr lang="ro-RO" sz="1100" spc="-20">
                          <a:effectLst/>
                        </a:rPr>
                        <a:t>16,6</a:t>
                      </a:r>
                      <a:endParaRPr lang="ro-RO" sz="1100">
                        <a:effectLst/>
                        <a:latin typeface="Calibri"/>
                        <a:ea typeface="Calibri"/>
                        <a:cs typeface="Times New Roman"/>
                      </a:endParaRPr>
                    </a:p>
                  </a:txBody>
                  <a:tcPr marL="0" marR="0" marT="0" marB="0"/>
                </a:tc>
                <a:tc>
                  <a:txBody>
                    <a:bodyPr/>
                    <a:lstStyle/>
                    <a:p>
                      <a:pPr marR="58420" algn="r">
                        <a:lnSpc>
                          <a:spcPts val="1325"/>
                        </a:lnSpc>
                        <a:spcAft>
                          <a:spcPts val="0"/>
                        </a:spcAft>
                      </a:pPr>
                      <a:r>
                        <a:rPr lang="ro-RO" sz="1100" spc="-20">
                          <a:effectLst/>
                        </a:rPr>
                        <a:t>16,6</a:t>
                      </a:r>
                      <a:endParaRPr lang="ro-RO" sz="1100">
                        <a:effectLst/>
                        <a:latin typeface="Calibri"/>
                        <a:ea typeface="Calibri"/>
                        <a:cs typeface="Times New Roman"/>
                      </a:endParaRPr>
                    </a:p>
                  </a:txBody>
                  <a:tcPr marL="0" marR="0" marT="0" marB="0"/>
                </a:tc>
                <a:tc>
                  <a:txBody>
                    <a:bodyPr/>
                    <a:lstStyle/>
                    <a:p>
                      <a:pPr marR="59055" algn="r">
                        <a:lnSpc>
                          <a:spcPts val="1325"/>
                        </a:lnSpc>
                        <a:spcAft>
                          <a:spcPts val="0"/>
                        </a:spcAft>
                      </a:pPr>
                      <a:r>
                        <a:rPr lang="ro-RO" sz="1100" spc="-25">
                          <a:effectLst/>
                        </a:rPr>
                        <a:t>1,6</a:t>
                      </a:r>
                      <a:endParaRPr lang="ro-RO" sz="1100">
                        <a:effectLst/>
                        <a:latin typeface="Calibri"/>
                        <a:ea typeface="Calibri"/>
                        <a:cs typeface="Times New Roman"/>
                      </a:endParaRPr>
                    </a:p>
                  </a:txBody>
                  <a:tcPr marL="0" marR="0" marT="0" marB="0"/>
                </a:tc>
                <a:tc>
                  <a:txBody>
                    <a:bodyPr/>
                    <a:lstStyle/>
                    <a:p>
                      <a:pPr marR="59690" algn="l">
                        <a:lnSpc>
                          <a:spcPts val="1325"/>
                        </a:lnSpc>
                        <a:spcAft>
                          <a:spcPts val="0"/>
                        </a:spcAft>
                      </a:pPr>
                      <a:r>
                        <a:rPr lang="ro-RO" sz="1000">
                          <a:effectLst/>
                        </a:rPr>
                        <a:t> </a:t>
                      </a:r>
                      <a:endParaRPr lang="ro-RO" sz="1100">
                        <a:effectLst/>
                        <a:latin typeface="Calibri"/>
                        <a:ea typeface="Calibri"/>
                        <a:cs typeface="Times New Roman"/>
                      </a:endParaRPr>
                    </a:p>
                  </a:txBody>
                  <a:tcPr marL="0" marR="0" marT="0" marB="0"/>
                </a:tc>
              </a:tr>
              <a:tr h="279482">
                <a:tc>
                  <a:txBody>
                    <a:bodyPr/>
                    <a:lstStyle/>
                    <a:p>
                      <a:pPr marR="59690" algn="r">
                        <a:lnSpc>
                          <a:spcPts val="1340"/>
                        </a:lnSpc>
                        <a:spcAft>
                          <a:spcPts val="0"/>
                        </a:spcAft>
                      </a:pPr>
                      <a:r>
                        <a:rPr lang="ro-RO" sz="1100" spc="-20">
                          <a:effectLst/>
                        </a:rPr>
                        <a:t>20,0</a:t>
                      </a:r>
                      <a:endParaRPr lang="ro-RO" sz="1100">
                        <a:effectLst/>
                        <a:latin typeface="Calibri"/>
                        <a:ea typeface="Calibri"/>
                        <a:cs typeface="Times New Roman"/>
                      </a:endParaRPr>
                    </a:p>
                  </a:txBody>
                  <a:tcPr marL="0" marR="0" marT="0" marB="0"/>
                </a:tc>
                <a:tc>
                  <a:txBody>
                    <a:bodyPr/>
                    <a:lstStyle/>
                    <a:p>
                      <a:pPr marR="59690" algn="r">
                        <a:lnSpc>
                          <a:spcPts val="1340"/>
                        </a:lnSpc>
                        <a:spcAft>
                          <a:spcPts val="0"/>
                        </a:spcAft>
                      </a:pPr>
                      <a:r>
                        <a:rPr lang="ro-RO" sz="1100" spc="-20">
                          <a:effectLst/>
                        </a:rPr>
                        <a:t>22,2</a:t>
                      </a:r>
                      <a:endParaRPr lang="ro-RO" sz="1100">
                        <a:effectLst/>
                        <a:latin typeface="Calibri"/>
                        <a:ea typeface="Calibri"/>
                        <a:cs typeface="Times New Roman"/>
                      </a:endParaRPr>
                    </a:p>
                  </a:txBody>
                  <a:tcPr marL="0" marR="0" marT="0" marB="0"/>
                </a:tc>
                <a:tc>
                  <a:txBody>
                    <a:bodyPr/>
                    <a:lstStyle/>
                    <a:p>
                      <a:pPr marR="60325" algn="r">
                        <a:lnSpc>
                          <a:spcPts val="1340"/>
                        </a:lnSpc>
                        <a:spcAft>
                          <a:spcPts val="0"/>
                        </a:spcAft>
                      </a:pPr>
                      <a:r>
                        <a:rPr lang="ro-RO" sz="1100" spc="-20">
                          <a:effectLst/>
                        </a:rPr>
                        <a:t>16,6</a:t>
                      </a:r>
                      <a:endParaRPr lang="ro-RO" sz="1100">
                        <a:effectLst/>
                        <a:latin typeface="Calibri"/>
                        <a:ea typeface="Calibri"/>
                        <a:cs typeface="Times New Roman"/>
                      </a:endParaRPr>
                    </a:p>
                  </a:txBody>
                  <a:tcPr marL="0" marR="0" marT="0" marB="0"/>
                </a:tc>
                <a:tc>
                  <a:txBody>
                    <a:bodyPr/>
                    <a:lstStyle/>
                    <a:p>
                      <a:pPr marR="58420" algn="r">
                        <a:lnSpc>
                          <a:spcPts val="1340"/>
                        </a:lnSpc>
                        <a:spcAft>
                          <a:spcPts val="0"/>
                        </a:spcAft>
                      </a:pPr>
                      <a:r>
                        <a:rPr lang="ro-RO" sz="1100" spc="-20">
                          <a:effectLst/>
                        </a:rPr>
                        <a:t>22,0</a:t>
                      </a:r>
                      <a:endParaRPr lang="ro-RO" sz="1100">
                        <a:effectLst/>
                        <a:latin typeface="Calibri"/>
                        <a:ea typeface="Calibri"/>
                        <a:cs typeface="Times New Roman"/>
                      </a:endParaRPr>
                    </a:p>
                  </a:txBody>
                  <a:tcPr marL="0" marR="0" marT="0" marB="0"/>
                </a:tc>
                <a:tc>
                  <a:txBody>
                    <a:bodyPr/>
                    <a:lstStyle/>
                    <a:p>
                      <a:pPr marR="59055" algn="r">
                        <a:lnSpc>
                          <a:spcPts val="1340"/>
                        </a:lnSpc>
                        <a:spcAft>
                          <a:spcPts val="0"/>
                        </a:spcAft>
                      </a:pPr>
                      <a:r>
                        <a:rPr lang="ro-RO" sz="1100" spc="-25">
                          <a:effectLst/>
                        </a:rPr>
                        <a:t>2,0</a:t>
                      </a:r>
                      <a:endParaRPr lang="ro-RO" sz="1100">
                        <a:effectLst/>
                        <a:latin typeface="Calibri"/>
                        <a:ea typeface="Calibri"/>
                        <a:cs typeface="Times New Roman"/>
                      </a:endParaRPr>
                    </a:p>
                  </a:txBody>
                  <a:tcPr marL="0" marR="0" marT="0" marB="0"/>
                </a:tc>
                <a:tc>
                  <a:txBody>
                    <a:bodyPr/>
                    <a:lstStyle/>
                    <a:p>
                      <a:pPr marR="59690" algn="l">
                        <a:lnSpc>
                          <a:spcPts val="1325"/>
                        </a:lnSpc>
                        <a:spcAft>
                          <a:spcPts val="0"/>
                        </a:spcAft>
                      </a:pPr>
                      <a:r>
                        <a:rPr lang="ro-RO" sz="1000">
                          <a:effectLst/>
                        </a:rPr>
                        <a:t> </a:t>
                      </a:r>
                      <a:endParaRPr lang="ro-RO" sz="1100">
                        <a:effectLst/>
                        <a:latin typeface="Calibri"/>
                        <a:ea typeface="Calibri"/>
                        <a:cs typeface="Times New Roman"/>
                      </a:endParaRPr>
                    </a:p>
                  </a:txBody>
                  <a:tcPr marL="0" marR="0" marT="0" marB="0"/>
                </a:tc>
              </a:tr>
              <a:tr h="276591">
                <a:tc>
                  <a:txBody>
                    <a:bodyPr/>
                    <a:lstStyle/>
                    <a:p>
                      <a:pPr marR="59690" algn="r">
                        <a:lnSpc>
                          <a:spcPts val="1325"/>
                        </a:lnSpc>
                        <a:spcAft>
                          <a:spcPts val="0"/>
                        </a:spcAft>
                      </a:pPr>
                      <a:r>
                        <a:rPr lang="ro-RO" sz="1100" spc="-20">
                          <a:effectLst/>
                        </a:rPr>
                        <a:t>25,0</a:t>
                      </a:r>
                      <a:endParaRPr lang="ro-RO" sz="1100">
                        <a:effectLst/>
                        <a:latin typeface="Calibri"/>
                        <a:ea typeface="Calibri"/>
                        <a:cs typeface="Times New Roman"/>
                      </a:endParaRPr>
                    </a:p>
                  </a:txBody>
                  <a:tcPr marL="0" marR="0" marT="0" marB="0"/>
                </a:tc>
                <a:tc>
                  <a:txBody>
                    <a:bodyPr/>
                    <a:lstStyle/>
                    <a:p>
                      <a:pPr marR="59690" algn="r">
                        <a:lnSpc>
                          <a:spcPts val="1325"/>
                        </a:lnSpc>
                        <a:spcAft>
                          <a:spcPts val="0"/>
                        </a:spcAft>
                      </a:pPr>
                      <a:r>
                        <a:rPr lang="ro-RO" sz="1100" spc="-20">
                          <a:effectLst/>
                        </a:rPr>
                        <a:t>25,0</a:t>
                      </a:r>
                      <a:endParaRPr lang="ro-RO" sz="1100">
                        <a:effectLst/>
                        <a:latin typeface="Calibri"/>
                        <a:ea typeface="Calibri"/>
                        <a:cs typeface="Times New Roman"/>
                      </a:endParaRPr>
                    </a:p>
                  </a:txBody>
                  <a:tcPr marL="0" marR="0" marT="0" marB="0"/>
                </a:tc>
                <a:tc>
                  <a:txBody>
                    <a:bodyPr/>
                    <a:lstStyle/>
                    <a:p>
                      <a:pPr marR="60325" algn="r">
                        <a:lnSpc>
                          <a:spcPts val="1325"/>
                        </a:lnSpc>
                        <a:spcAft>
                          <a:spcPts val="0"/>
                        </a:spcAft>
                      </a:pPr>
                      <a:r>
                        <a:rPr lang="ro-RO" sz="1100" spc="-20">
                          <a:effectLst/>
                        </a:rPr>
                        <a:t>25,0</a:t>
                      </a:r>
                      <a:endParaRPr lang="ro-RO" sz="1100">
                        <a:effectLst/>
                        <a:latin typeface="Calibri"/>
                        <a:ea typeface="Calibri"/>
                        <a:cs typeface="Times New Roman"/>
                      </a:endParaRPr>
                    </a:p>
                  </a:txBody>
                  <a:tcPr marL="0" marR="0" marT="0" marB="0"/>
                </a:tc>
                <a:tc>
                  <a:txBody>
                    <a:bodyPr/>
                    <a:lstStyle/>
                    <a:p>
                      <a:pPr marR="58420" algn="r">
                        <a:lnSpc>
                          <a:spcPts val="1325"/>
                        </a:lnSpc>
                        <a:spcAft>
                          <a:spcPts val="0"/>
                        </a:spcAft>
                      </a:pPr>
                      <a:r>
                        <a:rPr lang="ro-RO" sz="1100" spc="-20">
                          <a:effectLst/>
                        </a:rPr>
                        <a:t>25,0</a:t>
                      </a:r>
                      <a:endParaRPr lang="ro-RO" sz="1100">
                        <a:effectLst/>
                        <a:latin typeface="Calibri"/>
                        <a:ea typeface="Calibri"/>
                        <a:cs typeface="Times New Roman"/>
                      </a:endParaRPr>
                    </a:p>
                  </a:txBody>
                  <a:tcPr marL="0" marR="0" marT="0" marB="0"/>
                </a:tc>
                <a:tc>
                  <a:txBody>
                    <a:bodyPr/>
                    <a:lstStyle/>
                    <a:p>
                      <a:pPr marR="59055" algn="r">
                        <a:lnSpc>
                          <a:spcPts val="1325"/>
                        </a:lnSpc>
                        <a:spcAft>
                          <a:spcPts val="0"/>
                        </a:spcAft>
                      </a:pPr>
                      <a:r>
                        <a:rPr lang="ro-RO" sz="1100" spc="-25">
                          <a:effectLst/>
                        </a:rPr>
                        <a:t>0,0</a:t>
                      </a:r>
                      <a:endParaRPr lang="ro-RO" sz="1100">
                        <a:effectLst/>
                        <a:latin typeface="Calibri"/>
                        <a:ea typeface="Calibri"/>
                        <a:cs typeface="Times New Roman"/>
                      </a:endParaRPr>
                    </a:p>
                  </a:txBody>
                  <a:tcPr marL="0" marR="0" marT="0" marB="0"/>
                </a:tc>
                <a:tc>
                  <a:txBody>
                    <a:bodyPr/>
                    <a:lstStyle/>
                    <a:p>
                      <a:pPr marR="59690" algn="l">
                        <a:lnSpc>
                          <a:spcPts val="1325"/>
                        </a:lnSpc>
                        <a:spcAft>
                          <a:spcPts val="0"/>
                        </a:spcAft>
                      </a:pPr>
                      <a:r>
                        <a:rPr lang="ro-RO" sz="1000">
                          <a:effectLst/>
                        </a:rPr>
                        <a:t> </a:t>
                      </a:r>
                      <a:endParaRPr lang="ro-RO" sz="1100">
                        <a:effectLst/>
                        <a:latin typeface="Calibri"/>
                        <a:ea typeface="Calibri"/>
                        <a:cs typeface="Times New Roman"/>
                      </a:endParaRPr>
                    </a:p>
                  </a:txBody>
                  <a:tcPr marL="0" marR="0" marT="0" marB="0"/>
                </a:tc>
              </a:tr>
              <a:tr h="276591">
                <a:tc>
                  <a:txBody>
                    <a:bodyPr/>
                    <a:lstStyle/>
                    <a:p>
                      <a:pPr marR="59690" algn="r">
                        <a:lnSpc>
                          <a:spcPts val="1325"/>
                        </a:lnSpc>
                        <a:spcAft>
                          <a:spcPts val="0"/>
                        </a:spcAft>
                      </a:pPr>
                      <a:r>
                        <a:rPr lang="ro-RO" sz="1100" spc="-20">
                          <a:effectLst/>
                        </a:rPr>
                        <a:t>30,0</a:t>
                      </a:r>
                      <a:endParaRPr lang="ro-RO" sz="1100">
                        <a:effectLst/>
                        <a:latin typeface="Calibri"/>
                        <a:ea typeface="Calibri"/>
                        <a:cs typeface="Times New Roman"/>
                      </a:endParaRPr>
                    </a:p>
                  </a:txBody>
                  <a:tcPr marL="0" marR="0" marT="0" marB="0"/>
                </a:tc>
                <a:tc>
                  <a:txBody>
                    <a:bodyPr/>
                    <a:lstStyle/>
                    <a:p>
                      <a:pPr marR="59690" algn="r">
                        <a:lnSpc>
                          <a:spcPts val="1325"/>
                        </a:lnSpc>
                        <a:spcAft>
                          <a:spcPts val="0"/>
                        </a:spcAft>
                      </a:pPr>
                      <a:r>
                        <a:rPr lang="ro-RO" sz="1100" spc="-20">
                          <a:effectLst/>
                        </a:rPr>
                        <a:t>31,8</a:t>
                      </a:r>
                      <a:endParaRPr lang="ro-RO" sz="1100">
                        <a:effectLst/>
                        <a:latin typeface="Calibri"/>
                        <a:ea typeface="Calibri"/>
                        <a:cs typeface="Times New Roman"/>
                      </a:endParaRPr>
                    </a:p>
                  </a:txBody>
                  <a:tcPr marL="0" marR="0" marT="0" marB="0"/>
                </a:tc>
                <a:tc>
                  <a:txBody>
                    <a:bodyPr/>
                    <a:lstStyle/>
                    <a:p>
                      <a:pPr marR="60325" algn="r">
                        <a:lnSpc>
                          <a:spcPts val="1325"/>
                        </a:lnSpc>
                        <a:spcAft>
                          <a:spcPts val="0"/>
                        </a:spcAft>
                      </a:pPr>
                      <a:r>
                        <a:rPr lang="ro-RO" sz="1100" spc="-20">
                          <a:effectLst/>
                        </a:rPr>
                        <a:t>25,0</a:t>
                      </a:r>
                      <a:endParaRPr lang="ro-RO" sz="1100">
                        <a:effectLst/>
                        <a:latin typeface="Calibri"/>
                        <a:ea typeface="Calibri"/>
                        <a:cs typeface="Times New Roman"/>
                      </a:endParaRPr>
                    </a:p>
                  </a:txBody>
                  <a:tcPr marL="0" marR="0" marT="0" marB="0"/>
                </a:tc>
                <a:tc>
                  <a:txBody>
                    <a:bodyPr/>
                    <a:lstStyle/>
                    <a:p>
                      <a:pPr marR="58420" algn="r">
                        <a:lnSpc>
                          <a:spcPts val="1325"/>
                        </a:lnSpc>
                        <a:spcAft>
                          <a:spcPts val="0"/>
                        </a:spcAft>
                      </a:pPr>
                      <a:r>
                        <a:rPr lang="ro-RO" sz="1100" spc="-20">
                          <a:effectLst/>
                        </a:rPr>
                        <a:t>30,1</a:t>
                      </a:r>
                      <a:endParaRPr lang="ro-RO" sz="1100">
                        <a:effectLst/>
                        <a:latin typeface="Calibri"/>
                        <a:ea typeface="Calibri"/>
                        <a:cs typeface="Times New Roman"/>
                      </a:endParaRPr>
                    </a:p>
                  </a:txBody>
                  <a:tcPr marL="0" marR="0" marT="0" marB="0"/>
                </a:tc>
                <a:tc>
                  <a:txBody>
                    <a:bodyPr/>
                    <a:lstStyle/>
                    <a:p>
                      <a:pPr marR="59055" algn="r">
                        <a:lnSpc>
                          <a:spcPts val="1325"/>
                        </a:lnSpc>
                        <a:spcAft>
                          <a:spcPts val="0"/>
                        </a:spcAft>
                      </a:pPr>
                      <a:r>
                        <a:rPr lang="ro-RO" sz="1100" spc="-25">
                          <a:effectLst/>
                        </a:rPr>
                        <a:t>0,1</a:t>
                      </a:r>
                      <a:endParaRPr lang="ro-RO" sz="1100">
                        <a:effectLst/>
                        <a:latin typeface="Calibri"/>
                        <a:ea typeface="Calibri"/>
                        <a:cs typeface="Times New Roman"/>
                      </a:endParaRPr>
                    </a:p>
                  </a:txBody>
                  <a:tcPr marL="0" marR="0" marT="0" marB="0"/>
                </a:tc>
                <a:tc>
                  <a:txBody>
                    <a:bodyPr/>
                    <a:lstStyle/>
                    <a:p>
                      <a:pPr marR="59690" algn="l">
                        <a:lnSpc>
                          <a:spcPts val="1325"/>
                        </a:lnSpc>
                        <a:spcAft>
                          <a:spcPts val="0"/>
                        </a:spcAft>
                      </a:pPr>
                      <a:r>
                        <a:rPr lang="ro-RO" sz="1000">
                          <a:effectLst/>
                        </a:rPr>
                        <a:t> </a:t>
                      </a:r>
                      <a:endParaRPr lang="ro-RO" sz="1100">
                        <a:effectLst/>
                        <a:latin typeface="Calibri"/>
                        <a:ea typeface="Calibri"/>
                        <a:cs typeface="Times New Roman"/>
                      </a:endParaRPr>
                    </a:p>
                  </a:txBody>
                  <a:tcPr marL="0" marR="0" marT="0" marB="0"/>
                </a:tc>
              </a:tr>
              <a:tr h="276591">
                <a:tc>
                  <a:txBody>
                    <a:bodyPr/>
                    <a:lstStyle/>
                    <a:p>
                      <a:pPr marR="59690" algn="r">
                        <a:lnSpc>
                          <a:spcPts val="1325"/>
                        </a:lnSpc>
                        <a:spcAft>
                          <a:spcPts val="0"/>
                        </a:spcAft>
                      </a:pPr>
                      <a:r>
                        <a:rPr lang="ro-RO" sz="1100" spc="-20">
                          <a:effectLst/>
                        </a:rPr>
                        <a:t>35,0</a:t>
                      </a:r>
                      <a:endParaRPr lang="ro-RO" sz="1100">
                        <a:effectLst/>
                        <a:latin typeface="Calibri"/>
                        <a:ea typeface="Calibri"/>
                        <a:cs typeface="Times New Roman"/>
                      </a:endParaRPr>
                    </a:p>
                  </a:txBody>
                  <a:tcPr marL="0" marR="0" marT="0" marB="0"/>
                </a:tc>
                <a:tc>
                  <a:txBody>
                    <a:bodyPr/>
                    <a:lstStyle/>
                    <a:p>
                      <a:pPr marR="59690" algn="r">
                        <a:lnSpc>
                          <a:spcPts val="1325"/>
                        </a:lnSpc>
                        <a:spcAft>
                          <a:spcPts val="0"/>
                        </a:spcAft>
                      </a:pPr>
                      <a:r>
                        <a:rPr lang="ro-RO" sz="1100" spc="-20">
                          <a:effectLst/>
                        </a:rPr>
                        <a:t>34,0</a:t>
                      </a:r>
                      <a:endParaRPr lang="ro-RO" sz="1100">
                        <a:effectLst/>
                        <a:latin typeface="Calibri"/>
                        <a:ea typeface="Calibri"/>
                        <a:cs typeface="Times New Roman"/>
                      </a:endParaRPr>
                    </a:p>
                  </a:txBody>
                  <a:tcPr marL="0" marR="0" marT="0" marB="0"/>
                </a:tc>
                <a:tc>
                  <a:txBody>
                    <a:bodyPr/>
                    <a:lstStyle/>
                    <a:p>
                      <a:pPr marR="60325" algn="r">
                        <a:lnSpc>
                          <a:spcPts val="1325"/>
                        </a:lnSpc>
                        <a:spcAft>
                          <a:spcPts val="0"/>
                        </a:spcAft>
                      </a:pPr>
                      <a:r>
                        <a:rPr lang="ro-RO" sz="1100" spc="-20">
                          <a:effectLst/>
                        </a:rPr>
                        <a:t>37,5</a:t>
                      </a:r>
                      <a:endParaRPr lang="ro-RO" sz="1100">
                        <a:effectLst/>
                        <a:latin typeface="Calibri"/>
                        <a:ea typeface="Calibri"/>
                        <a:cs typeface="Times New Roman"/>
                      </a:endParaRPr>
                    </a:p>
                  </a:txBody>
                  <a:tcPr marL="0" marR="0" marT="0" marB="0"/>
                </a:tc>
                <a:tc>
                  <a:txBody>
                    <a:bodyPr/>
                    <a:lstStyle/>
                    <a:p>
                      <a:pPr marR="58420" algn="r">
                        <a:lnSpc>
                          <a:spcPts val="1325"/>
                        </a:lnSpc>
                        <a:spcAft>
                          <a:spcPts val="0"/>
                        </a:spcAft>
                      </a:pPr>
                      <a:r>
                        <a:rPr lang="ro-RO" sz="1100" spc="-20">
                          <a:effectLst/>
                        </a:rPr>
                        <a:t>36,4</a:t>
                      </a:r>
                      <a:endParaRPr lang="ro-RO" sz="1100">
                        <a:effectLst/>
                        <a:latin typeface="Calibri"/>
                        <a:ea typeface="Calibri"/>
                        <a:cs typeface="Times New Roman"/>
                      </a:endParaRPr>
                    </a:p>
                  </a:txBody>
                  <a:tcPr marL="0" marR="0" marT="0" marB="0"/>
                </a:tc>
                <a:tc>
                  <a:txBody>
                    <a:bodyPr/>
                    <a:lstStyle/>
                    <a:p>
                      <a:pPr marR="59055" algn="r">
                        <a:lnSpc>
                          <a:spcPts val="1325"/>
                        </a:lnSpc>
                        <a:spcAft>
                          <a:spcPts val="0"/>
                        </a:spcAft>
                      </a:pPr>
                      <a:r>
                        <a:rPr lang="ro-RO" sz="1100" spc="-25">
                          <a:effectLst/>
                        </a:rPr>
                        <a:t>1,4</a:t>
                      </a:r>
                      <a:endParaRPr lang="ro-RO" sz="1100">
                        <a:effectLst/>
                        <a:latin typeface="Calibri"/>
                        <a:ea typeface="Calibri"/>
                        <a:cs typeface="Times New Roman"/>
                      </a:endParaRPr>
                    </a:p>
                  </a:txBody>
                  <a:tcPr marL="0" marR="0" marT="0" marB="0"/>
                </a:tc>
                <a:tc>
                  <a:txBody>
                    <a:bodyPr/>
                    <a:lstStyle/>
                    <a:p>
                      <a:pPr marR="59690" algn="l">
                        <a:lnSpc>
                          <a:spcPts val="1325"/>
                        </a:lnSpc>
                        <a:spcAft>
                          <a:spcPts val="0"/>
                        </a:spcAft>
                      </a:pPr>
                      <a:r>
                        <a:rPr lang="ro-RO" sz="1000">
                          <a:effectLst/>
                        </a:rPr>
                        <a:t> </a:t>
                      </a:r>
                      <a:endParaRPr lang="ro-RO" sz="1100">
                        <a:effectLst/>
                        <a:latin typeface="Calibri"/>
                        <a:ea typeface="Calibri"/>
                        <a:cs typeface="Times New Roman"/>
                      </a:endParaRPr>
                    </a:p>
                  </a:txBody>
                  <a:tcPr marL="0" marR="0" marT="0" marB="0"/>
                </a:tc>
              </a:tr>
              <a:tr h="276591">
                <a:tc>
                  <a:txBody>
                    <a:bodyPr/>
                    <a:lstStyle/>
                    <a:p>
                      <a:pPr marR="59690" algn="r">
                        <a:lnSpc>
                          <a:spcPts val="1325"/>
                        </a:lnSpc>
                        <a:spcAft>
                          <a:spcPts val="0"/>
                        </a:spcAft>
                      </a:pPr>
                      <a:r>
                        <a:rPr lang="ro-RO" sz="1100" spc="-20">
                          <a:effectLst/>
                        </a:rPr>
                        <a:t>40,0</a:t>
                      </a:r>
                      <a:endParaRPr lang="ro-RO" sz="1100">
                        <a:effectLst/>
                        <a:latin typeface="Calibri"/>
                        <a:ea typeface="Calibri"/>
                        <a:cs typeface="Times New Roman"/>
                      </a:endParaRPr>
                    </a:p>
                  </a:txBody>
                  <a:tcPr marL="0" marR="0" marT="0" marB="0"/>
                </a:tc>
                <a:tc>
                  <a:txBody>
                    <a:bodyPr/>
                    <a:lstStyle/>
                    <a:p>
                      <a:pPr marR="59690" algn="r">
                        <a:lnSpc>
                          <a:spcPts val="1325"/>
                        </a:lnSpc>
                        <a:spcAft>
                          <a:spcPts val="0"/>
                        </a:spcAft>
                      </a:pPr>
                      <a:r>
                        <a:rPr lang="ro-RO" sz="1100" spc="-20">
                          <a:effectLst/>
                        </a:rPr>
                        <a:t>40,9</a:t>
                      </a:r>
                      <a:endParaRPr lang="ro-RO" sz="1100">
                        <a:effectLst/>
                        <a:latin typeface="Calibri"/>
                        <a:ea typeface="Calibri"/>
                        <a:cs typeface="Times New Roman"/>
                      </a:endParaRPr>
                    </a:p>
                  </a:txBody>
                  <a:tcPr marL="0" marR="0" marT="0" marB="0"/>
                </a:tc>
                <a:tc>
                  <a:txBody>
                    <a:bodyPr/>
                    <a:lstStyle/>
                    <a:p>
                      <a:pPr marR="60325" algn="r">
                        <a:lnSpc>
                          <a:spcPts val="1325"/>
                        </a:lnSpc>
                        <a:spcAft>
                          <a:spcPts val="0"/>
                        </a:spcAft>
                      </a:pPr>
                      <a:r>
                        <a:rPr lang="ro-RO" sz="1100" spc="-20">
                          <a:effectLst/>
                        </a:rPr>
                        <a:t>37,5</a:t>
                      </a:r>
                      <a:endParaRPr lang="ro-RO" sz="1100">
                        <a:effectLst/>
                        <a:latin typeface="Calibri"/>
                        <a:ea typeface="Calibri"/>
                        <a:cs typeface="Times New Roman"/>
                      </a:endParaRPr>
                    </a:p>
                  </a:txBody>
                  <a:tcPr marL="0" marR="0" marT="0" marB="0"/>
                </a:tc>
                <a:tc>
                  <a:txBody>
                    <a:bodyPr/>
                    <a:lstStyle/>
                    <a:p>
                      <a:pPr marR="58420" algn="r">
                        <a:lnSpc>
                          <a:spcPts val="1325"/>
                        </a:lnSpc>
                        <a:spcAft>
                          <a:spcPts val="0"/>
                        </a:spcAft>
                      </a:pPr>
                      <a:r>
                        <a:rPr lang="ro-RO" sz="1100" spc="-20">
                          <a:effectLst/>
                        </a:rPr>
                        <a:t>40,7</a:t>
                      </a:r>
                      <a:endParaRPr lang="ro-RO" sz="1100">
                        <a:effectLst/>
                        <a:latin typeface="Calibri"/>
                        <a:ea typeface="Calibri"/>
                        <a:cs typeface="Times New Roman"/>
                      </a:endParaRPr>
                    </a:p>
                  </a:txBody>
                  <a:tcPr marL="0" marR="0" marT="0" marB="0"/>
                </a:tc>
                <a:tc>
                  <a:txBody>
                    <a:bodyPr/>
                    <a:lstStyle/>
                    <a:p>
                      <a:pPr marR="59055" algn="r">
                        <a:lnSpc>
                          <a:spcPts val="1325"/>
                        </a:lnSpc>
                        <a:spcAft>
                          <a:spcPts val="0"/>
                        </a:spcAft>
                      </a:pPr>
                      <a:r>
                        <a:rPr lang="ro-RO" sz="1100" spc="-25">
                          <a:effectLst/>
                        </a:rPr>
                        <a:t>0,7</a:t>
                      </a:r>
                      <a:endParaRPr lang="ro-RO" sz="1100">
                        <a:effectLst/>
                        <a:latin typeface="Calibri"/>
                        <a:ea typeface="Calibri"/>
                        <a:cs typeface="Times New Roman"/>
                      </a:endParaRPr>
                    </a:p>
                  </a:txBody>
                  <a:tcPr marL="0" marR="0" marT="0" marB="0"/>
                </a:tc>
                <a:tc>
                  <a:txBody>
                    <a:bodyPr/>
                    <a:lstStyle/>
                    <a:p>
                      <a:pPr marR="59690" algn="l">
                        <a:lnSpc>
                          <a:spcPts val="1325"/>
                        </a:lnSpc>
                        <a:spcAft>
                          <a:spcPts val="0"/>
                        </a:spcAft>
                      </a:pPr>
                      <a:r>
                        <a:rPr lang="ro-RO" sz="1000">
                          <a:effectLst/>
                        </a:rPr>
                        <a:t> </a:t>
                      </a:r>
                      <a:endParaRPr lang="ro-RO" sz="1100">
                        <a:effectLst/>
                        <a:latin typeface="Calibri"/>
                        <a:ea typeface="Calibri"/>
                        <a:cs typeface="Times New Roman"/>
                      </a:endParaRPr>
                    </a:p>
                  </a:txBody>
                  <a:tcPr marL="0" marR="0" marT="0" marB="0"/>
                </a:tc>
              </a:tr>
              <a:tr h="276591">
                <a:tc>
                  <a:txBody>
                    <a:bodyPr/>
                    <a:lstStyle/>
                    <a:p>
                      <a:pPr marR="59690" algn="r">
                        <a:lnSpc>
                          <a:spcPts val="1325"/>
                        </a:lnSpc>
                        <a:spcAft>
                          <a:spcPts val="0"/>
                        </a:spcAft>
                      </a:pPr>
                      <a:r>
                        <a:rPr lang="ro-RO" sz="1100" spc="-20">
                          <a:effectLst/>
                        </a:rPr>
                        <a:t>45,0</a:t>
                      </a:r>
                      <a:endParaRPr lang="ro-RO" sz="1100">
                        <a:effectLst/>
                        <a:latin typeface="Calibri"/>
                        <a:ea typeface="Calibri"/>
                        <a:cs typeface="Times New Roman"/>
                      </a:endParaRPr>
                    </a:p>
                  </a:txBody>
                  <a:tcPr marL="0" marR="0" marT="0" marB="0"/>
                </a:tc>
                <a:tc>
                  <a:txBody>
                    <a:bodyPr/>
                    <a:lstStyle/>
                    <a:p>
                      <a:pPr marR="59690" algn="r">
                        <a:lnSpc>
                          <a:spcPts val="1325"/>
                        </a:lnSpc>
                        <a:spcAft>
                          <a:spcPts val="0"/>
                        </a:spcAft>
                      </a:pPr>
                      <a:r>
                        <a:rPr lang="ro-RO" sz="1100" spc="-20">
                          <a:effectLst/>
                        </a:rPr>
                        <a:t>45,7</a:t>
                      </a:r>
                      <a:endParaRPr lang="ro-RO" sz="1100">
                        <a:effectLst/>
                        <a:latin typeface="Calibri"/>
                        <a:ea typeface="Calibri"/>
                        <a:cs typeface="Times New Roman"/>
                      </a:endParaRPr>
                    </a:p>
                  </a:txBody>
                  <a:tcPr marL="0" marR="0" marT="0" marB="0"/>
                </a:tc>
                <a:tc>
                  <a:txBody>
                    <a:bodyPr/>
                    <a:lstStyle/>
                    <a:p>
                      <a:pPr marR="60325" algn="r">
                        <a:lnSpc>
                          <a:spcPts val="1325"/>
                        </a:lnSpc>
                        <a:spcAft>
                          <a:spcPts val="0"/>
                        </a:spcAft>
                      </a:pPr>
                      <a:r>
                        <a:rPr lang="ro-RO" sz="1100" spc="-20">
                          <a:effectLst/>
                        </a:rPr>
                        <a:t>50,0</a:t>
                      </a:r>
                      <a:endParaRPr lang="ro-RO" sz="1100">
                        <a:effectLst/>
                        <a:latin typeface="Calibri"/>
                        <a:ea typeface="Calibri"/>
                        <a:cs typeface="Times New Roman"/>
                      </a:endParaRPr>
                    </a:p>
                  </a:txBody>
                  <a:tcPr marL="0" marR="0" marT="0" marB="0"/>
                </a:tc>
                <a:tc>
                  <a:txBody>
                    <a:bodyPr/>
                    <a:lstStyle/>
                    <a:p>
                      <a:pPr marR="58420" algn="r">
                        <a:lnSpc>
                          <a:spcPts val="1325"/>
                        </a:lnSpc>
                        <a:spcAft>
                          <a:spcPts val="0"/>
                        </a:spcAft>
                      </a:pPr>
                      <a:r>
                        <a:rPr lang="ro-RO" sz="1100" spc="-20">
                          <a:effectLst/>
                        </a:rPr>
                        <a:t>46,3</a:t>
                      </a:r>
                      <a:endParaRPr lang="ro-RO" sz="1100">
                        <a:effectLst/>
                        <a:latin typeface="Calibri"/>
                        <a:ea typeface="Calibri"/>
                        <a:cs typeface="Times New Roman"/>
                      </a:endParaRPr>
                    </a:p>
                  </a:txBody>
                  <a:tcPr marL="0" marR="0" marT="0" marB="0"/>
                </a:tc>
                <a:tc>
                  <a:txBody>
                    <a:bodyPr/>
                    <a:lstStyle/>
                    <a:p>
                      <a:pPr marR="59055" algn="r">
                        <a:lnSpc>
                          <a:spcPts val="1325"/>
                        </a:lnSpc>
                        <a:spcAft>
                          <a:spcPts val="0"/>
                        </a:spcAft>
                      </a:pPr>
                      <a:r>
                        <a:rPr lang="ro-RO" sz="1100" spc="-25">
                          <a:effectLst/>
                        </a:rPr>
                        <a:t>1,3</a:t>
                      </a:r>
                      <a:endParaRPr lang="ro-RO" sz="1100">
                        <a:effectLst/>
                        <a:latin typeface="Calibri"/>
                        <a:ea typeface="Calibri"/>
                        <a:cs typeface="Times New Roman"/>
                      </a:endParaRPr>
                    </a:p>
                  </a:txBody>
                  <a:tcPr marL="0" marR="0" marT="0" marB="0"/>
                </a:tc>
                <a:tc>
                  <a:txBody>
                    <a:bodyPr/>
                    <a:lstStyle/>
                    <a:p>
                      <a:pPr marR="59690" algn="l">
                        <a:lnSpc>
                          <a:spcPts val="1325"/>
                        </a:lnSpc>
                        <a:spcAft>
                          <a:spcPts val="0"/>
                        </a:spcAft>
                      </a:pPr>
                      <a:r>
                        <a:rPr lang="ro-RO" sz="1000">
                          <a:effectLst/>
                        </a:rPr>
                        <a:t> </a:t>
                      </a:r>
                      <a:endParaRPr lang="ro-RO" sz="1100">
                        <a:effectLst/>
                        <a:latin typeface="Calibri"/>
                        <a:ea typeface="Calibri"/>
                        <a:cs typeface="Times New Roman"/>
                      </a:endParaRPr>
                    </a:p>
                  </a:txBody>
                  <a:tcPr marL="0" marR="0" marT="0" marB="0"/>
                </a:tc>
              </a:tr>
              <a:tr h="279482">
                <a:tc>
                  <a:txBody>
                    <a:bodyPr/>
                    <a:lstStyle/>
                    <a:p>
                      <a:pPr marR="59690" algn="r">
                        <a:lnSpc>
                          <a:spcPts val="1340"/>
                        </a:lnSpc>
                        <a:spcAft>
                          <a:spcPts val="0"/>
                        </a:spcAft>
                      </a:pPr>
                      <a:r>
                        <a:rPr lang="ro-RO" sz="1100" spc="-20">
                          <a:effectLst/>
                        </a:rPr>
                        <a:t>50,0</a:t>
                      </a:r>
                      <a:endParaRPr lang="ro-RO" sz="1100">
                        <a:effectLst/>
                        <a:latin typeface="Calibri"/>
                        <a:ea typeface="Calibri"/>
                        <a:cs typeface="Times New Roman"/>
                      </a:endParaRPr>
                    </a:p>
                  </a:txBody>
                  <a:tcPr marL="0" marR="0" marT="0" marB="0"/>
                </a:tc>
                <a:tc>
                  <a:txBody>
                    <a:bodyPr/>
                    <a:lstStyle/>
                    <a:p>
                      <a:pPr marR="59690" algn="r">
                        <a:lnSpc>
                          <a:spcPts val="1340"/>
                        </a:lnSpc>
                        <a:spcAft>
                          <a:spcPts val="0"/>
                        </a:spcAft>
                      </a:pPr>
                      <a:r>
                        <a:rPr lang="ro-RO" sz="1100" spc="-20">
                          <a:effectLst/>
                        </a:rPr>
                        <a:t>50,0</a:t>
                      </a:r>
                      <a:endParaRPr lang="ro-RO" sz="1100">
                        <a:effectLst/>
                        <a:latin typeface="Calibri"/>
                        <a:ea typeface="Calibri"/>
                        <a:cs typeface="Times New Roman"/>
                      </a:endParaRPr>
                    </a:p>
                  </a:txBody>
                  <a:tcPr marL="0" marR="0" marT="0" marB="0"/>
                </a:tc>
                <a:tc>
                  <a:txBody>
                    <a:bodyPr/>
                    <a:lstStyle/>
                    <a:p>
                      <a:pPr marR="60325" algn="r">
                        <a:lnSpc>
                          <a:spcPts val="1340"/>
                        </a:lnSpc>
                        <a:spcAft>
                          <a:spcPts val="0"/>
                        </a:spcAft>
                      </a:pPr>
                      <a:r>
                        <a:rPr lang="ro-RO" sz="1100" spc="-20">
                          <a:effectLst/>
                        </a:rPr>
                        <a:t>50,0</a:t>
                      </a:r>
                      <a:endParaRPr lang="ro-RO" sz="1100">
                        <a:effectLst/>
                        <a:latin typeface="Calibri"/>
                        <a:ea typeface="Calibri"/>
                        <a:cs typeface="Times New Roman"/>
                      </a:endParaRPr>
                    </a:p>
                  </a:txBody>
                  <a:tcPr marL="0" marR="0" marT="0" marB="0"/>
                </a:tc>
                <a:tc>
                  <a:txBody>
                    <a:bodyPr/>
                    <a:lstStyle/>
                    <a:p>
                      <a:pPr marR="58420" algn="r">
                        <a:lnSpc>
                          <a:spcPts val="1340"/>
                        </a:lnSpc>
                        <a:spcAft>
                          <a:spcPts val="0"/>
                        </a:spcAft>
                      </a:pPr>
                      <a:r>
                        <a:rPr lang="ro-RO" sz="1100" spc="-20">
                          <a:effectLst/>
                        </a:rPr>
                        <a:t>50,0</a:t>
                      </a:r>
                      <a:endParaRPr lang="ro-RO" sz="1100">
                        <a:effectLst/>
                        <a:latin typeface="Calibri"/>
                        <a:ea typeface="Calibri"/>
                        <a:cs typeface="Times New Roman"/>
                      </a:endParaRPr>
                    </a:p>
                  </a:txBody>
                  <a:tcPr marL="0" marR="0" marT="0" marB="0"/>
                </a:tc>
                <a:tc>
                  <a:txBody>
                    <a:bodyPr/>
                    <a:lstStyle/>
                    <a:p>
                      <a:pPr marR="59055" algn="r">
                        <a:lnSpc>
                          <a:spcPts val="1340"/>
                        </a:lnSpc>
                        <a:spcAft>
                          <a:spcPts val="0"/>
                        </a:spcAft>
                      </a:pPr>
                      <a:r>
                        <a:rPr lang="ro-RO" sz="1100" spc="-25">
                          <a:effectLst/>
                        </a:rPr>
                        <a:t>0,0</a:t>
                      </a:r>
                      <a:endParaRPr lang="ro-RO" sz="1100">
                        <a:effectLst/>
                        <a:latin typeface="Calibri"/>
                        <a:ea typeface="Calibri"/>
                        <a:cs typeface="Times New Roman"/>
                      </a:endParaRPr>
                    </a:p>
                  </a:txBody>
                  <a:tcPr marL="0" marR="0" marT="0" marB="0"/>
                </a:tc>
                <a:tc>
                  <a:txBody>
                    <a:bodyPr/>
                    <a:lstStyle/>
                    <a:p>
                      <a:pPr marR="59690" algn="l">
                        <a:lnSpc>
                          <a:spcPts val="1325"/>
                        </a:lnSpc>
                        <a:spcAft>
                          <a:spcPts val="0"/>
                        </a:spcAft>
                      </a:pPr>
                      <a:r>
                        <a:rPr lang="ro-RO" sz="1000">
                          <a:effectLst/>
                        </a:rPr>
                        <a:t> </a:t>
                      </a:r>
                      <a:endParaRPr lang="ro-RO" sz="1100">
                        <a:effectLst/>
                        <a:latin typeface="Calibri"/>
                        <a:ea typeface="Calibri"/>
                        <a:cs typeface="Times New Roman"/>
                      </a:endParaRPr>
                    </a:p>
                  </a:txBody>
                  <a:tcPr marL="0" marR="0" marT="0" marB="0"/>
                </a:tc>
              </a:tr>
              <a:tr h="276591">
                <a:tc>
                  <a:txBody>
                    <a:bodyPr/>
                    <a:lstStyle/>
                    <a:p>
                      <a:pPr marR="59690" algn="r">
                        <a:lnSpc>
                          <a:spcPts val="1325"/>
                        </a:lnSpc>
                        <a:spcAft>
                          <a:spcPts val="0"/>
                        </a:spcAft>
                      </a:pPr>
                      <a:r>
                        <a:rPr lang="ro-RO" sz="1100" spc="-20">
                          <a:effectLst/>
                        </a:rPr>
                        <a:t>55,0</a:t>
                      </a:r>
                      <a:endParaRPr lang="ro-RO" sz="1100">
                        <a:effectLst/>
                        <a:latin typeface="Calibri"/>
                        <a:ea typeface="Calibri"/>
                        <a:cs typeface="Times New Roman"/>
                      </a:endParaRPr>
                    </a:p>
                  </a:txBody>
                  <a:tcPr marL="0" marR="0" marT="0" marB="0"/>
                </a:tc>
                <a:tc>
                  <a:txBody>
                    <a:bodyPr/>
                    <a:lstStyle/>
                    <a:p>
                      <a:pPr marR="59690" algn="r">
                        <a:lnSpc>
                          <a:spcPts val="1325"/>
                        </a:lnSpc>
                        <a:spcAft>
                          <a:spcPts val="0"/>
                        </a:spcAft>
                      </a:pPr>
                      <a:r>
                        <a:rPr lang="ro-RO" sz="1100" spc="-20">
                          <a:effectLst/>
                        </a:rPr>
                        <a:t>56,8</a:t>
                      </a:r>
                      <a:endParaRPr lang="ro-RO" sz="1100">
                        <a:effectLst/>
                        <a:latin typeface="Calibri"/>
                        <a:ea typeface="Calibri"/>
                        <a:cs typeface="Times New Roman"/>
                      </a:endParaRPr>
                    </a:p>
                  </a:txBody>
                  <a:tcPr marL="0" marR="0" marT="0" marB="0"/>
                </a:tc>
                <a:tc>
                  <a:txBody>
                    <a:bodyPr/>
                    <a:lstStyle/>
                    <a:p>
                      <a:pPr marR="60325" algn="r">
                        <a:lnSpc>
                          <a:spcPts val="1325"/>
                        </a:lnSpc>
                        <a:spcAft>
                          <a:spcPts val="0"/>
                        </a:spcAft>
                      </a:pPr>
                      <a:r>
                        <a:rPr lang="ro-RO" sz="1100" spc="-20">
                          <a:effectLst/>
                        </a:rPr>
                        <a:t>58,3</a:t>
                      </a:r>
                      <a:endParaRPr lang="ro-RO" sz="1100">
                        <a:effectLst/>
                        <a:latin typeface="Calibri"/>
                        <a:ea typeface="Calibri"/>
                        <a:cs typeface="Times New Roman"/>
                      </a:endParaRPr>
                    </a:p>
                  </a:txBody>
                  <a:tcPr marL="0" marR="0" marT="0" marB="0"/>
                </a:tc>
                <a:tc>
                  <a:txBody>
                    <a:bodyPr/>
                    <a:lstStyle/>
                    <a:p>
                      <a:pPr marR="58420" algn="r">
                        <a:lnSpc>
                          <a:spcPts val="1325"/>
                        </a:lnSpc>
                        <a:spcAft>
                          <a:spcPts val="0"/>
                        </a:spcAft>
                      </a:pPr>
                      <a:r>
                        <a:rPr lang="ro-RO" sz="1100" spc="-20">
                          <a:effectLst/>
                        </a:rPr>
                        <a:t>56,8</a:t>
                      </a:r>
                      <a:endParaRPr lang="ro-RO" sz="1100">
                        <a:effectLst/>
                        <a:latin typeface="Calibri"/>
                        <a:ea typeface="Calibri"/>
                        <a:cs typeface="Times New Roman"/>
                      </a:endParaRPr>
                    </a:p>
                  </a:txBody>
                  <a:tcPr marL="0" marR="0" marT="0" marB="0"/>
                </a:tc>
                <a:tc>
                  <a:txBody>
                    <a:bodyPr/>
                    <a:lstStyle/>
                    <a:p>
                      <a:pPr marR="59055" algn="r">
                        <a:lnSpc>
                          <a:spcPts val="1325"/>
                        </a:lnSpc>
                        <a:spcAft>
                          <a:spcPts val="0"/>
                        </a:spcAft>
                      </a:pPr>
                      <a:r>
                        <a:rPr lang="ro-RO" sz="1100" spc="-25">
                          <a:effectLst/>
                        </a:rPr>
                        <a:t>1,8</a:t>
                      </a:r>
                      <a:endParaRPr lang="ro-RO" sz="1100">
                        <a:effectLst/>
                        <a:latin typeface="Calibri"/>
                        <a:ea typeface="Calibri"/>
                        <a:cs typeface="Times New Roman"/>
                      </a:endParaRPr>
                    </a:p>
                  </a:txBody>
                  <a:tcPr marL="0" marR="0" marT="0" marB="0"/>
                </a:tc>
                <a:tc>
                  <a:txBody>
                    <a:bodyPr/>
                    <a:lstStyle/>
                    <a:p>
                      <a:pPr marR="59690" algn="l">
                        <a:lnSpc>
                          <a:spcPts val="1325"/>
                        </a:lnSpc>
                        <a:spcAft>
                          <a:spcPts val="0"/>
                        </a:spcAft>
                      </a:pPr>
                      <a:r>
                        <a:rPr lang="ro-RO" sz="1000">
                          <a:effectLst/>
                        </a:rPr>
                        <a:t> </a:t>
                      </a:r>
                      <a:endParaRPr lang="ro-RO" sz="1100">
                        <a:effectLst/>
                        <a:latin typeface="Calibri"/>
                        <a:ea typeface="Calibri"/>
                        <a:cs typeface="Times New Roman"/>
                      </a:endParaRPr>
                    </a:p>
                  </a:txBody>
                  <a:tcPr marL="0" marR="0" marT="0" marB="0"/>
                </a:tc>
              </a:tr>
              <a:tr h="276591">
                <a:tc>
                  <a:txBody>
                    <a:bodyPr/>
                    <a:lstStyle/>
                    <a:p>
                      <a:pPr marR="59690" algn="r">
                        <a:lnSpc>
                          <a:spcPts val="1325"/>
                        </a:lnSpc>
                        <a:spcAft>
                          <a:spcPts val="0"/>
                        </a:spcAft>
                      </a:pPr>
                      <a:r>
                        <a:rPr lang="ro-RO" sz="1100" spc="-20">
                          <a:effectLst/>
                        </a:rPr>
                        <a:t>60,0</a:t>
                      </a:r>
                      <a:endParaRPr lang="ro-RO" sz="1100">
                        <a:effectLst/>
                        <a:latin typeface="Calibri"/>
                        <a:ea typeface="Calibri"/>
                        <a:cs typeface="Times New Roman"/>
                      </a:endParaRPr>
                    </a:p>
                  </a:txBody>
                  <a:tcPr marL="0" marR="0" marT="0" marB="0"/>
                </a:tc>
                <a:tc>
                  <a:txBody>
                    <a:bodyPr/>
                    <a:lstStyle/>
                    <a:p>
                      <a:pPr marR="59690" algn="r">
                        <a:lnSpc>
                          <a:spcPts val="1325"/>
                        </a:lnSpc>
                        <a:spcAft>
                          <a:spcPts val="0"/>
                        </a:spcAft>
                      </a:pPr>
                      <a:r>
                        <a:rPr lang="ro-RO" sz="1100" spc="-20">
                          <a:effectLst/>
                        </a:rPr>
                        <a:t>61,3</a:t>
                      </a:r>
                      <a:endParaRPr lang="ro-RO" sz="1100">
                        <a:effectLst/>
                        <a:latin typeface="Calibri"/>
                        <a:ea typeface="Calibri"/>
                        <a:cs typeface="Times New Roman"/>
                      </a:endParaRPr>
                    </a:p>
                  </a:txBody>
                  <a:tcPr marL="0" marR="0" marT="0" marB="0"/>
                </a:tc>
                <a:tc>
                  <a:txBody>
                    <a:bodyPr/>
                    <a:lstStyle/>
                    <a:p>
                      <a:pPr marR="60325" algn="r">
                        <a:lnSpc>
                          <a:spcPts val="1325"/>
                        </a:lnSpc>
                        <a:spcAft>
                          <a:spcPts val="0"/>
                        </a:spcAft>
                      </a:pPr>
                      <a:r>
                        <a:rPr lang="ro-RO" sz="1100" spc="-20">
                          <a:effectLst/>
                        </a:rPr>
                        <a:t>58,3</a:t>
                      </a:r>
                      <a:endParaRPr lang="ro-RO" sz="1100">
                        <a:effectLst/>
                        <a:latin typeface="Calibri"/>
                        <a:ea typeface="Calibri"/>
                        <a:cs typeface="Times New Roman"/>
                      </a:endParaRPr>
                    </a:p>
                  </a:txBody>
                  <a:tcPr marL="0" marR="0" marT="0" marB="0"/>
                </a:tc>
                <a:tc>
                  <a:txBody>
                    <a:bodyPr/>
                    <a:lstStyle/>
                    <a:p>
                      <a:pPr marR="58420" algn="r">
                        <a:lnSpc>
                          <a:spcPts val="1325"/>
                        </a:lnSpc>
                        <a:spcAft>
                          <a:spcPts val="0"/>
                        </a:spcAft>
                      </a:pPr>
                      <a:r>
                        <a:rPr lang="ro-RO" sz="1100" spc="-20">
                          <a:effectLst/>
                        </a:rPr>
                        <a:t>61,1</a:t>
                      </a:r>
                      <a:endParaRPr lang="ro-RO" sz="1100">
                        <a:effectLst/>
                        <a:latin typeface="Calibri"/>
                        <a:ea typeface="Calibri"/>
                        <a:cs typeface="Times New Roman"/>
                      </a:endParaRPr>
                    </a:p>
                  </a:txBody>
                  <a:tcPr marL="0" marR="0" marT="0" marB="0"/>
                </a:tc>
                <a:tc>
                  <a:txBody>
                    <a:bodyPr/>
                    <a:lstStyle/>
                    <a:p>
                      <a:pPr marR="59055" algn="r">
                        <a:lnSpc>
                          <a:spcPts val="1325"/>
                        </a:lnSpc>
                        <a:spcAft>
                          <a:spcPts val="0"/>
                        </a:spcAft>
                      </a:pPr>
                      <a:r>
                        <a:rPr lang="ro-RO" sz="1100" spc="-25">
                          <a:effectLst/>
                        </a:rPr>
                        <a:t>1,1</a:t>
                      </a:r>
                      <a:endParaRPr lang="ro-RO" sz="1100">
                        <a:effectLst/>
                        <a:latin typeface="Calibri"/>
                        <a:ea typeface="Calibri"/>
                        <a:cs typeface="Times New Roman"/>
                      </a:endParaRPr>
                    </a:p>
                  </a:txBody>
                  <a:tcPr marL="0" marR="0" marT="0" marB="0"/>
                </a:tc>
                <a:tc>
                  <a:txBody>
                    <a:bodyPr/>
                    <a:lstStyle/>
                    <a:p>
                      <a:pPr marR="59690" algn="l">
                        <a:lnSpc>
                          <a:spcPts val="1325"/>
                        </a:lnSpc>
                        <a:spcAft>
                          <a:spcPts val="0"/>
                        </a:spcAft>
                      </a:pPr>
                      <a:r>
                        <a:rPr lang="ro-RO" sz="1000">
                          <a:effectLst/>
                        </a:rPr>
                        <a:t> </a:t>
                      </a:r>
                      <a:endParaRPr lang="ro-RO" sz="1100">
                        <a:effectLst/>
                        <a:latin typeface="Calibri"/>
                        <a:ea typeface="Calibri"/>
                        <a:cs typeface="Times New Roman"/>
                      </a:endParaRPr>
                    </a:p>
                  </a:txBody>
                  <a:tcPr marL="0" marR="0" marT="0" marB="0"/>
                </a:tc>
              </a:tr>
              <a:tr h="277557">
                <a:tc>
                  <a:txBody>
                    <a:bodyPr/>
                    <a:lstStyle/>
                    <a:p>
                      <a:pPr marR="59690" algn="r">
                        <a:lnSpc>
                          <a:spcPts val="1325"/>
                        </a:lnSpc>
                        <a:spcAft>
                          <a:spcPts val="0"/>
                        </a:spcAft>
                      </a:pPr>
                      <a:r>
                        <a:rPr lang="ro-RO" sz="1100" spc="-20">
                          <a:effectLst/>
                        </a:rPr>
                        <a:t>65,0</a:t>
                      </a:r>
                      <a:endParaRPr lang="ro-RO" sz="1100">
                        <a:effectLst/>
                        <a:latin typeface="Calibri"/>
                        <a:ea typeface="Calibri"/>
                        <a:cs typeface="Times New Roman"/>
                      </a:endParaRPr>
                    </a:p>
                  </a:txBody>
                  <a:tcPr marL="0" marR="0" marT="0" marB="0"/>
                </a:tc>
                <a:tc>
                  <a:txBody>
                    <a:bodyPr/>
                    <a:lstStyle/>
                    <a:p>
                      <a:pPr marR="59690" algn="r">
                        <a:lnSpc>
                          <a:spcPts val="1325"/>
                        </a:lnSpc>
                        <a:spcAft>
                          <a:spcPts val="0"/>
                        </a:spcAft>
                      </a:pPr>
                      <a:r>
                        <a:rPr lang="ro-RO" sz="1100" spc="-20">
                          <a:effectLst/>
                        </a:rPr>
                        <a:t>65,9</a:t>
                      </a:r>
                      <a:endParaRPr lang="ro-RO" sz="1100">
                        <a:effectLst/>
                        <a:latin typeface="Calibri"/>
                        <a:ea typeface="Calibri"/>
                        <a:cs typeface="Times New Roman"/>
                      </a:endParaRPr>
                    </a:p>
                  </a:txBody>
                  <a:tcPr marL="0" marR="0" marT="0" marB="0"/>
                </a:tc>
                <a:tc>
                  <a:txBody>
                    <a:bodyPr/>
                    <a:lstStyle/>
                    <a:p>
                      <a:pPr marR="60325" algn="r">
                        <a:lnSpc>
                          <a:spcPts val="1325"/>
                        </a:lnSpc>
                        <a:spcAft>
                          <a:spcPts val="0"/>
                        </a:spcAft>
                      </a:pPr>
                      <a:r>
                        <a:rPr lang="ro-RO" sz="1100" spc="-20">
                          <a:effectLst/>
                        </a:rPr>
                        <a:t>66,6</a:t>
                      </a:r>
                      <a:endParaRPr lang="ro-RO" sz="1100">
                        <a:effectLst/>
                        <a:latin typeface="Calibri"/>
                        <a:ea typeface="Calibri"/>
                        <a:cs typeface="Times New Roman"/>
                      </a:endParaRPr>
                    </a:p>
                  </a:txBody>
                  <a:tcPr marL="0" marR="0" marT="0" marB="0"/>
                </a:tc>
                <a:tc>
                  <a:txBody>
                    <a:bodyPr/>
                    <a:lstStyle/>
                    <a:p>
                      <a:pPr marR="58420" algn="r">
                        <a:lnSpc>
                          <a:spcPts val="1325"/>
                        </a:lnSpc>
                        <a:spcAft>
                          <a:spcPts val="0"/>
                        </a:spcAft>
                      </a:pPr>
                      <a:r>
                        <a:rPr lang="ro-RO" sz="1100" spc="-20">
                          <a:effectLst/>
                        </a:rPr>
                        <a:t>65,9</a:t>
                      </a:r>
                      <a:endParaRPr lang="ro-RO" sz="1100">
                        <a:effectLst/>
                        <a:latin typeface="Calibri"/>
                        <a:ea typeface="Calibri"/>
                        <a:cs typeface="Times New Roman"/>
                      </a:endParaRPr>
                    </a:p>
                  </a:txBody>
                  <a:tcPr marL="0" marR="0" marT="0" marB="0"/>
                </a:tc>
                <a:tc>
                  <a:txBody>
                    <a:bodyPr/>
                    <a:lstStyle/>
                    <a:p>
                      <a:pPr marR="59055" algn="r">
                        <a:lnSpc>
                          <a:spcPts val="1325"/>
                        </a:lnSpc>
                        <a:spcAft>
                          <a:spcPts val="0"/>
                        </a:spcAft>
                      </a:pPr>
                      <a:r>
                        <a:rPr lang="ro-RO" sz="1100" spc="-25">
                          <a:effectLst/>
                        </a:rPr>
                        <a:t>0,9</a:t>
                      </a:r>
                      <a:endParaRPr lang="ro-RO" sz="1100">
                        <a:effectLst/>
                        <a:latin typeface="Calibri"/>
                        <a:ea typeface="Calibri"/>
                        <a:cs typeface="Times New Roman"/>
                      </a:endParaRPr>
                    </a:p>
                  </a:txBody>
                  <a:tcPr marL="0" marR="0" marT="0" marB="0"/>
                </a:tc>
                <a:tc>
                  <a:txBody>
                    <a:bodyPr/>
                    <a:lstStyle/>
                    <a:p>
                      <a:pPr marR="59690" algn="l">
                        <a:lnSpc>
                          <a:spcPts val="1325"/>
                        </a:lnSpc>
                        <a:spcAft>
                          <a:spcPts val="0"/>
                        </a:spcAft>
                      </a:pPr>
                      <a:r>
                        <a:rPr lang="ro-RO" sz="1000">
                          <a:effectLst/>
                        </a:rPr>
                        <a:t> </a:t>
                      </a:r>
                      <a:endParaRPr lang="ro-RO" sz="1100">
                        <a:effectLst/>
                        <a:latin typeface="Calibri"/>
                        <a:ea typeface="Calibri"/>
                        <a:cs typeface="Times New Roman"/>
                      </a:endParaRPr>
                    </a:p>
                  </a:txBody>
                  <a:tcPr marL="0" marR="0" marT="0" marB="0"/>
                </a:tc>
              </a:tr>
              <a:tr h="276591">
                <a:tc>
                  <a:txBody>
                    <a:bodyPr/>
                    <a:lstStyle/>
                    <a:p>
                      <a:pPr marR="59690" algn="r">
                        <a:lnSpc>
                          <a:spcPts val="1325"/>
                        </a:lnSpc>
                        <a:spcAft>
                          <a:spcPts val="0"/>
                        </a:spcAft>
                      </a:pPr>
                      <a:r>
                        <a:rPr lang="ro-RO" sz="1100" spc="-20">
                          <a:effectLst/>
                        </a:rPr>
                        <a:t>70,0</a:t>
                      </a:r>
                      <a:endParaRPr lang="ro-RO" sz="1100">
                        <a:effectLst/>
                        <a:latin typeface="Calibri"/>
                        <a:ea typeface="Calibri"/>
                        <a:cs typeface="Times New Roman"/>
                      </a:endParaRPr>
                    </a:p>
                  </a:txBody>
                  <a:tcPr marL="0" marR="0" marT="0" marB="0"/>
                </a:tc>
                <a:tc>
                  <a:txBody>
                    <a:bodyPr/>
                    <a:lstStyle/>
                    <a:p>
                      <a:pPr marR="59690" algn="r">
                        <a:lnSpc>
                          <a:spcPts val="1325"/>
                        </a:lnSpc>
                        <a:spcAft>
                          <a:spcPts val="0"/>
                        </a:spcAft>
                      </a:pPr>
                      <a:r>
                        <a:rPr lang="ro-RO" sz="1100" spc="-20">
                          <a:effectLst/>
                        </a:rPr>
                        <a:t>70,5</a:t>
                      </a:r>
                      <a:endParaRPr lang="ro-RO" sz="1100">
                        <a:effectLst/>
                        <a:latin typeface="Calibri"/>
                        <a:ea typeface="Calibri"/>
                        <a:cs typeface="Times New Roman"/>
                      </a:endParaRPr>
                    </a:p>
                  </a:txBody>
                  <a:tcPr marL="0" marR="0" marT="0" marB="0"/>
                </a:tc>
                <a:tc>
                  <a:txBody>
                    <a:bodyPr/>
                    <a:lstStyle/>
                    <a:p>
                      <a:pPr marR="60325" algn="r">
                        <a:lnSpc>
                          <a:spcPts val="1325"/>
                        </a:lnSpc>
                        <a:spcAft>
                          <a:spcPts val="0"/>
                        </a:spcAft>
                      </a:pPr>
                      <a:r>
                        <a:rPr lang="ro-RO" sz="1100" spc="-20">
                          <a:effectLst/>
                        </a:rPr>
                        <a:t>66,6</a:t>
                      </a:r>
                      <a:endParaRPr lang="ro-RO" sz="1100">
                        <a:effectLst/>
                        <a:latin typeface="Calibri"/>
                        <a:ea typeface="Calibri"/>
                        <a:cs typeface="Times New Roman"/>
                      </a:endParaRPr>
                    </a:p>
                  </a:txBody>
                  <a:tcPr marL="0" marR="0" marT="0" marB="0"/>
                </a:tc>
                <a:tc>
                  <a:txBody>
                    <a:bodyPr/>
                    <a:lstStyle/>
                    <a:p>
                      <a:pPr marR="58420" algn="r">
                        <a:lnSpc>
                          <a:spcPts val="1325"/>
                        </a:lnSpc>
                        <a:spcAft>
                          <a:spcPts val="0"/>
                        </a:spcAft>
                      </a:pPr>
                      <a:r>
                        <a:rPr lang="ro-RO" sz="1100" spc="-20">
                          <a:effectLst/>
                        </a:rPr>
                        <a:t>70,4</a:t>
                      </a:r>
                      <a:endParaRPr lang="ro-RO" sz="1100">
                        <a:effectLst/>
                        <a:latin typeface="Calibri"/>
                        <a:ea typeface="Calibri"/>
                        <a:cs typeface="Times New Roman"/>
                      </a:endParaRPr>
                    </a:p>
                  </a:txBody>
                  <a:tcPr marL="0" marR="0" marT="0" marB="0"/>
                </a:tc>
                <a:tc>
                  <a:txBody>
                    <a:bodyPr/>
                    <a:lstStyle/>
                    <a:p>
                      <a:pPr marR="59055" algn="r">
                        <a:lnSpc>
                          <a:spcPts val="1325"/>
                        </a:lnSpc>
                        <a:spcAft>
                          <a:spcPts val="0"/>
                        </a:spcAft>
                      </a:pPr>
                      <a:r>
                        <a:rPr lang="ro-RO" sz="1100" spc="-25">
                          <a:effectLst/>
                        </a:rPr>
                        <a:t>0,4</a:t>
                      </a:r>
                      <a:endParaRPr lang="ro-RO" sz="1100">
                        <a:effectLst/>
                        <a:latin typeface="Calibri"/>
                        <a:ea typeface="Calibri"/>
                        <a:cs typeface="Times New Roman"/>
                      </a:endParaRPr>
                    </a:p>
                  </a:txBody>
                  <a:tcPr marL="0" marR="0" marT="0" marB="0"/>
                </a:tc>
                <a:tc>
                  <a:txBody>
                    <a:bodyPr/>
                    <a:lstStyle/>
                    <a:p>
                      <a:pPr marR="59690" algn="l">
                        <a:lnSpc>
                          <a:spcPts val="1325"/>
                        </a:lnSpc>
                        <a:spcAft>
                          <a:spcPts val="0"/>
                        </a:spcAft>
                      </a:pPr>
                      <a:r>
                        <a:rPr lang="ro-RO" sz="1000">
                          <a:effectLst/>
                        </a:rPr>
                        <a:t> </a:t>
                      </a:r>
                      <a:endParaRPr lang="ro-RO" sz="1100">
                        <a:effectLst/>
                        <a:latin typeface="Calibri"/>
                        <a:ea typeface="Calibri"/>
                        <a:cs typeface="Times New Roman"/>
                      </a:endParaRPr>
                    </a:p>
                  </a:txBody>
                  <a:tcPr marL="0" marR="0" marT="0" marB="0"/>
                </a:tc>
              </a:tr>
              <a:tr h="276591">
                <a:tc>
                  <a:txBody>
                    <a:bodyPr/>
                    <a:lstStyle/>
                    <a:p>
                      <a:pPr marR="59690" algn="r">
                        <a:lnSpc>
                          <a:spcPts val="1325"/>
                        </a:lnSpc>
                        <a:spcAft>
                          <a:spcPts val="0"/>
                        </a:spcAft>
                      </a:pPr>
                      <a:r>
                        <a:rPr lang="ro-RO" sz="1100" spc="-20">
                          <a:effectLst/>
                        </a:rPr>
                        <a:t>75,0</a:t>
                      </a:r>
                      <a:endParaRPr lang="ro-RO" sz="1100">
                        <a:effectLst/>
                        <a:latin typeface="Calibri"/>
                        <a:ea typeface="Calibri"/>
                        <a:cs typeface="Times New Roman"/>
                      </a:endParaRPr>
                    </a:p>
                  </a:txBody>
                  <a:tcPr marL="0" marR="0" marT="0" marB="0"/>
                </a:tc>
                <a:tc>
                  <a:txBody>
                    <a:bodyPr/>
                    <a:lstStyle/>
                    <a:p>
                      <a:pPr marR="59690" algn="r">
                        <a:lnSpc>
                          <a:spcPts val="1325"/>
                        </a:lnSpc>
                        <a:spcAft>
                          <a:spcPts val="0"/>
                        </a:spcAft>
                      </a:pPr>
                      <a:r>
                        <a:rPr lang="ro-RO" sz="1100" spc="-20">
                          <a:effectLst/>
                        </a:rPr>
                        <a:t>75,0</a:t>
                      </a:r>
                      <a:endParaRPr lang="ro-RO" sz="1100">
                        <a:effectLst/>
                        <a:latin typeface="Calibri"/>
                        <a:ea typeface="Calibri"/>
                        <a:cs typeface="Times New Roman"/>
                      </a:endParaRPr>
                    </a:p>
                  </a:txBody>
                  <a:tcPr marL="0" marR="0" marT="0" marB="0"/>
                </a:tc>
                <a:tc>
                  <a:txBody>
                    <a:bodyPr/>
                    <a:lstStyle/>
                    <a:p>
                      <a:pPr marR="60325" algn="r">
                        <a:lnSpc>
                          <a:spcPts val="1325"/>
                        </a:lnSpc>
                        <a:spcAft>
                          <a:spcPts val="0"/>
                        </a:spcAft>
                      </a:pPr>
                      <a:r>
                        <a:rPr lang="ro-RO" sz="1100" spc="-20">
                          <a:effectLst/>
                        </a:rPr>
                        <a:t>75,0</a:t>
                      </a:r>
                      <a:endParaRPr lang="ro-RO" sz="1100">
                        <a:effectLst/>
                        <a:latin typeface="Calibri"/>
                        <a:ea typeface="Calibri"/>
                        <a:cs typeface="Times New Roman"/>
                      </a:endParaRPr>
                    </a:p>
                  </a:txBody>
                  <a:tcPr marL="0" marR="0" marT="0" marB="0"/>
                </a:tc>
                <a:tc>
                  <a:txBody>
                    <a:bodyPr/>
                    <a:lstStyle/>
                    <a:p>
                      <a:pPr marR="58420" algn="r">
                        <a:lnSpc>
                          <a:spcPts val="1325"/>
                        </a:lnSpc>
                        <a:spcAft>
                          <a:spcPts val="0"/>
                        </a:spcAft>
                      </a:pPr>
                      <a:r>
                        <a:rPr lang="ro-RO" sz="1100" spc="-20">
                          <a:effectLst/>
                        </a:rPr>
                        <a:t>75,0</a:t>
                      </a:r>
                      <a:endParaRPr lang="ro-RO" sz="1100">
                        <a:effectLst/>
                        <a:latin typeface="Calibri"/>
                        <a:ea typeface="Calibri"/>
                        <a:cs typeface="Times New Roman"/>
                      </a:endParaRPr>
                    </a:p>
                  </a:txBody>
                  <a:tcPr marL="0" marR="0" marT="0" marB="0"/>
                </a:tc>
                <a:tc>
                  <a:txBody>
                    <a:bodyPr/>
                    <a:lstStyle/>
                    <a:p>
                      <a:pPr marR="59055" algn="r">
                        <a:lnSpc>
                          <a:spcPts val="1325"/>
                        </a:lnSpc>
                        <a:spcAft>
                          <a:spcPts val="0"/>
                        </a:spcAft>
                      </a:pPr>
                      <a:r>
                        <a:rPr lang="ro-RO" sz="1100" spc="-25">
                          <a:effectLst/>
                        </a:rPr>
                        <a:t>0,0</a:t>
                      </a:r>
                      <a:endParaRPr lang="ro-RO" sz="1100">
                        <a:effectLst/>
                        <a:latin typeface="Calibri"/>
                        <a:ea typeface="Calibri"/>
                        <a:cs typeface="Times New Roman"/>
                      </a:endParaRPr>
                    </a:p>
                  </a:txBody>
                  <a:tcPr marL="0" marR="0" marT="0" marB="0"/>
                </a:tc>
                <a:tc>
                  <a:txBody>
                    <a:bodyPr/>
                    <a:lstStyle/>
                    <a:p>
                      <a:pPr marR="59690" algn="l">
                        <a:lnSpc>
                          <a:spcPts val="1325"/>
                        </a:lnSpc>
                        <a:spcAft>
                          <a:spcPts val="0"/>
                        </a:spcAft>
                      </a:pPr>
                      <a:r>
                        <a:rPr lang="ro-RO" sz="1000">
                          <a:effectLst/>
                        </a:rPr>
                        <a:t> </a:t>
                      </a:r>
                      <a:endParaRPr lang="ro-RO" sz="1100">
                        <a:effectLst/>
                        <a:latin typeface="Calibri"/>
                        <a:ea typeface="Calibri"/>
                        <a:cs typeface="Times New Roman"/>
                      </a:endParaRPr>
                    </a:p>
                  </a:txBody>
                  <a:tcPr marL="0" marR="0" marT="0" marB="0"/>
                </a:tc>
              </a:tr>
              <a:tr h="279482">
                <a:tc>
                  <a:txBody>
                    <a:bodyPr/>
                    <a:lstStyle/>
                    <a:p>
                      <a:pPr marR="59690" algn="r">
                        <a:lnSpc>
                          <a:spcPts val="1340"/>
                        </a:lnSpc>
                        <a:spcAft>
                          <a:spcPts val="0"/>
                        </a:spcAft>
                      </a:pPr>
                      <a:r>
                        <a:rPr lang="ro-RO" sz="1100" spc="-20">
                          <a:effectLst/>
                        </a:rPr>
                        <a:t>80,0</a:t>
                      </a:r>
                      <a:endParaRPr lang="ro-RO" sz="1100">
                        <a:effectLst/>
                        <a:latin typeface="Calibri"/>
                        <a:ea typeface="Calibri"/>
                        <a:cs typeface="Times New Roman"/>
                      </a:endParaRPr>
                    </a:p>
                  </a:txBody>
                  <a:tcPr marL="0" marR="0" marT="0" marB="0"/>
                </a:tc>
                <a:tc>
                  <a:txBody>
                    <a:bodyPr/>
                    <a:lstStyle/>
                    <a:p>
                      <a:pPr marR="59690" algn="r">
                        <a:lnSpc>
                          <a:spcPts val="1340"/>
                        </a:lnSpc>
                        <a:spcAft>
                          <a:spcPts val="0"/>
                        </a:spcAft>
                      </a:pPr>
                      <a:r>
                        <a:rPr lang="ro-RO" sz="1100" spc="-20">
                          <a:effectLst/>
                        </a:rPr>
                        <a:t>81,8</a:t>
                      </a:r>
                      <a:endParaRPr lang="ro-RO" sz="1100">
                        <a:effectLst/>
                        <a:latin typeface="Calibri"/>
                        <a:ea typeface="Calibri"/>
                        <a:cs typeface="Times New Roman"/>
                      </a:endParaRPr>
                    </a:p>
                  </a:txBody>
                  <a:tcPr marL="0" marR="0" marT="0" marB="0"/>
                </a:tc>
                <a:tc>
                  <a:txBody>
                    <a:bodyPr/>
                    <a:lstStyle/>
                    <a:p>
                      <a:pPr marR="60325" algn="r">
                        <a:lnSpc>
                          <a:spcPts val="1340"/>
                        </a:lnSpc>
                        <a:spcAft>
                          <a:spcPts val="0"/>
                        </a:spcAft>
                      </a:pPr>
                      <a:r>
                        <a:rPr lang="ro-RO" sz="1100" spc="-20">
                          <a:effectLst/>
                        </a:rPr>
                        <a:t>87,5</a:t>
                      </a:r>
                      <a:endParaRPr lang="ro-RO" sz="1100">
                        <a:effectLst/>
                        <a:latin typeface="Calibri"/>
                        <a:ea typeface="Calibri"/>
                        <a:cs typeface="Times New Roman"/>
                      </a:endParaRPr>
                    </a:p>
                  </a:txBody>
                  <a:tcPr marL="0" marR="0" marT="0" marB="0"/>
                </a:tc>
                <a:tc>
                  <a:txBody>
                    <a:bodyPr/>
                    <a:lstStyle/>
                    <a:p>
                      <a:pPr marR="58420" algn="r">
                        <a:lnSpc>
                          <a:spcPts val="1340"/>
                        </a:lnSpc>
                        <a:spcAft>
                          <a:spcPts val="0"/>
                        </a:spcAft>
                      </a:pPr>
                      <a:r>
                        <a:rPr lang="ro-RO" sz="1100" spc="-20">
                          <a:effectLst/>
                        </a:rPr>
                        <a:t>82,1</a:t>
                      </a:r>
                      <a:endParaRPr lang="ro-RO" sz="1100">
                        <a:effectLst/>
                        <a:latin typeface="Calibri"/>
                        <a:ea typeface="Calibri"/>
                        <a:cs typeface="Times New Roman"/>
                      </a:endParaRPr>
                    </a:p>
                  </a:txBody>
                  <a:tcPr marL="0" marR="0" marT="0" marB="0"/>
                </a:tc>
                <a:tc>
                  <a:txBody>
                    <a:bodyPr/>
                    <a:lstStyle/>
                    <a:p>
                      <a:pPr marR="59055" algn="r">
                        <a:lnSpc>
                          <a:spcPts val="1340"/>
                        </a:lnSpc>
                        <a:spcAft>
                          <a:spcPts val="0"/>
                        </a:spcAft>
                      </a:pPr>
                      <a:r>
                        <a:rPr lang="ro-RO" sz="1100" spc="-25">
                          <a:effectLst/>
                        </a:rPr>
                        <a:t>2,1</a:t>
                      </a:r>
                      <a:endParaRPr lang="ro-RO" sz="1100">
                        <a:effectLst/>
                        <a:latin typeface="Calibri"/>
                        <a:ea typeface="Calibri"/>
                        <a:cs typeface="Times New Roman"/>
                      </a:endParaRPr>
                    </a:p>
                  </a:txBody>
                  <a:tcPr marL="0" marR="0" marT="0" marB="0"/>
                </a:tc>
                <a:tc>
                  <a:txBody>
                    <a:bodyPr/>
                    <a:lstStyle/>
                    <a:p>
                      <a:pPr marR="59690" algn="l">
                        <a:lnSpc>
                          <a:spcPts val="1325"/>
                        </a:lnSpc>
                        <a:spcAft>
                          <a:spcPts val="0"/>
                        </a:spcAft>
                      </a:pPr>
                      <a:r>
                        <a:rPr lang="ro-RO" sz="1000">
                          <a:effectLst/>
                        </a:rPr>
                        <a:t> </a:t>
                      </a:r>
                      <a:endParaRPr lang="ro-RO" sz="1100">
                        <a:effectLst/>
                        <a:latin typeface="Calibri"/>
                        <a:ea typeface="Calibri"/>
                        <a:cs typeface="Times New Roman"/>
                      </a:endParaRPr>
                    </a:p>
                  </a:txBody>
                  <a:tcPr marL="0" marR="0" marT="0" marB="0"/>
                </a:tc>
              </a:tr>
              <a:tr h="276591">
                <a:tc>
                  <a:txBody>
                    <a:bodyPr/>
                    <a:lstStyle/>
                    <a:p>
                      <a:pPr marR="59690" algn="r">
                        <a:lnSpc>
                          <a:spcPts val="1325"/>
                        </a:lnSpc>
                        <a:spcAft>
                          <a:spcPts val="0"/>
                        </a:spcAft>
                      </a:pPr>
                      <a:r>
                        <a:rPr lang="ro-RO" sz="1100" spc="-20">
                          <a:effectLst/>
                        </a:rPr>
                        <a:t>85,0</a:t>
                      </a:r>
                      <a:endParaRPr lang="ro-RO" sz="1100">
                        <a:effectLst/>
                        <a:latin typeface="Calibri"/>
                        <a:ea typeface="Calibri"/>
                        <a:cs typeface="Times New Roman"/>
                      </a:endParaRPr>
                    </a:p>
                  </a:txBody>
                  <a:tcPr marL="0" marR="0" marT="0" marB="0"/>
                </a:tc>
                <a:tc>
                  <a:txBody>
                    <a:bodyPr/>
                    <a:lstStyle/>
                    <a:p>
                      <a:pPr marR="59690" algn="r">
                        <a:lnSpc>
                          <a:spcPts val="1325"/>
                        </a:lnSpc>
                        <a:spcAft>
                          <a:spcPts val="0"/>
                        </a:spcAft>
                      </a:pPr>
                      <a:r>
                        <a:rPr lang="ro-RO" sz="1100" spc="-20">
                          <a:effectLst/>
                        </a:rPr>
                        <a:t>86,3</a:t>
                      </a:r>
                      <a:endParaRPr lang="ro-RO" sz="1100">
                        <a:effectLst/>
                        <a:latin typeface="Calibri"/>
                        <a:ea typeface="Calibri"/>
                        <a:cs typeface="Times New Roman"/>
                      </a:endParaRPr>
                    </a:p>
                  </a:txBody>
                  <a:tcPr marL="0" marR="0" marT="0" marB="0"/>
                </a:tc>
                <a:tc>
                  <a:txBody>
                    <a:bodyPr/>
                    <a:lstStyle/>
                    <a:p>
                      <a:pPr marR="60325" algn="r">
                        <a:lnSpc>
                          <a:spcPts val="1325"/>
                        </a:lnSpc>
                        <a:spcAft>
                          <a:spcPts val="0"/>
                        </a:spcAft>
                      </a:pPr>
                      <a:r>
                        <a:rPr lang="ro-RO" sz="1100" spc="-20">
                          <a:effectLst/>
                        </a:rPr>
                        <a:t>87,5</a:t>
                      </a:r>
                      <a:endParaRPr lang="ro-RO" sz="1100">
                        <a:effectLst/>
                        <a:latin typeface="Calibri"/>
                        <a:ea typeface="Calibri"/>
                        <a:cs typeface="Times New Roman"/>
                      </a:endParaRPr>
                    </a:p>
                  </a:txBody>
                  <a:tcPr marL="0" marR="0" marT="0" marB="0"/>
                </a:tc>
                <a:tc>
                  <a:txBody>
                    <a:bodyPr/>
                    <a:lstStyle/>
                    <a:p>
                      <a:pPr marR="58420" algn="r">
                        <a:lnSpc>
                          <a:spcPts val="1325"/>
                        </a:lnSpc>
                        <a:spcAft>
                          <a:spcPts val="0"/>
                        </a:spcAft>
                      </a:pPr>
                      <a:r>
                        <a:rPr lang="ro-RO" sz="1100" spc="-20">
                          <a:effectLst/>
                        </a:rPr>
                        <a:t>86,4</a:t>
                      </a:r>
                      <a:endParaRPr lang="ro-RO" sz="1100">
                        <a:effectLst/>
                        <a:latin typeface="Calibri"/>
                        <a:ea typeface="Calibri"/>
                        <a:cs typeface="Times New Roman"/>
                      </a:endParaRPr>
                    </a:p>
                  </a:txBody>
                  <a:tcPr marL="0" marR="0" marT="0" marB="0"/>
                </a:tc>
                <a:tc>
                  <a:txBody>
                    <a:bodyPr/>
                    <a:lstStyle/>
                    <a:p>
                      <a:pPr marR="59055" algn="r">
                        <a:lnSpc>
                          <a:spcPts val="1325"/>
                        </a:lnSpc>
                        <a:spcAft>
                          <a:spcPts val="0"/>
                        </a:spcAft>
                      </a:pPr>
                      <a:r>
                        <a:rPr lang="ro-RO" sz="1100" spc="-25">
                          <a:effectLst/>
                        </a:rPr>
                        <a:t>1,4</a:t>
                      </a:r>
                      <a:endParaRPr lang="ro-RO" sz="1100">
                        <a:effectLst/>
                        <a:latin typeface="Calibri"/>
                        <a:ea typeface="Calibri"/>
                        <a:cs typeface="Times New Roman"/>
                      </a:endParaRPr>
                    </a:p>
                  </a:txBody>
                  <a:tcPr marL="0" marR="0" marT="0" marB="0"/>
                </a:tc>
                <a:tc>
                  <a:txBody>
                    <a:bodyPr/>
                    <a:lstStyle/>
                    <a:p>
                      <a:pPr marR="59690" algn="l">
                        <a:lnSpc>
                          <a:spcPts val="1325"/>
                        </a:lnSpc>
                        <a:spcAft>
                          <a:spcPts val="0"/>
                        </a:spcAft>
                      </a:pPr>
                      <a:r>
                        <a:rPr lang="ro-RO" sz="1000">
                          <a:effectLst/>
                        </a:rPr>
                        <a:t> </a:t>
                      </a:r>
                      <a:endParaRPr lang="ro-RO" sz="1100">
                        <a:effectLst/>
                        <a:latin typeface="Calibri"/>
                        <a:ea typeface="Calibri"/>
                        <a:cs typeface="Times New Roman"/>
                      </a:endParaRPr>
                    </a:p>
                  </a:txBody>
                  <a:tcPr marL="0" marR="0" marT="0" marB="0"/>
                </a:tc>
              </a:tr>
              <a:tr h="276591">
                <a:tc>
                  <a:txBody>
                    <a:bodyPr/>
                    <a:lstStyle/>
                    <a:p>
                      <a:pPr marR="59690" algn="r">
                        <a:lnSpc>
                          <a:spcPts val="1325"/>
                        </a:lnSpc>
                        <a:spcAft>
                          <a:spcPts val="0"/>
                        </a:spcAft>
                      </a:pPr>
                      <a:r>
                        <a:rPr lang="ro-RO" sz="1100" spc="-20">
                          <a:effectLst/>
                        </a:rPr>
                        <a:t>90,0</a:t>
                      </a:r>
                      <a:endParaRPr lang="ro-RO" sz="1100">
                        <a:effectLst/>
                        <a:latin typeface="Calibri"/>
                        <a:ea typeface="Calibri"/>
                        <a:cs typeface="Times New Roman"/>
                      </a:endParaRPr>
                    </a:p>
                  </a:txBody>
                  <a:tcPr marL="0" marR="0" marT="0" marB="0"/>
                </a:tc>
                <a:tc>
                  <a:txBody>
                    <a:bodyPr/>
                    <a:lstStyle/>
                    <a:p>
                      <a:pPr marR="59690" algn="r">
                        <a:lnSpc>
                          <a:spcPts val="1325"/>
                        </a:lnSpc>
                        <a:spcAft>
                          <a:spcPts val="0"/>
                        </a:spcAft>
                      </a:pPr>
                      <a:r>
                        <a:rPr lang="ro-RO" sz="1100" spc="-20">
                          <a:effectLst/>
                        </a:rPr>
                        <a:t>88,6</a:t>
                      </a:r>
                      <a:endParaRPr lang="ro-RO" sz="1100">
                        <a:effectLst/>
                        <a:latin typeface="Calibri"/>
                        <a:ea typeface="Calibri"/>
                        <a:cs typeface="Times New Roman"/>
                      </a:endParaRPr>
                    </a:p>
                  </a:txBody>
                  <a:tcPr marL="0" marR="0" marT="0" marB="0"/>
                </a:tc>
                <a:tc>
                  <a:txBody>
                    <a:bodyPr/>
                    <a:lstStyle/>
                    <a:p>
                      <a:pPr marR="60325" algn="r">
                        <a:lnSpc>
                          <a:spcPts val="1325"/>
                        </a:lnSpc>
                        <a:spcAft>
                          <a:spcPts val="0"/>
                        </a:spcAft>
                      </a:pPr>
                      <a:r>
                        <a:rPr lang="ro-RO" sz="1100" spc="-20">
                          <a:effectLst/>
                        </a:rPr>
                        <a:t>87,5</a:t>
                      </a:r>
                      <a:endParaRPr lang="ro-RO" sz="1100">
                        <a:effectLst/>
                        <a:latin typeface="Calibri"/>
                        <a:ea typeface="Calibri"/>
                        <a:cs typeface="Times New Roman"/>
                      </a:endParaRPr>
                    </a:p>
                  </a:txBody>
                  <a:tcPr marL="0" marR="0" marT="0" marB="0"/>
                </a:tc>
                <a:tc>
                  <a:txBody>
                    <a:bodyPr/>
                    <a:lstStyle/>
                    <a:p>
                      <a:pPr marR="58420" algn="r">
                        <a:lnSpc>
                          <a:spcPts val="1325"/>
                        </a:lnSpc>
                        <a:spcAft>
                          <a:spcPts val="0"/>
                        </a:spcAft>
                      </a:pPr>
                      <a:r>
                        <a:rPr lang="ro-RO" sz="1100" spc="-20">
                          <a:effectLst/>
                        </a:rPr>
                        <a:t>88,5</a:t>
                      </a:r>
                      <a:endParaRPr lang="ro-RO" sz="1100">
                        <a:effectLst/>
                        <a:latin typeface="Calibri"/>
                        <a:ea typeface="Calibri"/>
                        <a:cs typeface="Times New Roman"/>
                      </a:endParaRPr>
                    </a:p>
                  </a:txBody>
                  <a:tcPr marL="0" marR="0" marT="0" marB="0"/>
                </a:tc>
                <a:tc>
                  <a:txBody>
                    <a:bodyPr/>
                    <a:lstStyle/>
                    <a:p>
                      <a:pPr marR="59055" algn="r">
                        <a:lnSpc>
                          <a:spcPts val="1325"/>
                        </a:lnSpc>
                        <a:spcAft>
                          <a:spcPts val="0"/>
                        </a:spcAft>
                      </a:pPr>
                      <a:r>
                        <a:rPr lang="ro-RO" sz="1100" spc="-10">
                          <a:effectLst/>
                        </a:rPr>
                        <a:t>-</a:t>
                      </a:r>
                      <a:r>
                        <a:rPr lang="ro-RO" sz="1100" spc="-25">
                          <a:effectLst/>
                        </a:rPr>
                        <a:t>1,5</a:t>
                      </a:r>
                      <a:endParaRPr lang="ro-RO" sz="1100">
                        <a:effectLst/>
                        <a:latin typeface="Calibri"/>
                        <a:ea typeface="Calibri"/>
                        <a:cs typeface="Times New Roman"/>
                      </a:endParaRPr>
                    </a:p>
                  </a:txBody>
                  <a:tcPr marL="0" marR="0" marT="0" marB="0"/>
                </a:tc>
                <a:tc>
                  <a:txBody>
                    <a:bodyPr/>
                    <a:lstStyle/>
                    <a:p>
                      <a:pPr marR="59690" algn="l">
                        <a:lnSpc>
                          <a:spcPts val="1325"/>
                        </a:lnSpc>
                        <a:spcAft>
                          <a:spcPts val="0"/>
                        </a:spcAft>
                      </a:pPr>
                      <a:r>
                        <a:rPr lang="ro-RO" sz="1000">
                          <a:effectLst/>
                        </a:rPr>
                        <a:t> </a:t>
                      </a:r>
                      <a:endParaRPr lang="ro-RO" sz="1100">
                        <a:effectLst/>
                        <a:latin typeface="Calibri"/>
                        <a:ea typeface="Calibri"/>
                        <a:cs typeface="Times New Roman"/>
                      </a:endParaRPr>
                    </a:p>
                  </a:txBody>
                  <a:tcPr marL="0" marR="0" marT="0" marB="0"/>
                </a:tc>
              </a:tr>
              <a:tr h="276591">
                <a:tc>
                  <a:txBody>
                    <a:bodyPr/>
                    <a:lstStyle/>
                    <a:p>
                      <a:pPr marR="59690" algn="r">
                        <a:lnSpc>
                          <a:spcPts val="1325"/>
                        </a:lnSpc>
                        <a:spcAft>
                          <a:spcPts val="0"/>
                        </a:spcAft>
                      </a:pPr>
                      <a:r>
                        <a:rPr lang="ro-RO" sz="1100" spc="-20">
                          <a:effectLst/>
                        </a:rPr>
                        <a:t>95,0</a:t>
                      </a:r>
                      <a:endParaRPr lang="ro-RO" sz="1100">
                        <a:effectLst/>
                        <a:latin typeface="Calibri"/>
                        <a:ea typeface="Calibri"/>
                        <a:cs typeface="Times New Roman"/>
                      </a:endParaRPr>
                    </a:p>
                  </a:txBody>
                  <a:tcPr marL="0" marR="0" marT="0" marB="0"/>
                </a:tc>
                <a:tc>
                  <a:txBody>
                    <a:bodyPr/>
                    <a:lstStyle/>
                    <a:p>
                      <a:pPr marR="59690" algn="r">
                        <a:lnSpc>
                          <a:spcPts val="1325"/>
                        </a:lnSpc>
                        <a:spcAft>
                          <a:spcPts val="0"/>
                        </a:spcAft>
                      </a:pPr>
                      <a:r>
                        <a:rPr lang="ro-RO" sz="1100" spc="-20">
                          <a:effectLst/>
                        </a:rPr>
                        <a:t>95,4</a:t>
                      </a:r>
                      <a:endParaRPr lang="ro-RO" sz="1100">
                        <a:effectLst/>
                        <a:latin typeface="Calibri"/>
                        <a:ea typeface="Calibri"/>
                        <a:cs typeface="Times New Roman"/>
                      </a:endParaRPr>
                    </a:p>
                  </a:txBody>
                  <a:tcPr marL="0" marR="0" marT="0" marB="0"/>
                </a:tc>
                <a:tc>
                  <a:txBody>
                    <a:bodyPr/>
                    <a:lstStyle/>
                    <a:p>
                      <a:pPr marR="60325" algn="r">
                        <a:lnSpc>
                          <a:spcPts val="1325"/>
                        </a:lnSpc>
                        <a:spcAft>
                          <a:spcPts val="0"/>
                        </a:spcAft>
                      </a:pPr>
                      <a:r>
                        <a:rPr lang="ro-RO" sz="1100" spc="-10" dirty="0">
                          <a:effectLst/>
                        </a:rPr>
                        <a:t>100,0</a:t>
                      </a:r>
                      <a:endParaRPr lang="ro-RO" sz="1100" dirty="0">
                        <a:effectLst/>
                        <a:latin typeface="Calibri"/>
                        <a:ea typeface="Calibri"/>
                        <a:cs typeface="Times New Roman"/>
                      </a:endParaRPr>
                    </a:p>
                  </a:txBody>
                  <a:tcPr marL="0" marR="0" marT="0" marB="0"/>
                </a:tc>
                <a:tc>
                  <a:txBody>
                    <a:bodyPr/>
                    <a:lstStyle/>
                    <a:p>
                      <a:pPr marR="58420" algn="r">
                        <a:lnSpc>
                          <a:spcPts val="1325"/>
                        </a:lnSpc>
                        <a:spcAft>
                          <a:spcPts val="0"/>
                        </a:spcAft>
                      </a:pPr>
                      <a:r>
                        <a:rPr lang="ro-RO" sz="1100" spc="-20">
                          <a:effectLst/>
                        </a:rPr>
                        <a:t>96,3</a:t>
                      </a:r>
                      <a:endParaRPr lang="ro-RO" sz="1100">
                        <a:effectLst/>
                        <a:latin typeface="Calibri"/>
                        <a:ea typeface="Calibri"/>
                        <a:cs typeface="Times New Roman"/>
                      </a:endParaRPr>
                    </a:p>
                  </a:txBody>
                  <a:tcPr marL="0" marR="0" marT="0" marB="0"/>
                </a:tc>
                <a:tc>
                  <a:txBody>
                    <a:bodyPr/>
                    <a:lstStyle/>
                    <a:p>
                      <a:pPr marR="59055" algn="r">
                        <a:lnSpc>
                          <a:spcPts val="1325"/>
                        </a:lnSpc>
                        <a:spcAft>
                          <a:spcPts val="0"/>
                        </a:spcAft>
                      </a:pPr>
                      <a:r>
                        <a:rPr lang="ro-RO" sz="1100" spc="-25">
                          <a:effectLst/>
                        </a:rPr>
                        <a:t>1,3</a:t>
                      </a:r>
                      <a:endParaRPr lang="ro-RO" sz="1100">
                        <a:effectLst/>
                        <a:latin typeface="Calibri"/>
                        <a:ea typeface="Calibri"/>
                        <a:cs typeface="Times New Roman"/>
                      </a:endParaRPr>
                    </a:p>
                  </a:txBody>
                  <a:tcPr marL="0" marR="0" marT="0" marB="0"/>
                </a:tc>
                <a:tc>
                  <a:txBody>
                    <a:bodyPr/>
                    <a:lstStyle/>
                    <a:p>
                      <a:pPr marR="59690" algn="l">
                        <a:lnSpc>
                          <a:spcPts val="1325"/>
                        </a:lnSpc>
                        <a:spcAft>
                          <a:spcPts val="0"/>
                        </a:spcAft>
                      </a:pPr>
                      <a:r>
                        <a:rPr lang="ro-RO" sz="1000">
                          <a:effectLst/>
                        </a:rPr>
                        <a:t> </a:t>
                      </a:r>
                      <a:endParaRPr lang="ro-RO" sz="1100">
                        <a:effectLst/>
                        <a:latin typeface="Calibri"/>
                        <a:ea typeface="Calibri"/>
                        <a:cs typeface="Times New Roman"/>
                      </a:endParaRPr>
                    </a:p>
                  </a:txBody>
                  <a:tcPr marL="0" marR="0" marT="0" marB="0"/>
                </a:tc>
              </a:tr>
              <a:tr h="276591">
                <a:tc>
                  <a:txBody>
                    <a:bodyPr/>
                    <a:lstStyle/>
                    <a:p>
                      <a:pPr marR="59690" algn="r">
                        <a:lnSpc>
                          <a:spcPts val="1325"/>
                        </a:lnSpc>
                        <a:spcAft>
                          <a:spcPts val="0"/>
                        </a:spcAft>
                      </a:pPr>
                      <a:r>
                        <a:rPr lang="ro-RO" sz="1100" spc="-10">
                          <a:effectLst/>
                        </a:rPr>
                        <a:t>100,0</a:t>
                      </a:r>
                      <a:endParaRPr lang="ro-RO" sz="1100">
                        <a:effectLst/>
                        <a:latin typeface="Calibri"/>
                        <a:ea typeface="Calibri"/>
                        <a:cs typeface="Times New Roman"/>
                      </a:endParaRPr>
                    </a:p>
                  </a:txBody>
                  <a:tcPr marL="0" marR="0" marT="0" marB="0"/>
                </a:tc>
                <a:tc>
                  <a:txBody>
                    <a:bodyPr/>
                    <a:lstStyle/>
                    <a:p>
                      <a:pPr marR="59690" algn="r">
                        <a:lnSpc>
                          <a:spcPts val="1325"/>
                        </a:lnSpc>
                        <a:spcAft>
                          <a:spcPts val="0"/>
                        </a:spcAft>
                      </a:pPr>
                      <a:r>
                        <a:rPr lang="ro-RO" sz="1100" spc="-10">
                          <a:effectLst/>
                        </a:rPr>
                        <a:t>100,0</a:t>
                      </a:r>
                      <a:endParaRPr lang="ro-RO" sz="1100">
                        <a:effectLst/>
                        <a:latin typeface="Calibri"/>
                        <a:ea typeface="Calibri"/>
                        <a:cs typeface="Times New Roman"/>
                      </a:endParaRPr>
                    </a:p>
                  </a:txBody>
                  <a:tcPr marL="0" marR="0" marT="0" marB="0"/>
                </a:tc>
                <a:tc>
                  <a:txBody>
                    <a:bodyPr/>
                    <a:lstStyle/>
                    <a:p>
                      <a:pPr marR="60325" algn="r">
                        <a:lnSpc>
                          <a:spcPts val="1325"/>
                        </a:lnSpc>
                        <a:spcAft>
                          <a:spcPts val="0"/>
                        </a:spcAft>
                      </a:pPr>
                      <a:r>
                        <a:rPr lang="ro-RO" sz="1100" spc="-10">
                          <a:effectLst/>
                        </a:rPr>
                        <a:t>100,0</a:t>
                      </a:r>
                      <a:endParaRPr lang="ro-RO" sz="1100">
                        <a:effectLst/>
                        <a:latin typeface="Calibri"/>
                        <a:ea typeface="Calibri"/>
                        <a:cs typeface="Times New Roman"/>
                      </a:endParaRPr>
                    </a:p>
                  </a:txBody>
                  <a:tcPr marL="0" marR="0" marT="0" marB="0"/>
                </a:tc>
                <a:tc>
                  <a:txBody>
                    <a:bodyPr/>
                    <a:lstStyle/>
                    <a:p>
                      <a:pPr marR="58420" algn="r">
                        <a:lnSpc>
                          <a:spcPts val="1325"/>
                        </a:lnSpc>
                        <a:spcAft>
                          <a:spcPts val="0"/>
                        </a:spcAft>
                      </a:pPr>
                      <a:r>
                        <a:rPr lang="ro-RO" sz="1100" spc="-10">
                          <a:effectLst/>
                        </a:rPr>
                        <a:t>100,0</a:t>
                      </a:r>
                      <a:endParaRPr lang="ro-RO" sz="1100">
                        <a:effectLst/>
                        <a:latin typeface="Calibri"/>
                        <a:ea typeface="Calibri"/>
                        <a:cs typeface="Times New Roman"/>
                      </a:endParaRPr>
                    </a:p>
                  </a:txBody>
                  <a:tcPr marL="0" marR="0" marT="0" marB="0"/>
                </a:tc>
                <a:tc>
                  <a:txBody>
                    <a:bodyPr/>
                    <a:lstStyle/>
                    <a:p>
                      <a:pPr marR="59055" algn="r">
                        <a:lnSpc>
                          <a:spcPts val="1325"/>
                        </a:lnSpc>
                        <a:spcAft>
                          <a:spcPts val="0"/>
                        </a:spcAft>
                      </a:pPr>
                      <a:r>
                        <a:rPr lang="ro-RO" sz="1100" spc="-25">
                          <a:effectLst/>
                        </a:rPr>
                        <a:t>0,0</a:t>
                      </a:r>
                      <a:endParaRPr lang="ro-RO" sz="1100">
                        <a:effectLst/>
                        <a:latin typeface="Calibri"/>
                        <a:ea typeface="Calibri"/>
                        <a:cs typeface="Times New Roman"/>
                      </a:endParaRPr>
                    </a:p>
                  </a:txBody>
                  <a:tcPr marL="0" marR="0" marT="0" marB="0"/>
                </a:tc>
                <a:tc>
                  <a:txBody>
                    <a:bodyPr/>
                    <a:lstStyle/>
                    <a:p>
                      <a:pPr marR="59690" algn="l">
                        <a:lnSpc>
                          <a:spcPts val="1325"/>
                        </a:lnSpc>
                        <a:spcAft>
                          <a:spcPts val="0"/>
                        </a:spcAft>
                      </a:pPr>
                      <a:r>
                        <a:rPr lang="ro-RO" sz="1000" dirty="0">
                          <a:effectLst/>
                        </a:rPr>
                        <a:t> </a:t>
                      </a:r>
                      <a:endParaRPr lang="ro-RO" sz="1100" dirty="0">
                        <a:effectLst/>
                        <a:latin typeface="Calibri"/>
                        <a:ea typeface="Calibri"/>
                        <a:cs typeface="Times New Roman"/>
                      </a:endParaRPr>
                    </a:p>
                  </a:txBody>
                  <a:tcPr marL="0" marR="0" marT="0" marB="0"/>
                </a:tc>
              </a:tr>
            </a:tbl>
          </a:graphicData>
        </a:graphic>
      </p:graphicFrame>
    </p:spTree>
    <p:extLst>
      <p:ext uri="{BB962C8B-B14F-4D97-AF65-F5344CB8AC3E}">
        <p14:creationId xmlns:p14="http://schemas.microsoft.com/office/powerpoint/2010/main" val="3594162128"/>
      </p:ext>
    </p:extLst>
  </p:cSld>
  <p:clrMapOvr>
    <a:masterClrMapping/>
  </p:clrMapOvr>
  <mc:AlternateContent xmlns:mc="http://schemas.openxmlformats.org/markup-compatibility/2006" xmlns:p14="http://schemas.microsoft.com/office/powerpoint/2010/main">
    <mc:Choice Requires="p14">
      <p:transition spd="slow" p14:dur="1200">
        <p14:flip dir="r"/>
      </p:transition>
    </mc:Choice>
    <mc:Fallback xmlns="">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a:grpSpLocks/>
          </p:cNvGrpSpPr>
          <p:nvPr/>
        </p:nvGrpSpPr>
        <p:grpSpPr>
          <a:xfrm>
            <a:off x="1592256" y="142524"/>
            <a:ext cx="5760720" cy="2649220"/>
            <a:chOff x="3175" y="3175"/>
            <a:chExt cx="5760720" cy="2649220"/>
          </a:xfrm>
        </p:grpSpPr>
        <p:sp>
          <p:nvSpPr>
            <p:cNvPr id="5" name="Graphic 15"/>
            <p:cNvSpPr/>
            <p:nvPr/>
          </p:nvSpPr>
          <p:spPr>
            <a:xfrm>
              <a:off x="491744" y="917194"/>
              <a:ext cx="5131435" cy="1217930"/>
            </a:xfrm>
            <a:custGeom>
              <a:avLst/>
              <a:gdLst/>
              <a:ahLst/>
              <a:cxnLst/>
              <a:rect l="l" t="t" r="r" b="b"/>
              <a:pathLst>
                <a:path w="5131435" h="1217930">
                  <a:moveTo>
                    <a:pt x="0" y="1217676"/>
                  </a:moveTo>
                  <a:lnTo>
                    <a:pt x="5131308" y="1217676"/>
                  </a:lnTo>
                </a:path>
                <a:path w="5131435" h="1217930">
                  <a:moveTo>
                    <a:pt x="0" y="1014984"/>
                  </a:moveTo>
                  <a:lnTo>
                    <a:pt x="5131308" y="1014984"/>
                  </a:lnTo>
                </a:path>
                <a:path w="5131435" h="1217930">
                  <a:moveTo>
                    <a:pt x="0" y="812292"/>
                  </a:moveTo>
                  <a:lnTo>
                    <a:pt x="5131308" y="812292"/>
                  </a:lnTo>
                </a:path>
                <a:path w="5131435" h="1217930">
                  <a:moveTo>
                    <a:pt x="0" y="609600"/>
                  </a:moveTo>
                  <a:lnTo>
                    <a:pt x="5131308" y="609600"/>
                  </a:lnTo>
                </a:path>
                <a:path w="5131435" h="1217930">
                  <a:moveTo>
                    <a:pt x="0" y="406908"/>
                  </a:moveTo>
                  <a:lnTo>
                    <a:pt x="5131308" y="406908"/>
                  </a:lnTo>
                </a:path>
                <a:path w="5131435" h="1217930">
                  <a:moveTo>
                    <a:pt x="0" y="204216"/>
                  </a:moveTo>
                  <a:lnTo>
                    <a:pt x="5131308" y="204216"/>
                  </a:lnTo>
                </a:path>
                <a:path w="5131435" h="1217930">
                  <a:moveTo>
                    <a:pt x="0" y="0"/>
                  </a:moveTo>
                  <a:lnTo>
                    <a:pt x="5131308" y="0"/>
                  </a:lnTo>
                </a:path>
              </a:pathLst>
            </a:custGeom>
            <a:ln w="6096">
              <a:solidFill>
                <a:srgbClr val="888888"/>
              </a:solidFill>
              <a:prstDash val="solid"/>
            </a:ln>
          </p:spPr>
          <p:txBody>
            <a:bodyPr wrap="square" lIns="0" tIns="0" rIns="0" bIns="0" rtlCol="0">
              <a:prstTxWarp prst="textNoShape">
                <a:avLst/>
              </a:prstTxWarp>
              <a:noAutofit/>
            </a:bodyPr>
            <a:lstStyle/>
            <a:p>
              <a:endParaRPr lang="ro-RO"/>
            </a:p>
          </p:txBody>
        </p:sp>
        <p:sp>
          <p:nvSpPr>
            <p:cNvPr id="6" name="Graphic 16"/>
            <p:cNvSpPr/>
            <p:nvPr/>
          </p:nvSpPr>
          <p:spPr>
            <a:xfrm>
              <a:off x="491744" y="2034285"/>
              <a:ext cx="5131435" cy="1270"/>
            </a:xfrm>
            <a:custGeom>
              <a:avLst/>
              <a:gdLst/>
              <a:ahLst/>
              <a:cxnLst/>
              <a:rect l="l" t="t" r="r" b="b"/>
              <a:pathLst>
                <a:path w="5131435">
                  <a:moveTo>
                    <a:pt x="0" y="0"/>
                  </a:moveTo>
                  <a:lnTo>
                    <a:pt x="112776" y="0"/>
                  </a:lnTo>
                </a:path>
                <a:path w="5131435">
                  <a:moveTo>
                    <a:pt x="5018532" y="0"/>
                  </a:moveTo>
                  <a:lnTo>
                    <a:pt x="5131308" y="0"/>
                  </a:lnTo>
                </a:path>
              </a:pathLst>
            </a:custGeom>
            <a:ln w="6096">
              <a:solidFill>
                <a:srgbClr val="888888"/>
              </a:solidFill>
              <a:prstDash val="solid"/>
            </a:ln>
          </p:spPr>
          <p:txBody>
            <a:bodyPr wrap="square" lIns="0" tIns="0" rIns="0" bIns="0" rtlCol="0">
              <a:prstTxWarp prst="textNoShape">
                <a:avLst/>
              </a:prstTxWarp>
              <a:noAutofit/>
            </a:bodyPr>
            <a:lstStyle/>
            <a:p>
              <a:endParaRPr lang="ro-RO"/>
            </a:p>
          </p:txBody>
        </p:sp>
        <p:sp>
          <p:nvSpPr>
            <p:cNvPr id="7" name="Graphic 17"/>
            <p:cNvSpPr/>
            <p:nvPr/>
          </p:nvSpPr>
          <p:spPr>
            <a:xfrm>
              <a:off x="613663" y="1019302"/>
              <a:ext cx="4887595" cy="1015365"/>
            </a:xfrm>
            <a:custGeom>
              <a:avLst/>
              <a:gdLst/>
              <a:ahLst/>
              <a:cxnLst/>
              <a:rect l="l" t="t" r="r" b="b"/>
              <a:pathLst>
                <a:path w="4887595" h="1015365">
                  <a:moveTo>
                    <a:pt x="0" y="1014983"/>
                  </a:moveTo>
                  <a:lnTo>
                    <a:pt x="245364" y="963167"/>
                  </a:lnTo>
                  <a:lnTo>
                    <a:pt x="489203" y="912876"/>
                  </a:lnTo>
                  <a:lnTo>
                    <a:pt x="733043" y="862583"/>
                  </a:lnTo>
                  <a:lnTo>
                    <a:pt x="978408" y="812291"/>
                  </a:lnTo>
                  <a:lnTo>
                    <a:pt x="1222248" y="760476"/>
                  </a:lnTo>
                  <a:lnTo>
                    <a:pt x="1466088" y="710183"/>
                  </a:lnTo>
                  <a:lnTo>
                    <a:pt x="1711452" y="659891"/>
                  </a:lnTo>
                  <a:lnTo>
                    <a:pt x="1955291" y="608076"/>
                  </a:lnTo>
                  <a:lnTo>
                    <a:pt x="2199131" y="557783"/>
                  </a:lnTo>
                  <a:lnTo>
                    <a:pt x="2444495" y="507491"/>
                  </a:lnTo>
                  <a:lnTo>
                    <a:pt x="2688336" y="457200"/>
                  </a:lnTo>
                  <a:lnTo>
                    <a:pt x="2932176" y="405383"/>
                  </a:lnTo>
                  <a:lnTo>
                    <a:pt x="3177540" y="355091"/>
                  </a:lnTo>
                  <a:lnTo>
                    <a:pt x="3421379" y="304800"/>
                  </a:lnTo>
                  <a:lnTo>
                    <a:pt x="3665219" y="252983"/>
                  </a:lnTo>
                  <a:lnTo>
                    <a:pt x="3910583" y="202691"/>
                  </a:lnTo>
                  <a:lnTo>
                    <a:pt x="4154424" y="152400"/>
                  </a:lnTo>
                  <a:lnTo>
                    <a:pt x="4398264" y="102107"/>
                  </a:lnTo>
                  <a:lnTo>
                    <a:pt x="4643628" y="50291"/>
                  </a:lnTo>
                  <a:lnTo>
                    <a:pt x="4887468" y="0"/>
                  </a:lnTo>
                </a:path>
              </a:pathLst>
            </a:custGeom>
            <a:ln w="18288">
              <a:solidFill>
                <a:srgbClr val="5B9BD4"/>
              </a:solidFill>
              <a:prstDash val="solid"/>
            </a:ln>
          </p:spPr>
          <p:txBody>
            <a:bodyPr wrap="square" lIns="0" tIns="0" rIns="0" bIns="0" rtlCol="0">
              <a:prstTxWarp prst="textNoShape">
                <a:avLst/>
              </a:prstTxWarp>
              <a:noAutofit/>
            </a:bodyPr>
            <a:lstStyle/>
            <a:p>
              <a:endParaRPr lang="ro-RO"/>
            </a:p>
          </p:txBody>
        </p:sp>
        <p:sp>
          <p:nvSpPr>
            <p:cNvPr id="8" name="Graphic 18"/>
            <p:cNvSpPr/>
            <p:nvPr/>
          </p:nvSpPr>
          <p:spPr>
            <a:xfrm>
              <a:off x="613663" y="1019302"/>
              <a:ext cx="4887595" cy="1015365"/>
            </a:xfrm>
            <a:custGeom>
              <a:avLst/>
              <a:gdLst/>
              <a:ahLst/>
              <a:cxnLst/>
              <a:rect l="l" t="t" r="r" b="b"/>
              <a:pathLst>
                <a:path w="4887595" h="1015365">
                  <a:moveTo>
                    <a:pt x="0" y="1014983"/>
                  </a:moveTo>
                  <a:lnTo>
                    <a:pt x="245364" y="958596"/>
                  </a:lnTo>
                  <a:lnTo>
                    <a:pt x="489203" y="903731"/>
                  </a:lnTo>
                  <a:lnTo>
                    <a:pt x="733043" y="845820"/>
                  </a:lnTo>
                  <a:lnTo>
                    <a:pt x="978408" y="790955"/>
                  </a:lnTo>
                  <a:lnTo>
                    <a:pt x="1222248" y="760476"/>
                  </a:lnTo>
                  <a:lnTo>
                    <a:pt x="1466088" y="708659"/>
                  </a:lnTo>
                  <a:lnTo>
                    <a:pt x="1711452" y="644651"/>
                  </a:lnTo>
                  <a:lnTo>
                    <a:pt x="1955291" y="601979"/>
                  </a:lnTo>
                  <a:lnTo>
                    <a:pt x="2199131" y="545591"/>
                  </a:lnTo>
                  <a:lnTo>
                    <a:pt x="2444495" y="507491"/>
                  </a:lnTo>
                  <a:lnTo>
                    <a:pt x="2688336" y="438911"/>
                  </a:lnTo>
                  <a:lnTo>
                    <a:pt x="2932176" y="394715"/>
                  </a:lnTo>
                  <a:lnTo>
                    <a:pt x="3177540" y="345948"/>
                  </a:lnTo>
                  <a:lnTo>
                    <a:pt x="3421379" y="300227"/>
                  </a:lnTo>
                  <a:lnTo>
                    <a:pt x="3665219" y="252983"/>
                  </a:lnTo>
                  <a:lnTo>
                    <a:pt x="3910583" y="181355"/>
                  </a:lnTo>
                  <a:lnTo>
                    <a:pt x="4154424" y="137159"/>
                  </a:lnTo>
                  <a:lnTo>
                    <a:pt x="4398264" y="117348"/>
                  </a:lnTo>
                  <a:lnTo>
                    <a:pt x="4643628" y="38100"/>
                  </a:lnTo>
                  <a:lnTo>
                    <a:pt x="4887468" y="0"/>
                  </a:lnTo>
                </a:path>
              </a:pathLst>
            </a:custGeom>
            <a:ln w="18288">
              <a:solidFill>
                <a:srgbClr val="FFC000"/>
              </a:solidFill>
              <a:prstDash val="solid"/>
            </a:ln>
          </p:spPr>
          <p:txBody>
            <a:bodyPr wrap="square" lIns="0" tIns="0" rIns="0" bIns="0" rtlCol="0">
              <a:prstTxWarp prst="textNoShape">
                <a:avLst/>
              </a:prstTxWarp>
              <a:noAutofit/>
            </a:bodyPr>
            <a:lstStyle/>
            <a:p>
              <a:endParaRPr lang="ro-RO"/>
            </a:p>
          </p:txBody>
        </p:sp>
        <p:sp>
          <p:nvSpPr>
            <p:cNvPr id="9" name="Graphic 19"/>
            <p:cNvSpPr/>
            <p:nvPr/>
          </p:nvSpPr>
          <p:spPr>
            <a:xfrm>
              <a:off x="613663" y="2012950"/>
              <a:ext cx="4887595" cy="36830"/>
            </a:xfrm>
            <a:custGeom>
              <a:avLst/>
              <a:gdLst/>
              <a:ahLst/>
              <a:cxnLst/>
              <a:rect l="l" t="t" r="r" b="b"/>
              <a:pathLst>
                <a:path w="4887595" h="36830">
                  <a:moveTo>
                    <a:pt x="0" y="21335"/>
                  </a:moveTo>
                  <a:lnTo>
                    <a:pt x="245364" y="15239"/>
                  </a:lnTo>
                  <a:lnTo>
                    <a:pt x="489203" y="12191"/>
                  </a:lnTo>
                  <a:lnTo>
                    <a:pt x="733043" y="4572"/>
                  </a:lnTo>
                  <a:lnTo>
                    <a:pt x="978408" y="0"/>
                  </a:lnTo>
                  <a:lnTo>
                    <a:pt x="1222248" y="21335"/>
                  </a:lnTo>
                  <a:lnTo>
                    <a:pt x="1466088" y="19811"/>
                  </a:lnTo>
                  <a:lnTo>
                    <a:pt x="1711452" y="6096"/>
                  </a:lnTo>
                  <a:lnTo>
                    <a:pt x="1955291" y="13715"/>
                  </a:lnTo>
                  <a:lnTo>
                    <a:pt x="2199131" y="7619"/>
                  </a:lnTo>
                  <a:lnTo>
                    <a:pt x="2444495" y="21335"/>
                  </a:lnTo>
                  <a:lnTo>
                    <a:pt x="2688336" y="3048"/>
                  </a:lnTo>
                  <a:lnTo>
                    <a:pt x="2932176" y="9143"/>
                  </a:lnTo>
                  <a:lnTo>
                    <a:pt x="3177540" y="12191"/>
                  </a:lnTo>
                  <a:lnTo>
                    <a:pt x="3421379" y="16763"/>
                  </a:lnTo>
                  <a:lnTo>
                    <a:pt x="3665219" y="21335"/>
                  </a:lnTo>
                  <a:lnTo>
                    <a:pt x="3910583" y="0"/>
                  </a:lnTo>
                  <a:lnTo>
                    <a:pt x="4154424" y="6096"/>
                  </a:lnTo>
                  <a:lnTo>
                    <a:pt x="4398264" y="36575"/>
                  </a:lnTo>
                  <a:lnTo>
                    <a:pt x="4643628" y="7619"/>
                  </a:lnTo>
                  <a:lnTo>
                    <a:pt x="4887468" y="21335"/>
                  </a:lnTo>
                </a:path>
              </a:pathLst>
            </a:custGeom>
            <a:ln w="18287">
              <a:solidFill>
                <a:srgbClr val="4471C4"/>
              </a:solidFill>
              <a:prstDash val="solid"/>
            </a:ln>
          </p:spPr>
          <p:txBody>
            <a:bodyPr wrap="square" lIns="0" tIns="0" rIns="0" bIns="0" rtlCol="0">
              <a:prstTxWarp prst="textNoShape">
                <a:avLst/>
              </a:prstTxWarp>
              <a:noAutofit/>
            </a:bodyPr>
            <a:lstStyle/>
            <a:p>
              <a:endParaRPr lang="ro-RO"/>
            </a:p>
          </p:txBody>
        </p:sp>
        <p:sp>
          <p:nvSpPr>
            <p:cNvPr id="10" name="Graphic 20"/>
            <p:cNvSpPr/>
            <p:nvPr/>
          </p:nvSpPr>
          <p:spPr>
            <a:xfrm>
              <a:off x="796544" y="2461005"/>
              <a:ext cx="243840" cy="1270"/>
            </a:xfrm>
            <a:custGeom>
              <a:avLst/>
              <a:gdLst/>
              <a:ahLst/>
              <a:cxnLst/>
              <a:rect l="l" t="t" r="r" b="b"/>
              <a:pathLst>
                <a:path w="243840">
                  <a:moveTo>
                    <a:pt x="0" y="0"/>
                  </a:moveTo>
                  <a:lnTo>
                    <a:pt x="243840" y="0"/>
                  </a:lnTo>
                </a:path>
              </a:pathLst>
            </a:custGeom>
            <a:ln w="18288">
              <a:solidFill>
                <a:srgbClr val="5B9BD4"/>
              </a:solidFill>
              <a:prstDash val="solid"/>
            </a:ln>
          </p:spPr>
          <p:txBody>
            <a:bodyPr wrap="square" lIns="0" tIns="0" rIns="0" bIns="0" rtlCol="0">
              <a:prstTxWarp prst="textNoShape">
                <a:avLst/>
              </a:prstTxWarp>
              <a:noAutofit/>
            </a:bodyPr>
            <a:lstStyle/>
            <a:p>
              <a:endParaRPr lang="ro-RO"/>
            </a:p>
          </p:txBody>
        </p:sp>
        <p:sp>
          <p:nvSpPr>
            <p:cNvPr id="11" name="Graphic 21"/>
            <p:cNvSpPr/>
            <p:nvPr/>
          </p:nvSpPr>
          <p:spPr>
            <a:xfrm>
              <a:off x="2768600" y="2461005"/>
              <a:ext cx="243840" cy="1270"/>
            </a:xfrm>
            <a:custGeom>
              <a:avLst/>
              <a:gdLst/>
              <a:ahLst/>
              <a:cxnLst/>
              <a:rect l="l" t="t" r="r" b="b"/>
              <a:pathLst>
                <a:path w="243840">
                  <a:moveTo>
                    <a:pt x="0" y="0"/>
                  </a:moveTo>
                  <a:lnTo>
                    <a:pt x="243839" y="0"/>
                  </a:lnTo>
                </a:path>
              </a:pathLst>
            </a:custGeom>
            <a:ln w="18288">
              <a:solidFill>
                <a:srgbClr val="FFC000"/>
              </a:solidFill>
              <a:prstDash val="solid"/>
            </a:ln>
          </p:spPr>
          <p:txBody>
            <a:bodyPr wrap="square" lIns="0" tIns="0" rIns="0" bIns="0" rtlCol="0">
              <a:prstTxWarp prst="textNoShape">
                <a:avLst/>
              </a:prstTxWarp>
              <a:noAutofit/>
            </a:bodyPr>
            <a:lstStyle/>
            <a:p>
              <a:endParaRPr lang="ro-RO"/>
            </a:p>
          </p:txBody>
        </p:sp>
        <p:sp>
          <p:nvSpPr>
            <p:cNvPr id="12" name="Graphic 22"/>
            <p:cNvSpPr/>
            <p:nvPr/>
          </p:nvSpPr>
          <p:spPr>
            <a:xfrm>
              <a:off x="4403852" y="2461005"/>
              <a:ext cx="243840" cy="1270"/>
            </a:xfrm>
            <a:custGeom>
              <a:avLst/>
              <a:gdLst/>
              <a:ahLst/>
              <a:cxnLst/>
              <a:rect l="l" t="t" r="r" b="b"/>
              <a:pathLst>
                <a:path w="243840">
                  <a:moveTo>
                    <a:pt x="0" y="0"/>
                  </a:moveTo>
                  <a:lnTo>
                    <a:pt x="243839" y="0"/>
                  </a:lnTo>
                </a:path>
              </a:pathLst>
            </a:custGeom>
            <a:ln w="18288">
              <a:solidFill>
                <a:srgbClr val="4471C4"/>
              </a:solidFill>
              <a:prstDash val="solid"/>
            </a:ln>
          </p:spPr>
          <p:txBody>
            <a:bodyPr wrap="square" lIns="0" tIns="0" rIns="0" bIns="0" rtlCol="0">
              <a:prstTxWarp prst="textNoShape">
                <a:avLst/>
              </a:prstTxWarp>
              <a:noAutofit/>
            </a:bodyPr>
            <a:lstStyle/>
            <a:p>
              <a:endParaRPr lang="ro-RO"/>
            </a:p>
          </p:txBody>
        </p:sp>
        <p:sp>
          <p:nvSpPr>
            <p:cNvPr id="13" name="Graphic 23"/>
            <p:cNvSpPr/>
            <p:nvPr/>
          </p:nvSpPr>
          <p:spPr>
            <a:xfrm>
              <a:off x="3175" y="3175"/>
              <a:ext cx="5760720" cy="2649220"/>
            </a:xfrm>
            <a:custGeom>
              <a:avLst/>
              <a:gdLst/>
              <a:ahLst/>
              <a:cxnLst/>
              <a:rect l="l" t="t" r="r" b="b"/>
              <a:pathLst>
                <a:path w="5760720" h="2649220">
                  <a:moveTo>
                    <a:pt x="0" y="2649220"/>
                  </a:moveTo>
                  <a:lnTo>
                    <a:pt x="5760720" y="2649220"/>
                  </a:lnTo>
                  <a:lnTo>
                    <a:pt x="5760720" y="0"/>
                  </a:lnTo>
                  <a:lnTo>
                    <a:pt x="0" y="0"/>
                  </a:lnTo>
                  <a:lnTo>
                    <a:pt x="0" y="2649220"/>
                  </a:lnTo>
                  <a:close/>
                </a:path>
              </a:pathLst>
            </a:custGeom>
            <a:ln w="6350">
              <a:solidFill>
                <a:srgbClr val="888888"/>
              </a:solidFill>
              <a:prstDash val="solid"/>
            </a:ln>
          </p:spPr>
          <p:txBody>
            <a:bodyPr wrap="square" lIns="0" tIns="0" rIns="0" bIns="0" rtlCol="0">
              <a:prstTxWarp prst="textNoShape">
                <a:avLst/>
              </a:prstTxWarp>
              <a:noAutofit/>
            </a:bodyPr>
            <a:lstStyle/>
            <a:p>
              <a:endParaRPr lang="ro-RO"/>
            </a:p>
          </p:txBody>
        </p:sp>
        <p:sp>
          <p:nvSpPr>
            <p:cNvPr id="14" name="Textbox 24"/>
            <p:cNvSpPr txBox="1"/>
            <p:nvPr/>
          </p:nvSpPr>
          <p:spPr>
            <a:xfrm>
              <a:off x="675894" y="145287"/>
              <a:ext cx="4427220" cy="508000"/>
            </a:xfrm>
            <a:prstGeom prst="rect">
              <a:avLst/>
            </a:prstGeom>
          </p:spPr>
          <p:txBody>
            <a:bodyPr wrap="square" lIns="0" tIns="0" rIns="0" bIns="0" rtlCol="0">
              <a:noAutofit/>
            </a:bodyPr>
            <a:lstStyle/>
            <a:p>
              <a:pPr marR="11430" algn="ctr">
                <a:lnSpc>
                  <a:spcPts val="1835"/>
                </a:lnSpc>
                <a:spcAft>
                  <a:spcPts val="0"/>
                </a:spcAft>
              </a:pPr>
              <a:r>
                <a:rPr lang="ro-RO" sz="1800" b="1">
                  <a:effectLst/>
                  <a:latin typeface="Calibri"/>
                  <a:ea typeface="Times New Roman"/>
                  <a:cs typeface="Times New Roman"/>
                </a:rPr>
                <a:t>Grafic</a:t>
              </a:r>
              <a:r>
                <a:rPr lang="ro-RO" sz="1800" b="1" spc="-95">
                  <a:effectLst/>
                  <a:latin typeface="Calibri"/>
                  <a:ea typeface="Times New Roman"/>
                  <a:cs typeface="Times New Roman"/>
                </a:rPr>
                <a:t> </a:t>
              </a:r>
              <a:r>
                <a:rPr lang="ro-RO" sz="1800" b="1">
                  <a:effectLst/>
                  <a:latin typeface="Calibri"/>
                  <a:ea typeface="Times New Roman"/>
                  <a:cs typeface="Times New Roman"/>
                </a:rPr>
                <a:t>temperatură</a:t>
              </a:r>
              <a:r>
                <a:rPr lang="ro-RO" sz="1800" b="1" spc="-95">
                  <a:effectLst/>
                  <a:latin typeface="Calibri"/>
                  <a:ea typeface="Times New Roman"/>
                  <a:cs typeface="Times New Roman"/>
                </a:rPr>
                <a:t> </a:t>
              </a:r>
              <a:r>
                <a:rPr lang="ro-RO" sz="1800" b="1">
                  <a:effectLst/>
                  <a:latin typeface="Calibri"/>
                  <a:ea typeface="Times New Roman"/>
                  <a:cs typeface="Times New Roman"/>
                </a:rPr>
                <a:t>afişată</a:t>
              </a:r>
              <a:r>
                <a:rPr lang="ro-RO" sz="1800" b="1" spc="-90">
                  <a:effectLst/>
                  <a:latin typeface="Calibri"/>
                  <a:ea typeface="Times New Roman"/>
                  <a:cs typeface="Times New Roman"/>
                </a:rPr>
                <a:t> </a:t>
              </a:r>
              <a:r>
                <a:rPr lang="ro-RO" sz="1800" b="1">
                  <a:effectLst/>
                  <a:latin typeface="Calibri"/>
                  <a:ea typeface="Times New Roman"/>
                  <a:cs typeface="Times New Roman"/>
                </a:rPr>
                <a:t>vs</a:t>
              </a:r>
              <a:r>
                <a:rPr lang="ro-RO" sz="1800" b="1" spc="-80">
                  <a:effectLst/>
                  <a:latin typeface="Calibri"/>
                  <a:ea typeface="Times New Roman"/>
                  <a:cs typeface="Times New Roman"/>
                </a:rPr>
                <a:t> </a:t>
              </a:r>
              <a:r>
                <a:rPr lang="ro-RO" sz="1800" b="1">
                  <a:effectLst/>
                  <a:latin typeface="Calibri"/>
                  <a:ea typeface="Times New Roman"/>
                  <a:cs typeface="Times New Roman"/>
                </a:rPr>
                <a:t>temperatură</a:t>
              </a:r>
              <a:r>
                <a:rPr lang="ro-RO" sz="1800" b="1" spc="-100">
                  <a:effectLst/>
                  <a:latin typeface="Calibri"/>
                  <a:ea typeface="Times New Roman"/>
                  <a:cs typeface="Times New Roman"/>
                </a:rPr>
                <a:t> </a:t>
              </a:r>
              <a:r>
                <a:rPr lang="ro-RO" sz="1800" b="1" spc="-25">
                  <a:effectLst/>
                  <a:latin typeface="Calibri"/>
                  <a:ea typeface="Times New Roman"/>
                  <a:cs typeface="Times New Roman"/>
                </a:rPr>
                <a:t>RTD</a:t>
              </a:r>
              <a:endParaRPr lang="ro-RO" sz="1100">
                <a:effectLst/>
                <a:latin typeface="Times New Roman"/>
                <a:ea typeface="Times New Roman"/>
              </a:endParaRPr>
            </a:p>
            <a:p>
              <a:pPr marR="8255" algn="ctr">
                <a:lnSpc>
                  <a:spcPts val="2165"/>
                </a:lnSpc>
                <a:spcAft>
                  <a:spcPts val="0"/>
                </a:spcAft>
              </a:pPr>
              <a:r>
                <a:rPr lang="ro-RO" sz="1800" b="1" spc="-10">
                  <a:effectLst/>
                  <a:latin typeface="Calibri"/>
                  <a:ea typeface="Times New Roman"/>
                  <a:cs typeface="Times New Roman"/>
                </a:rPr>
                <a:t>PT-</a:t>
              </a:r>
              <a:r>
                <a:rPr lang="ro-RO" sz="1800" b="1" spc="-25">
                  <a:effectLst/>
                  <a:latin typeface="Calibri"/>
                  <a:ea typeface="Times New Roman"/>
                  <a:cs typeface="Times New Roman"/>
                </a:rPr>
                <a:t>100</a:t>
              </a:r>
              <a:endParaRPr lang="ro-RO" sz="1100">
                <a:effectLst/>
                <a:latin typeface="Times New Roman"/>
                <a:ea typeface="Times New Roman"/>
              </a:endParaRPr>
            </a:p>
          </p:txBody>
        </p:sp>
        <p:sp>
          <p:nvSpPr>
            <p:cNvPr id="15" name="Textbox 25"/>
            <p:cNvSpPr txBox="1"/>
            <p:nvPr/>
          </p:nvSpPr>
          <p:spPr>
            <a:xfrm>
              <a:off x="86055" y="859536"/>
              <a:ext cx="302260" cy="1141730"/>
            </a:xfrm>
            <a:prstGeom prst="rect">
              <a:avLst/>
            </a:prstGeom>
          </p:spPr>
          <p:txBody>
            <a:bodyPr wrap="square" lIns="0" tIns="0" rIns="0" bIns="0" rtlCol="0">
              <a:noAutofit/>
            </a:bodyPr>
            <a:lstStyle/>
            <a:p>
              <a:pPr>
                <a:lnSpc>
                  <a:spcPts val="1015"/>
                </a:lnSpc>
                <a:spcAft>
                  <a:spcPts val="0"/>
                </a:spcAft>
              </a:pPr>
              <a:r>
                <a:rPr lang="ro-RO" sz="1000" spc="-10" dirty="0">
                  <a:effectLst/>
                  <a:latin typeface="Calibri"/>
                  <a:ea typeface="Times New Roman"/>
                  <a:cs typeface="Times New Roman"/>
                </a:rPr>
                <a:t>110,0</a:t>
              </a:r>
              <a:endParaRPr lang="ro-RO" sz="1100" dirty="0">
                <a:effectLst/>
                <a:latin typeface="Times New Roman"/>
                <a:ea typeface="Times New Roman"/>
              </a:endParaRPr>
            </a:p>
            <a:p>
              <a:pPr marL="64135">
                <a:spcBef>
                  <a:spcPts val="375"/>
                </a:spcBef>
                <a:spcAft>
                  <a:spcPts val="0"/>
                </a:spcAft>
              </a:pPr>
              <a:r>
                <a:rPr lang="ro-RO" sz="1000" spc="-20" dirty="0">
                  <a:effectLst/>
                  <a:latin typeface="Calibri"/>
                  <a:ea typeface="Times New Roman"/>
                  <a:cs typeface="Times New Roman"/>
                </a:rPr>
                <a:t>90,0</a:t>
              </a:r>
              <a:endParaRPr lang="ro-RO" sz="1100" dirty="0">
                <a:effectLst/>
                <a:latin typeface="Times New Roman"/>
                <a:ea typeface="Times New Roman"/>
              </a:endParaRPr>
            </a:p>
            <a:p>
              <a:pPr marL="64135">
                <a:spcBef>
                  <a:spcPts val="380"/>
                </a:spcBef>
                <a:spcAft>
                  <a:spcPts val="0"/>
                </a:spcAft>
              </a:pPr>
              <a:r>
                <a:rPr lang="ro-RO" sz="1000" spc="-20" dirty="0">
                  <a:effectLst/>
                  <a:latin typeface="Calibri"/>
                  <a:ea typeface="Times New Roman"/>
                  <a:cs typeface="Times New Roman"/>
                </a:rPr>
                <a:t>70,0</a:t>
              </a:r>
              <a:endParaRPr lang="ro-RO" sz="1100" dirty="0">
                <a:effectLst/>
                <a:latin typeface="Times New Roman"/>
                <a:ea typeface="Times New Roman"/>
              </a:endParaRPr>
            </a:p>
            <a:p>
              <a:pPr marL="64135">
                <a:spcBef>
                  <a:spcPts val="375"/>
                </a:spcBef>
                <a:spcAft>
                  <a:spcPts val="0"/>
                </a:spcAft>
              </a:pPr>
              <a:r>
                <a:rPr lang="ro-RO" sz="1000" spc="-20" dirty="0">
                  <a:effectLst/>
                  <a:latin typeface="Calibri"/>
                  <a:ea typeface="Times New Roman"/>
                  <a:cs typeface="Times New Roman"/>
                </a:rPr>
                <a:t>50,0</a:t>
              </a:r>
              <a:endParaRPr lang="ro-RO" sz="1100" dirty="0">
                <a:effectLst/>
                <a:latin typeface="Times New Roman"/>
                <a:ea typeface="Times New Roman"/>
              </a:endParaRPr>
            </a:p>
            <a:p>
              <a:pPr marL="64135">
                <a:spcBef>
                  <a:spcPts val="380"/>
                </a:spcBef>
                <a:spcAft>
                  <a:spcPts val="0"/>
                </a:spcAft>
              </a:pPr>
              <a:r>
                <a:rPr lang="ro-RO" sz="1000" spc="-20" dirty="0">
                  <a:effectLst/>
                  <a:latin typeface="Calibri"/>
                  <a:ea typeface="Times New Roman"/>
                  <a:cs typeface="Times New Roman"/>
                </a:rPr>
                <a:t>30,0</a:t>
              </a:r>
              <a:endParaRPr lang="ro-RO" sz="1100" dirty="0">
                <a:effectLst/>
                <a:latin typeface="Times New Roman"/>
                <a:ea typeface="Times New Roman"/>
              </a:endParaRPr>
            </a:p>
            <a:p>
              <a:pPr marL="64135">
                <a:lnSpc>
                  <a:spcPts val="1200"/>
                </a:lnSpc>
                <a:spcBef>
                  <a:spcPts val="375"/>
                </a:spcBef>
                <a:spcAft>
                  <a:spcPts val="0"/>
                </a:spcAft>
              </a:pPr>
              <a:r>
                <a:rPr lang="ro-RO" sz="1000" spc="-20" dirty="0">
                  <a:effectLst/>
                  <a:latin typeface="Calibri"/>
                  <a:ea typeface="Times New Roman"/>
                  <a:cs typeface="Times New Roman"/>
                </a:rPr>
                <a:t>10,0</a:t>
              </a:r>
              <a:endParaRPr lang="ro-RO" sz="1100" dirty="0">
                <a:effectLst/>
                <a:latin typeface="Times New Roman"/>
                <a:ea typeface="Times New Roman"/>
              </a:endParaRPr>
            </a:p>
          </p:txBody>
        </p:sp>
        <p:sp>
          <p:nvSpPr>
            <p:cNvPr id="16" name="Textbox 26"/>
            <p:cNvSpPr txBox="1"/>
            <p:nvPr/>
          </p:nvSpPr>
          <p:spPr>
            <a:xfrm>
              <a:off x="111353" y="2077211"/>
              <a:ext cx="276225" cy="127000"/>
            </a:xfrm>
            <a:prstGeom prst="rect">
              <a:avLst/>
            </a:prstGeom>
          </p:spPr>
          <p:txBody>
            <a:bodyPr wrap="square" lIns="0" tIns="0" rIns="0" bIns="0" rtlCol="0">
              <a:noAutofit/>
            </a:bodyPr>
            <a:lstStyle/>
            <a:p>
              <a:pPr>
                <a:lnSpc>
                  <a:spcPts val="995"/>
                </a:lnSpc>
                <a:spcAft>
                  <a:spcPts val="0"/>
                </a:spcAft>
              </a:pPr>
              <a:r>
                <a:rPr lang="ro-RO" sz="1000">
                  <a:effectLst/>
                  <a:latin typeface="Calibri"/>
                  <a:ea typeface="Times New Roman"/>
                  <a:cs typeface="Times New Roman"/>
                </a:rPr>
                <a:t>-</a:t>
              </a:r>
              <a:r>
                <a:rPr lang="ro-RO" sz="1000" spc="-20">
                  <a:effectLst/>
                  <a:latin typeface="Calibri"/>
                  <a:ea typeface="Times New Roman"/>
                  <a:cs typeface="Times New Roman"/>
                </a:rPr>
                <a:t>10,0</a:t>
              </a:r>
              <a:endParaRPr lang="ro-RO" sz="1100">
                <a:effectLst/>
                <a:latin typeface="Times New Roman"/>
                <a:ea typeface="Times New Roman"/>
              </a:endParaRPr>
            </a:p>
          </p:txBody>
        </p:sp>
        <p:sp>
          <p:nvSpPr>
            <p:cNvPr id="17" name="Textbox 27"/>
            <p:cNvSpPr txBox="1"/>
            <p:nvPr/>
          </p:nvSpPr>
          <p:spPr>
            <a:xfrm>
              <a:off x="583183" y="2140839"/>
              <a:ext cx="4996815" cy="127000"/>
            </a:xfrm>
            <a:prstGeom prst="rect">
              <a:avLst/>
            </a:prstGeom>
          </p:spPr>
          <p:txBody>
            <a:bodyPr wrap="square" lIns="0" tIns="0" rIns="0" bIns="0" rtlCol="0">
              <a:noAutofit/>
            </a:bodyPr>
            <a:lstStyle/>
            <a:p>
              <a:pPr>
                <a:lnSpc>
                  <a:spcPts val="995"/>
                </a:lnSpc>
                <a:spcAft>
                  <a:spcPts val="0"/>
                </a:spcAft>
                <a:tabLst>
                  <a:tab pos="243840" algn="l"/>
                  <a:tab pos="488315" algn="l"/>
                  <a:tab pos="732790" algn="l"/>
                  <a:tab pos="977265" algn="l"/>
                  <a:tab pos="1221740" algn="l"/>
                  <a:tab pos="1466215" algn="l"/>
                  <a:tab pos="1710055" algn="l"/>
                  <a:tab pos="1954530" algn="l"/>
                  <a:tab pos="2166620" algn="l"/>
                </a:tabLst>
              </a:pPr>
              <a:r>
                <a:rPr lang="ro-RO" sz="1000" spc="-50">
                  <a:effectLst/>
                  <a:latin typeface="Calibri"/>
                  <a:ea typeface="Times New Roman"/>
                  <a:cs typeface="Times New Roman"/>
                </a:rPr>
                <a:t>1</a:t>
              </a:r>
              <a:r>
                <a:rPr lang="ro-RO" sz="1000">
                  <a:effectLst/>
                  <a:latin typeface="Calibri"/>
                  <a:ea typeface="Times New Roman"/>
                  <a:cs typeface="Times New Roman"/>
                </a:rPr>
                <a:t>	</a:t>
              </a:r>
              <a:r>
                <a:rPr lang="ro-RO" sz="1000" spc="-50">
                  <a:effectLst/>
                  <a:latin typeface="Calibri"/>
                  <a:ea typeface="Times New Roman"/>
                  <a:cs typeface="Times New Roman"/>
                </a:rPr>
                <a:t>2</a:t>
              </a:r>
              <a:r>
                <a:rPr lang="ro-RO" sz="1000">
                  <a:effectLst/>
                  <a:latin typeface="Calibri"/>
                  <a:ea typeface="Times New Roman"/>
                  <a:cs typeface="Times New Roman"/>
                </a:rPr>
                <a:t>	</a:t>
              </a:r>
              <a:r>
                <a:rPr lang="ro-RO" sz="1000" spc="-50">
                  <a:effectLst/>
                  <a:latin typeface="Calibri"/>
                  <a:ea typeface="Times New Roman"/>
                  <a:cs typeface="Times New Roman"/>
                </a:rPr>
                <a:t>3</a:t>
              </a:r>
              <a:r>
                <a:rPr lang="ro-RO" sz="1000">
                  <a:effectLst/>
                  <a:latin typeface="Calibri"/>
                  <a:ea typeface="Times New Roman"/>
                  <a:cs typeface="Times New Roman"/>
                </a:rPr>
                <a:t>	</a:t>
              </a:r>
              <a:r>
                <a:rPr lang="ro-RO" sz="1000" spc="-50">
                  <a:effectLst/>
                  <a:latin typeface="Calibri"/>
                  <a:ea typeface="Times New Roman"/>
                  <a:cs typeface="Times New Roman"/>
                </a:rPr>
                <a:t>4</a:t>
              </a:r>
              <a:r>
                <a:rPr lang="ro-RO" sz="1000">
                  <a:effectLst/>
                  <a:latin typeface="Calibri"/>
                  <a:ea typeface="Times New Roman"/>
                  <a:cs typeface="Times New Roman"/>
                </a:rPr>
                <a:t>	</a:t>
              </a:r>
              <a:r>
                <a:rPr lang="ro-RO" sz="1000" spc="-50">
                  <a:effectLst/>
                  <a:latin typeface="Calibri"/>
                  <a:ea typeface="Times New Roman"/>
                  <a:cs typeface="Times New Roman"/>
                </a:rPr>
                <a:t>5</a:t>
              </a:r>
              <a:r>
                <a:rPr lang="ro-RO" sz="1000">
                  <a:effectLst/>
                  <a:latin typeface="Calibri"/>
                  <a:ea typeface="Times New Roman"/>
                  <a:cs typeface="Times New Roman"/>
                </a:rPr>
                <a:t>	</a:t>
              </a:r>
              <a:r>
                <a:rPr lang="ro-RO" sz="1000" spc="-50">
                  <a:effectLst/>
                  <a:latin typeface="Calibri"/>
                  <a:ea typeface="Times New Roman"/>
                  <a:cs typeface="Times New Roman"/>
                </a:rPr>
                <a:t>6</a:t>
              </a:r>
              <a:r>
                <a:rPr lang="ro-RO" sz="1000">
                  <a:effectLst/>
                  <a:latin typeface="Calibri"/>
                  <a:ea typeface="Times New Roman"/>
                  <a:cs typeface="Times New Roman"/>
                </a:rPr>
                <a:t>	</a:t>
              </a:r>
              <a:r>
                <a:rPr lang="ro-RO" sz="1000" spc="-50">
                  <a:effectLst/>
                  <a:latin typeface="Calibri"/>
                  <a:ea typeface="Times New Roman"/>
                  <a:cs typeface="Times New Roman"/>
                </a:rPr>
                <a:t>7</a:t>
              </a:r>
              <a:r>
                <a:rPr lang="ro-RO" sz="1000">
                  <a:effectLst/>
                  <a:latin typeface="Calibri"/>
                  <a:ea typeface="Times New Roman"/>
                  <a:cs typeface="Times New Roman"/>
                </a:rPr>
                <a:t>	</a:t>
              </a:r>
              <a:r>
                <a:rPr lang="ro-RO" sz="1000" spc="-50">
                  <a:effectLst/>
                  <a:latin typeface="Calibri"/>
                  <a:ea typeface="Times New Roman"/>
                  <a:cs typeface="Times New Roman"/>
                </a:rPr>
                <a:t>8</a:t>
              </a:r>
              <a:r>
                <a:rPr lang="ro-RO" sz="1000">
                  <a:effectLst/>
                  <a:latin typeface="Calibri"/>
                  <a:ea typeface="Times New Roman"/>
                  <a:cs typeface="Times New Roman"/>
                </a:rPr>
                <a:t>	</a:t>
              </a:r>
              <a:r>
                <a:rPr lang="ro-RO" sz="1000" spc="-50">
                  <a:effectLst/>
                  <a:latin typeface="Calibri"/>
                  <a:ea typeface="Times New Roman"/>
                  <a:cs typeface="Times New Roman"/>
                </a:rPr>
                <a:t>9</a:t>
              </a:r>
              <a:r>
                <a:rPr lang="ro-RO" sz="1000">
                  <a:effectLst/>
                  <a:latin typeface="Calibri"/>
                  <a:ea typeface="Times New Roman"/>
                  <a:cs typeface="Times New Roman"/>
                </a:rPr>
                <a:t>	10</a:t>
              </a:r>
              <a:r>
                <a:rPr lang="ro-RO" sz="1000" spc="220">
                  <a:effectLst/>
                  <a:latin typeface="Calibri"/>
                  <a:ea typeface="Times New Roman"/>
                  <a:cs typeface="Times New Roman"/>
                </a:rPr>
                <a:t>  </a:t>
              </a:r>
              <a:r>
                <a:rPr lang="ro-RO" sz="1000">
                  <a:effectLst/>
                  <a:latin typeface="Calibri"/>
                  <a:ea typeface="Times New Roman"/>
                  <a:cs typeface="Times New Roman"/>
                </a:rPr>
                <a:t>11</a:t>
              </a:r>
              <a:r>
                <a:rPr lang="ro-RO" sz="1000" spc="220">
                  <a:effectLst/>
                  <a:latin typeface="Calibri"/>
                  <a:ea typeface="Times New Roman"/>
                  <a:cs typeface="Times New Roman"/>
                </a:rPr>
                <a:t>  </a:t>
              </a:r>
              <a:r>
                <a:rPr lang="ro-RO" sz="1000">
                  <a:effectLst/>
                  <a:latin typeface="Calibri"/>
                  <a:ea typeface="Times New Roman"/>
                  <a:cs typeface="Times New Roman"/>
                </a:rPr>
                <a:t>12</a:t>
              </a:r>
              <a:r>
                <a:rPr lang="ro-RO" sz="1000" spc="225">
                  <a:effectLst/>
                  <a:latin typeface="Calibri"/>
                  <a:ea typeface="Times New Roman"/>
                  <a:cs typeface="Times New Roman"/>
                </a:rPr>
                <a:t>  </a:t>
              </a:r>
              <a:r>
                <a:rPr lang="ro-RO" sz="1000">
                  <a:effectLst/>
                  <a:latin typeface="Calibri"/>
                  <a:ea typeface="Times New Roman"/>
                  <a:cs typeface="Times New Roman"/>
                </a:rPr>
                <a:t>13</a:t>
              </a:r>
              <a:r>
                <a:rPr lang="ro-RO" sz="1000" spc="220">
                  <a:effectLst/>
                  <a:latin typeface="Calibri"/>
                  <a:ea typeface="Times New Roman"/>
                  <a:cs typeface="Times New Roman"/>
                </a:rPr>
                <a:t>  </a:t>
              </a:r>
              <a:r>
                <a:rPr lang="ro-RO" sz="1000">
                  <a:effectLst/>
                  <a:latin typeface="Calibri"/>
                  <a:ea typeface="Times New Roman"/>
                  <a:cs typeface="Times New Roman"/>
                </a:rPr>
                <a:t>14</a:t>
              </a:r>
              <a:r>
                <a:rPr lang="ro-RO" sz="1000" spc="220">
                  <a:effectLst/>
                  <a:latin typeface="Calibri"/>
                  <a:ea typeface="Times New Roman"/>
                  <a:cs typeface="Times New Roman"/>
                </a:rPr>
                <a:t>  </a:t>
              </a:r>
              <a:r>
                <a:rPr lang="ro-RO" sz="1000">
                  <a:effectLst/>
                  <a:latin typeface="Calibri"/>
                  <a:ea typeface="Times New Roman"/>
                  <a:cs typeface="Times New Roman"/>
                </a:rPr>
                <a:t>15</a:t>
              </a:r>
              <a:r>
                <a:rPr lang="ro-RO" sz="1000" spc="220">
                  <a:effectLst/>
                  <a:latin typeface="Calibri"/>
                  <a:ea typeface="Times New Roman"/>
                  <a:cs typeface="Times New Roman"/>
                </a:rPr>
                <a:t>  </a:t>
              </a:r>
              <a:r>
                <a:rPr lang="ro-RO" sz="1000">
                  <a:effectLst/>
                  <a:latin typeface="Calibri"/>
                  <a:ea typeface="Times New Roman"/>
                  <a:cs typeface="Times New Roman"/>
                </a:rPr>
                <a:t>16</a:t>
              </a:r>
              <a:r>
                <a:rPr lang="ro-RO" sz="1000" spc="225">
                  <a:effectLst/>
                  <a:latin typeface="Calibri"/>
                  <a:ea typeface="Times New Roman"/>
                  <a:cs typeface="Times New Roman"/>
                </a:rPr>
                <a:t>  </a:t>
              </a:r>
              <a:r>
                <a:rPr lang="ro-RO" sz="1000">
                  <a:effectLst/>
                  <a:latin typeface="Calibri"/>
                  <a:ea typeface="Times New Roman"/>
                  <a:cs typeface="Times New Roman"/>
                </a:rPr>
                <a:t>17</a:t>
              </a:r>
              <a:r>
                <a:rPr lang="ro-RO" sz="1000" spc="220">
                  <a:effectLst/>
                  <a:latin typeface="Calibri"/>
                  <a:ea typeface="Times New Roman"/>
                  <a:cs typeface="Times New Roman"/>
                </a:rPr>
                <a:t>  </a:t>
              </a:r>
              <a:r>
                <a:rPr lang="ro-RO" sz="1000">
                  <a:effectLst/>
                  <a:latin typeface="Calibri"/>
                  <a:ea typeface="Times New Roman"/>
                  <a:cs typeface="Times New Roman"/>
                </a:rPr>
                <a:t>18</a:t>
              </a:r>
              <a:r>
                <a:rPr lang="ro-RO" sz="1000" spc="220">
                  <a:effectLst/>
                  <a:latin typeface="Calibri"/>
                  <a:ea typeface="Times New Roman"/>
                  <a:cs typeface="Times New Roman"/>
                </a:rPr>
                <a:t>  </a:t>
              </a:r>
              <a:r>
                <a:rPr lang="ro-RO" sz="1000">
                  <a:effectLst/>
                  <a:latin typeface="Calibri"/>
                  <a:ea typeface="Times New Roman"/>
                  <a:cs typeface="Times New Roman"/>
                </a:rPr>
                <a:t>19</a:t>
              </a:r>
              <a:r>
                <a:rPr lang="ro-RO" sz="1000" spc="225">
                  <a:effectLst/>
                  <a:latin typeface="Calibri"/>
                  <a:ea typeface="Times New Roman"/>
                  <a:cs typeface="Times New Roman"/>
                </a:rPr>
                <a:t>  </a:t>
              </a:r>
              <a:r>
                <a:rPr lang="ro-RO" sz="1000">
                  <a:effectLst/>
                  <a:latin typeface="Calibri"/>
                  <a:ea typeface="Times New Roman"/>
                  <a:cs typeface="Times New Roman"/>
                </a:rPr>
                <a:t>20</a:t>
              </a:r>
              <a:r>
                <a:rPr lang="ro-RO" sz="1000" spc="220">
                  <a:effectLst/>
                  <a:latin typeface="Calibri"/>
                  <a:ea typeface="Times New Roman"/>
                  <a:cs typeface="Times New Roman"/>
                </a:rPr>
                <a:t>  </a:t>
              </a:r>
              <a:r>
                <a:rPr lang="ro-RO" sz="1000" spc="-25">
                  <a:effectLst/>
                  <a:latin typeface="Calibri"/>
                  <a:ea typeface="Times New Roman"/>
                  <a:cs typeface="Times New Roman"/>
                </a:rPr>
                <a:t>21</a:t>
              </a:r>
              <a:endParaRPr lang="ro-RO" sz="1100">
                <a:effectLst/>
                <a:latin typeface="Times New Roman"/>
                <a:ea typeface="Times New Roman"/>
              </a:endParaRPr>
            </a:p>
          </p:txBody>
        </p:sp>
        <p:sp>
          <p:nvSpPr>
            <p:cNvPr id="18" name="Textbox 28"/>
            <p:cNvSpPr txBox="1"/>
            <p:nvPr/>
          </p:nvSpPr>
          <p:spPr>
            <a:xfrm>
              <a:off x="1066291" y="2377230"/>
              <a:ext cx="1487170" cy="141605"/>
            </a:xfrm>
            <a:prstGeom prst="rect">
              <a:avLst/>
            </a:prstGeom>
          </p:spPr>
          <p:txBody>
            <a:bodyPr wrap="square" lIns="0" tIns="0" rIns="0" bIns="0" rtlCol="0">
              <a:noAutofit/>
            </a:bodyPr>
            <a:lstStyle/>
            <a:p>
              <a:pPr>
                <a:lnSpc>
                  <a:spcPts val="1110"/>
                </a:lnSpc>
                <a:spcAft>
                  <a:spcPts val="0"/>
                </a:spcAft>
              </a:pPr>
              <a:r>
                <a:rPr lang="ro-RO" sz="1000">
                  <a:effectLst/>
                  <a:latin typeface="Microsoft Sans Serif"/>
                  <a:ea typeface="Times New Roman"/>
                  <a:cs typeface="Times New Roman"/>
                </a:rPr>
                <a:t>Temperatură</a:t>
              </a:r>
              <a:r>
                <a:rPr lang="ro-RO" sz="1000" spc="-45">
                  <a:effectLst/>
                  <a:latin typeface="Microsoft Sans Serif"/>
                  <a:ea typeface="Times New Roman"/>
                  <a:cs typeface="Times New Roman"/>
                </a:rPr>
                <a:t> </a:t>
              </a:r>
              <a:r>
                <a:rPr lang="ro-RO" sz="1000">
                  <a:effectLst/>
                  <a:latin typeface="Microsoft Sans Serif"/>
                  <a:ea typeface="Times New Roman"/>
                  <a:cs typeface="Times New Roman"/>
                </a:rPr>
                <a:t>RTD</a:t>
              </a:r>
              <a:r>
                <a:rPr lang="ro-RO" sz="1000" spc="-30">
                  <a:effectLst/>
                  <a:latin typeface="Microsoft Sans Serif"/>
                  <a:ea typeface="Times New Roman"/>
                  <a:cs typeface="Times New Roman"/>
                </a:rPr>
                <a:t> </a:t>
              </a:r>
              <a:r>
                <a:rPr lang="ro-RO" sz="1000">
                  <a:effectLst/>
                  <a:latin typeface="Microsoft Sans Serif"/>
                  <a:ea typeface="Times New Roman"/>
                  <a:cs typeface="Times New Roman"/>
                </a:rPr>
                <a:t>PT-</a:t>
              </a:r>
              <a:r>
                <a:rPr lang="ro-RO" sz="1000" spc="-25">
                  <a:effectLst/>
                  <a:latin typeface="Microsoft Sans Serif"/>
                  <a:ea typeface="Times New Roman"/>
                  <a:cs typeface="Times New Roman"/>
                </a:rPr>
                <a:t>100</a:t>
              </a:r>
              <a:endParaRPr lang="ro-RO" sz="1100">
                <a:effectLst/>
                <a:latin typeface="Times New Roman"/>
                <a:ea typeface="Times New Roman"/>
              </a:endParaRPr>
            </a:p>
          </p:txBody>
        </p:sp>
        <p:sp>
          <p:nvSpPr>
            <p:cNvPr id="19" name="Textbox 29"/>
            <p:cNvSpPr txBox="1"/>
            <p:nvPr/>
          </p:nvSpPr>
          <p:spPr>
            <a:xfrm>
              <a:off x="3039872" y="2381802"/>
              <a:ext cx="1148080" cy="141605"/>
            </a:xfrm>
            <a:prstGeom prst="rect">
              <a:avLst/>
            </a:prstGeom>
          </p:spPr>
          <p:txBody>
            <a:bodyPr wrap="square" lIns="0" tIns="0" rIns="0" bIns="0" rtlCol="0">
              <a:noAutofit/>
            </a:bodyPr>
            <a:lstStyle/>
            <a:p>
              <a:pPr>
                <a:lnSpc>
                  <a:spcPts val="1110"/>
                </a:lnSpc>
                <a:spcAft>
                  <a:spcPts val="0"/>
                </a:spcAft>
              </a:pPr>
              <a:r>
                <a:rPr lang="ro-RO" sz="1000">
                  <a:effectLst/>
                  <a:latin typeface="Microsoft Sans Serif"/>
                  <a:ea typeface="Times New Roman"/>
                  <a:cs typeface="Times New Roman"/>
                </a:rPr>
                <a:t>Temperatură</a:t>
              </a:r>
              <a:r>
                <a:rPr lang="ro-RO" sz="1000" spc="-60">
                  <a:effectLst/>
                  <a:latin typeface="Microsoft Sans Serif"/>
                  <a:ea typeface="Times New Roman"/>
                  <a:cs typeface="Times New Roman"/>
                </a:rPr>
                <a:t> </a:t>
              </a:r>
              <a:r>
                <a:rPr lang="ro-RO" sz="1000" spc="-10">
                  <a:effectLst/>
                  <a:latin typeface="Microsoft Sans Serif"/>
                  <a:ea typeface="Times New Roman"/>
                  <a:cs typeface="Times New Roman"/>
                </a:rPr>
                <a:t>afișată</a:t>
              </a:r>
              <a:endParaRPr lang="ro-RO" sz="1100">
                <a:effectLst/>
                <a:latin typeface="Times New Roman"/>
                <a:ea typeface="Times New Roman"/>
              </a:endParaRPr>
            </a:p>
          </p:txBody>
        </p:sp>
        <p:sp>
          <p:nvSpPr>
            <p:cNvPr id="20" name="Textbox 30"/>
            <p:cNvSpPr txBox="1"/>
            <p:nvPr/>
          </p:nvSpPr>
          <p:spPr>
            <a:xfrm>
              <a:off x="4674870" y="2402967"/>
              <a:ext cx="354330" cy="127000"/>
            </a:xfrm>
            <a:prstGeom prst="rect">
              <a:avLst/>
            </a:prstGeom>
          </p:spPr>
          <p:txBody>
            <a:bodyPr wrap="square" lIns="0" tIns="0" rIns="0" bIns="0" rtlCol="0">
              <a:noAutofit/>
            </a:bodyPr>
            <a:lstStyle/>
            <a:p>
              <a:pPr>
                <a:lnSpc>
                  <a:spcPts val="995"/>
                </a:lnSpc>
                <a:spcAft>
                  <a:spcPts val="0"/>
                </a:spcAft>
              </a:pPr>
              <a:r>
                <a:rPr lang="ro-RO" sz="1000" spc="-10">
                  <a:effectLst/>
                  <a:latin typeface="Calibri"/>
                  <a:ea typeface="Times New Roman"/>
                  <a:cs typeface="Times New Roman"/>
                </a:rPr>
                <a:t>Eroare</a:t>
              </a:r>
              <a:endParaRPr lang="ro-RO" sz="1100">
                <a:effectLst/>
                <a:latin typeface="Times New Roman"/>
                <a:ea typeface="Times New Roman"/>
              </a:endParaRPr>
            </a:p>
          </p:txBody>
        </p:sp>
      </p:grpSp>
      <p:grpSp>
        <p:nvGrpSpPr>
          <p:cNvPr id="21" name="Group 20"/>
          <p:cNvGrpSpPr>
            <a:grpSpLocks/>
          </p:cNvGrpSpPr>
          <p:nvPr/>
        </p:nvGrpSpPr>
        <p:grpSpPr>
          <a:xfrm>
            <a:off x="1870288" y="3531584"/>
            <a:ext cx="5482688" cy="3089656"/>
            <a:chOff x="3175" y="3175"/>
            <a:chExt cx="5341620" cy="3486150"/>
          </a:xfrm>
        </p:grpSpPr>
        <p:sp>
          <p:nvSpPr>
            <p:cNvPr id="22" name="Graphic 32"/>
            <p:cNvSpPr/>
            <p:nvPr/>
          </p:nvSpPr>
          <p:spPr>
            <a:xfrm>
              <a:off x="492125" y="816355"/>
              <a:ext cx="4712335" cy="2048510"/>
            </a:xfrm>
            <a:custGeom>
              <a:avLst/>
              <a:gdLst/>
              <a:ahLst/>
              <a:cxnLst/>
              <a:rect l="l" t="t" r="r" b="b"/>
              <a:pathLst>
                <a:path w="4712335" h="2048510">
                  <a:moveTo>
                    <a:pt x="0" y="1844039"/>
                  </a:moveTo>
                  <a:lnTo>
                    <a:pt x="4712208" y="1844039"/>
                  </a:lnTo>
                </a:path>
                <a:path w="4712335" h="2048510">
                  <a:moveTo>
                    <a:pt x="0" y="1638300"/>
                  </a:moveTo>
                  <a:lnTo>
                    <a:pt x="4712208" y="1638300"/>
                  </a:lnTo>
                </a:path>
                <a:path w="4712335" h="2048510">
                  <a:moveTo>
                    <a:pt x="0" y="1434083"/>
                  </a:moveTo>
                  <a:lnTo>
                    <a:pt x="4712208" y="1434083"/>
                  </a:lnTo>
                </a:path>
                <a:path w="4712335" h="2048510">
                  <a:moveTo>
                    <a:pt x="0" y="1228343"/>
                  </a:moveTo>
                  <a:lnTo>
                    <a:pt x="4712208" y="1228343"/>
                  </a:lnTo>
                </a:path>
                <a:path w="4712335" h="2048510">
                  <a:moveTo>
                    <a:pt x="0" y="1024127"/>
                  </a:moveTo>
                  <a:lnTo>
                    <a:pt x="4712208" y="1024127"/>
                  </a:lnTo>
                </a:path>
                <a:path w="4712335" h="2048510">
                  <a:moveTo>
                    <a:pt x="0" y="818388"/>
                  </a:moveTo>
                  <a:lnTo>
                    <a:pt x="4712208" y="818388"/>
                  </a:lnTo>
                </a:path>
                <a:path w="4712335" h="2048510">
                  <a:moveTo>
                    <a:pt x="0" y="614171"/>
                  </a:moveTo>
                  <a:lnTo>
                    <a:pt x="4712208" y="614171"/>
                  </a:lnTo>
                </a:path>
                <a:path w="4712335" h="2048510">
                  <a:moveTo>
                    <a:pt x="0" y="409955"/>
                  </a:moveTo>
                  <a:lnTo>
                    <a:pt x="4712208" y="409955"/>
                  </a:lnTo>
                </a:path>
                <a:path w="4712335" h="2048510">
                  <a:moveTo>
                    <a:pt x="0" y="204215"/>
                  </a:moveTo>
                  <a:lnTo>
                    <a:pt x="4712208" y="204215"/>
                  </a:lnTo>
                </a:path>
                <a:path w="4712335" h="2048510">
                  <a:moveTo>
                    <a:pt x="0" y="0"/>
                  </a:moveTo>
                  <a:lnTo>
                    <a:pt x="4712208" y="0"/>
                  </a:lnTo>
                </a:path>
                <a:path w="4712335" h="2048510">
                  <a:moveTo>
                    <a:pt x="0" y="2048255"/>
                  </a:moveTo>
                  <a:lnTo>
                    <a:pt x="4712208" y="2048255"/>
                  </a:lnTo>
                </a:path>
              </a:pathLst>
            </a:custGeom>
            <a:ln w="6096">
              <a:solidFill>
                <a:srgbClr val="888888"/>
              </a:solidFill>
              <a:prstDash val="solid"/>
            </a:ln>
          </p:spPr>
          <p:txBody>
            <a:bodyPr wrap="square" lIns="0" tIns="0" rIns="0" bIns="0" rtlCol="0">
              <a:prstTxWarp prst="textNoShape">
                <a:avLst/>
              </a:prstTxWarp>
              <a:noAutofit/>
            </a:bodyPr>
            <a:lstStyle/>
            <a:p>
              <a:endParaRPr lang="ro-RO"/>
            </a:p>
          </p:txBody>
        </p:sp>
        <p:sp>
          <p:nvSpPr>
            <p:cNvPr id="23" name="Graphic 33"/>
            <p:cNvSpPr/>
            <p:nvPr/>
          </p:nvSpPr>
          <p:spPr>
            <a:xfrm>
              <a:off x="604901" y="816355"/>
              <a:ext cx="4488180" cy="2048510"/>
            </a:xfrm>
            <a:custGeom>
              <a:avLst/>
              <a:gdLst/>
              <a:ahLst/>
              <a:cxnLst/>
              <a:rect l="l" t="t" r="r" b="b"/>
              <a:pathLst>
                <a:path w="4488180" h="2048510">
                  <a:moveTo>
                    <a:pt x="0" y="2048255"/>
                  </a:moveTo>
                  <a:lnTo>
                    <a:pt x="224028" y="1935479"/>
                  </a:lnTo>
                  <a:lnTo>
                    <a:pt x="448056" y="1821179"/>
                  </a:lnTo>
                  <a:lnTo>
                    <a:pt x="673608" y="1708403"/>
                  </a:lnTo>
                  <a:lnTo>
                    <a:pt x="897636" y="1592579"/>
                  </a:lnTo>
                  <a:lnTo>
                    <a:pt x="1121664" y="1536191"/>
                  </a:lnTo>
                  <a:lnTo>
                    <a:pt x="1345692" y="1397507"/>
                  </a:lnTo>
                  <a:lnTo>
                    <a:pt x="1571244" y="1351788"/>
                  </a:lnTo>
                  <a:lnTo>
                    <a:pt x="1795271" y="1210055"/>
                  </a:lnTo>
                  <a:lnTo>
                    <a:pt x="2019300" y="1112519"/>
                  </a:lnTo>
                  <a:lnTo>
                    <a:pt x="2243328" y="1024127"/>
                  </a:lnTo>
                  <a:lnTo>
                    <a:pt x="2468880" y="883919"/>
                  </a:lnTo>
                  <a:lnTo>
                    <a:pt x="2692908" y="792479"/>
                  </a:lnTo>
                  <a:lnTo>
                    <a:pt x="2916936" y="697991"/>
                  </a:lnTo>
                  <a:lnTo>
                    <a:pt x="3140964" y="603503"/>
                  </a:lnTo>
                  <a:lnTo>
                    <a:pt x="3366516" y="512063"/>
                  </a:lnTo>
                  <a:lnTo>
                    <a:pt x="3590544" y="371855"/>
                  </a:lnTo>
                  <a:lnTo>
                    <a:pt x="3814572" y="280415"/>
                  </a:lnTo>
                  <a:lnTo>
                    <a:pt x="4038600" y="233171"/>
                  </a:lnTo>
                  <a:lnTo>
                    <a:pt x="4262628" y="94487"/>
                  </a:lnTo>
                  <a:lnTo>
                    <a:pt x="4488180" y="0"/>
                  </a:lnTo>
                </a:path>
              </a:pathLst>
            </a:custGeom>
            <a:ln w="18288">
              <a:solidFill>
                <a:srgbClr val="EC7C30"/>
              </a:solidFill>
              <a:prstDash val="solid"/>
            </a:ln>
          </p:spPr>
          <p:txBody>
            <a:bodyPr wrap="square" lIns="0" tIns="0" rIns="0" bIns="0" rtlCol="0">
              <a:prstTxWarp prst="textNoShape">
                <a:avLst/>
              </a:prstTxWarp>
              <a:noAutofit/>
            </a:bodyPr>
            <a:lstStyle/>
            <a:p>
              <a:endParaRPr lang="ro-RO"/>
            </a:p>
          </p:txBody>
        </p:sp>
        <p:sp>
          <p:nvSpPr>
            <p:cNvPr id="24" name="Graphic 34"/>
            <p:cNvSpPr/>
            <p:nvPr/>
          </p:nvSpPr>
          <p:spPr>
            <a:xfrm>
              <a:off x="604901" y="816355"/>
              <a:ext cx="4488180" cy="2048510"/>
            </a:xfrm>
            <a:custGeom>
              <a:avLst/>
              <a:gdLst/>
              <a:ahLst/>
              <a:cxnLst/>
              <a:rect l="l" t="t" r="r" b="b"/>
              <a:pathLst>
                <a:path w="4488180" h="2048510">
                  <a:moveTo>
                    <a:pt x="0" y="2048255"/>
                  </a:moveTo>
                  <a:lnTo>
                    <a:pt x="224028" y="1877567"/>
                  </a:lnTo>
                  <a:lnTo>
                    <a:pt x="448056" y="1877567"/>
                  </a:lnTo>
                  <a:lnTo>
                    <a:pt x="673608" y="1708403"/>
                  </a:lnTo>
                  <a:lnTo>
                    <a:pt x="897636" y="1708403"/>
                  </a:lnTo>
                  <a:lnTo>
                    <a:pt x="1121664" y="1536191"/>
                  </a:lnTo>
                  <a:lnTo>
                    <a:pt x="1345692" y="1536191"/>
                  </a:lnTo>
                  <a:lnTo>
                    <a:pt x="1571244" y="1280159"/>
                  </a:lnTo>
                  <a:lnTo>
                    <a:pt x="1795271" y="1280159"/>
                  </a:lnTo>
                  <a:lnTo>
                    <a:pt x="2019300" y="1024127"/>
                  </a:lnTo>
                  <a:lnTo>
                    <a:pt x="2243328" y="1024127"/>
                  </a:lnTo>
                  <a:lnTo>
                    <a:pt x="2468880" y="853439"/>
                  </a:lnTo>
                  <a:lnTo>
                    <a:pt x="2692908" y="853439"/>
                  </a:lnTo>
                  <a:lnTo>
                    <a:pt x="2916936" y="684276"/>
                  </a:lnTo>
                  <a:lnTo>
                    <a:pt x="3140964" y="684276"/>
                  </a:lnTo>
                  <a:lnTo>
                    <a:pt x="3366516" y="512063"/>
                  </a:lnTo>
                  <a:lnTo>
                    <a:pt x="3590544" y="256031"/>
                  </a:lnTo>
                  <a:lnTo>
                    <a:pt x="3814572" y="256031"/>
                  </a:lnTo>
                  <a:lnTo>
                    <a:pt x="4038600" y="256031"/>
                  </a:lnTo>
                  <a:lnTo>
                    <a:pt x="4262628" y="0"/>
                  </a:lnTo>
                  <a:lnTo>
                    <a:pt x="4488180" y="0"/>
                  </a:lnTo>
                </a:path>
              </a:pathLst>
            </a:custGeom>
            <a:ln w="18288">
              <a:solidFill>
                <a:srgbClr val="A4A4A4"/>
              </a:solidFill>
              <a:prstDash val="solid"/>
            </a:ln>
          </p:spPr>
          <p:txBody>
            <a:bodyPr wrap="square" lIns="0" tIns="0" rIns="0" bIns="0" rtlCol="0">
              <a:prstTxWarp prst="textNoShape">
                <a:avLst/>
              </a:prstTxWarp>
              <a:noAutofit/>
            </a:bodyPr>
            <a:lstStyle/>
            <a:p>
              <a:endParaRPr lang="ro-RO"/>
            </a:p>
          </p:txBody>
        </p:sp>
        <p:sp>
          <p:nvSpPr>
            <p:cNvPr id="25" name="Graphic 35"/>
            <p:cNvSpPr/>
            <p:nvPr/>
          </p:nvSpPr>
          <p:spPr>
            <a:xfrm>
              <a:off x="882269" y="3297428"/>
              <a:ext cx="243840" cy="1270"/>
            </a:xfrm>
            <a:custGeom>
              <a:avLst/>
              <a:gdLst/>
              <a:ahLst/>
              <a:cxnLst/>
              <a:rect l="l" t="t" r="r" b="b"/>
              <a:pathLst>
                <a:path w="243840">
                  <a:moveTo>
                    <a:pt x="0" y="0"/>
                  </a:moveTo>
                  <a:lnTo>
                    <a:pt x="243840" y="0"/>
                  </a:lnTo>
                </a:path>
              </a:pathLst>
            </a:custGeom>
            <a:ln w="18288">
              <a:solidFill>
                <a:srgbClr val="EC7C30"/>
              </a:solidFill>
              <a:prstDash val="solid"/>
            </a:ln>
          </p:spPr>
          <p:txBody>
            <a:bodyPr wrap="square" lIns="0" tIns="0" rIns="0" bIns="0" rtlCol="0">
              <a:prstTxWarp prst="textNoShape">
                <a:avLst/>
              </a:prstTxWarp>
              <a:noAutofit/>
            </a:bodyPr>
            <a:lstStyle/>
            <a:p>
              <a:endParaRPr lang="ro-RO"/>
            </a:p>
          </p:txBody>
        </p:sp>
        <p:sp>
          <p:nvSpPr>
            <p:cNvPr id="26" name="Graphic 36"/>
            <p:cNvSpPr/>
            <p:nvPr/>
          </p:nvSpPr>
          <p:spPr>
            <a:xfrm>
              <a:off x="2807080" y="3297428"/>
              <a:ext cx="243840" cy="1270"/>
            </a:xfrm>
            <a:custGeom>
              <a:avLst/>
              <a:gdLst/>
              <a:ahLst/>
              <a:cxnLst/>
              <a:rect l="l" t="t" r="r" b="b"/>
              <a:pathLst>
                <a:path w="243840">
                  <a:moveTo>
                    <a:pt x="0" y="0"/>
                  </a:moveTo>
                  <a:lnTo>
                    <a:pt x="243839" y="0"/>
                  </a:lnTo>
                </a:path>
              </a:pathLst>
            </a:custGeom>
            <a:ln w="18288">
              <a:solidFill>
                <a:srgbClr val="A4A4A4"/>
              </a:solidFill>
              <a:prstDash val="solid"/>
            </a:ln>
          </p:spPr>
          <p:txBody>
            <a:bodyPr wrap="square" lIns="0" tIns="0" rIns="0" bIns="0" rtlCol="0">
              <a:prstTxWarp prst="textNoShape">
                <a:avLst/>
              </a:prstTxWarp>
              <a:noAutofit/>
            </a:bodyPr>
            <a:lstStyle/>
            <a:p>
              <a:endParaRPr lang="ro-RO"/>
            </a:p>
          </p:txBody>
        </p:sp>
        <p:sp>
          <p:nvSpPr>
            <p:cNvPr id="27" name="Graphic 37"/>
            <p:cNvSpPr/>
            <p:nvPr/>
          </p:nvSpPr>
          <p:spPr>
            <a:xfrm>
              <a:off x="3175" y="3175"/>
              <a:ext cx="5341620" cy="3486150"/>
            </a:xfrm>
            <a:custGeom>
              <a:avLst/>
              <a:gdLst/>
              <a:ahLst/>
              <a:cxnLst/>
              <a:rect l="l" t="t" r="r" b="b"/>
              <a:pathLst>
                <a:path w="5341620" h="3486150">
                  <a:moveTo>
                    <a:pt x="0" y="3486150"/>
                  </a:moveTo>
                  <a:lnTo>
                    <a:pt x="5341620" y="3486150"/>
                  </a:lnTo>
                  <a:lnTo>
                    <a:pt x="5341620" y="0"/>
                  </a:lnTo>
                  <a:lnTo>
                    <a:pt x="0" y="0"/>
                  </a:lnTo>
                  <a:lnTo>
                    <a:pt x="0" y="3486150"/>
                  </a:lnTo>
                  <a:close/>
                </a:path>
              </a:pathLst>
            </a:custGeom>
            <a:ln w="6350">
              <a:solidFill>
                <a:srgbClr val="888888"/>
              </a:solidFill>
              <a:prstDash val="solid"/>
            </a:ln>
          </p:spPr>
          <p:txBody>
            <a:bodyPr wrap="square" lIns="0" tIns="0" rIns="0" bIns="0" rtlCol="0">
              <a:prstTxWarp prst="textNoShape">
                <a:avLst/>
              </a:prstTxWarp>
              <a:noAutofit/>
            </a:bodyPr>
            <a:lstStyle/>
            <a:p>
              <a:endParaRPr lang="ro-RO"/>
            </a:p>
          </p:txBody>
        </p:sp>
        <p:sp>
          <p:nvSpPr>
            <p:cNvPr id="28" name="Textbox 38"/>
            <p:cNvSpPr txBox="1"/>
            <p:nvPr/>
          </p:nvSpPr>
          <p:spPr>
            <a:xfrm>
              <a:off x="588137" y="145669"/>
              <a:ext cx="4184015" cy="508000"/>
            </a:xfrm>
            <a:prstGeom prst="rect">
              <a:avLst/>
            </a:prstGeom>
          </p:spPr>
          <p:txBody>
            <a:bodyPr wrap="square" lIns="0" tIns="0" rIns="0" bIns="0" rtlCol="0">
              <a:noAutofit/>
            </a:bodyPr>
            <a:lstStyle/>
            <a:p>
              <a:pPr marR="11430" algn="ctr">
                <a:lnSpc>
                  <a:spcPts val="1835"/>
                </a:lnSpc>
                <a:spcAft>
                  <a:spcPts val="0"/>
                </a:spcAft>
              </a:pPr>
              <a:r>
                <a:rPr lang="ro-RO" sz="1400" b="1" dirty="0">
                  <a:effectLst/>
                  <a:latin typeface="Calibri"/>
                  <a:ea typeface="Times New Roman"/>
                  <a:cs typeface="Times New Roman"/>
                </a:rPr>
                <a:t>Grafic</a:t>
              </a:r>
              <a:r>
                <a:rPr lang="ro-RO" sz="1400" b="1" spc="-50" dirty="0">
                  <a:effectLst/>
                  <a:latin typeface="Calibri"/>
                  <a:ea typeface="Times New Roman"/>
                  <a:cs typeface="Times New Roman"/>
                </a:rPr>
                <a:t> </a:t>
              </a:r>
              <a:r>
                <a:rPr lang="ro-RO" sz="1400" b="1" dirty="0">
                  <a:effectLst/>
                  <a:latin typeface="Calibri"/>
                  <a:ea typeface="Times New Roman"/>
                  <a:cs typeface="Times New Roman"/>
                </a:rPr>
                <a:t>temperatură</a:t>
              </a:r>
              <a:r>
                <a:rPr lang="ro-RO" sz="1400" b="1" spc="-60" dirty="0">
                  <a:effectLst/>
                  <a:latin typeface="Calibri"/>
                  <a:ea typeface="Times New Roman"/>
                  <a:cs typeface="Times New Roman"/>
                </a:rPr>
                <a:t> </a:t>
              </a:r>
              <a:r>
                <a:rPr lang="ro-RO" sz="1400" b="1" dirty="0">
                  <a:effectLst/>
                  <a:latin typeface="Calibri"/>
                  <a:ea typeface="Times New Roman"/>
                  <a:cs typeface="Times New Roman"/>
                </a:rPr>
                <a:t>citită</a:t>
              </a:r>
              <a:r>
                <a:rPr lang="ro-RO" sz="1400" b="1" spc="-50" dirty="0">
                  <a:effectLst/>
                  <a:latin typeface="Calibri"/>
                  <a:ea typeface="Times New Roman"/>
                  <a:cs typeface="Times New Roman"/>
                </a:rPr>
                <a:t> </a:t>
              </a:r>
              <a:r>
                <a:rPr lang="ro-RO" sz="1400" b="1" dirty="0">
                  <a:effectLst/>
                  <a:latin typeface="Calibri"/>
                  <a:ea typeface="Times New Roman"/>
                  <a:cs typeface="Times New Roman"/>
                </a:rPr>
                <a:t>de</a:t>
              </a:r>
              <a:r>
                <a:rPr lang="ro-RO" sz="1400" b="1" spc="-45" dirty="0">
                  <a:effectLst/>
                  <a:latin typeface="Calibri"/>
                  <a:ea typeface="Times New Roman"/>
                  <a:cs typeface="Times New Roman"/>
                </a:rPr>
                <a:t> </a:t>
              </a:r>
              <a:r>
                <a:rPr lang="ro-RO" sz="1400" b="1" dirty="0">
                  <a:effectLst/>
                  <a:latin typeface="Calibri"/>
                  <a:ea typeface="Times New Roman"/>
                  <a:cs typeface="Times New Roman"/>
                </a:rPr>
                <a:t>la</a:t>
              </a:r>
              <a:r>
                <a:rPr lang="ro-RO" sz="1400" b="1" spc="-50" dirty="0">
                  <a:effectLst/>
                  <a:latin typeface="Calibri"/>
                  <a:ea typeface="Times New Roman"/>
                  <a:cs typeface="Times New Roman"/>
                </a:rPr>
                <a:t> </a:t>
              </a:r>
              <a:r>
                <a:rPr lang="ro-RO" sz="1400" b="1" dirty="0">
                  <a:effectLst/>
                  <a:latin typeface="Calibri"/>
                  <a:ea typeface="Times New Roman"/>
                  <a:cs typeface="Times New Roman"/>
                </a:rPr>
                <a:t>ADC-ul</a:t>
              </a:r>
              <a:r>
                <a:rPr lang="ro-RO" sz="1400" b="1" spc="-40" dirty="0">
                  <a:effectLst/>
                  <a:latin typeface="Calibri"/>
                  <a:ea typeface="Times New Roman"/>
                  <a:cs typeface="Times New Roman"/>
                </a:rPr>
                <a:t> </a:t>
              </a:r>
              <a:r>
                <a:rPr lang="ro-RO" sz="1400" b="1" spc="-10" dirty="0">
                  <a:effectLst/>
                  <a:latin typeface="Calibri"/>
                  <a:ea typeface="Times New Roman"/>
                  <a:cs typeface="Times New Roman"/>
                </a:rPr>
                <a:t>intern</a:t>
              </a:r>
              <a:endParaRPr lang="ro-RO" sz="1000" dirty="0">
                <a:effectLst/>
                <a:latin typeface="Times New Roman"/>
                <a:ea typeface="Times New Roman"/>
              </a:endParaRPr>
            </a:p>
            <a:p>
              <a:pPr marL="1905" marR="11430" algn="ctr">
                <a:lnSpc>
                  <a:spcPts val="2165"/>
                </a:lnSpc>
                <a:spcAft>
                  <a:spcPts val="0"/>
                </a:spcAft>
              </a:pPr>
              <a:r>
                <a:rPr lang="ro-RO" sz="1400" b="1" dirty="0">
                  <a:effectLst/>
                  <a:latin typeface="Calibri"/>
                  <a:ea typeface="Times New Roman"/>
                  <a:cs typeface="Times New Roman"/>
                </a:rPr>
                <a:t>vs</a:t>
              </a:r>
              <a:r>
                <a:rPr lang="ro-RO" sz="1400" b="1" spc="-45" dirty="0">
                  <a:effectLst/>
                  <a:latin typeface="Calibri"/>
                  <a:ea typeface="Times New Roman"/>
                  <a:cs typeface="Times New Roman"/>
                </a:rPr>
                <a:t> </a:t>
              </a:r>
              <a:r>
                <a:rPr lang="ro-RO" sz="1400" b="1" dirty="0">
                  <a:effectLst/>
                  <a:latin typeface="Calibri"/>
                  <a:ea typeface="Times New Roman"/>
                  <a:cs typeface="Times New Roman"/>
                </a:rPr>
                <a:t>temperatură</a:t>
              </a:r>
              <a:r>
                <a:rPr lang="ro-RO" sz="1400" b="1" spc="-45" dirty="0">
                  <a:effectLst/>
                  <a:latin typeface="Calibri"/>
                  <a:ea typeface="Times New Roman"/>
                  <a:cs typeface="Times New Roman"/>
                </a:rPr>
                <a:t> </a:t>
              </a:r>
              <a:r>
                <a:rPr lang="ro-RO" sz="1400" b="1" dirty="0">
                  <a:effectLst/>
                  <a:latin typeface="Calibri"/>
                  <a:ea typeface="Times New Roman"/>
                  <a:cs typeface="Times New Roman"/>
                </a:rPr>
                <a:t>citită</a:t>
              </a:r>
              <a:r>
                <a:rPr lang="ro-RO" sz="1400" b="1" spc="-35" dirty="0">
                  <a:effectLst/>
                  <a:latin typeface="Calibri"/>
                  <a:ea typeface="Times New Roman"/>
                  <a:cs typeface="Times New Roman"/>
                </a:rPr>
                <a:t> </a:t>
              </a:r>
              <a:r>
                <a:rPr lang="ro-RO" sz="1400" b="1" dirty="0">
                  <a:effectLst/>
                  <a:latin typeface="Calibri"/>
                  <a:ea typeface="Times New Roman"/>
                  <a:cs typeface="Times New Roman"/>
                </a:rPr>
                <a:t>de</a:t>
              </a:r>
              <a:r>
                <a:rPr lang="ro-RO" sz="1400" b="1" spc="-35" dirty="0">
                  <a:effectLst/>
                  <a:latin typeface="Calibri"/>
                  <a:ea typeface="Times New Roman"/>
                  <a:cs typeface="Times New Roman"/>
                </a:rPr>
                <a:t> </a:t>
              </a:r>
              <a:r>
                <a:rPr lang="ro-RO" sz="1400" b="1" dirty="0">
                  <a:effectLst/>
                  <a:latin typeface="Calibri"/>
                  <a:ea typeface="Times New Roman"/>
                  <a:cs typeface="Times New Roman"/>
                </a:rPr>
                <a:t>la</a:t>
              </a:r>
              <a:r>
                <a:rPr lang="ro-RO" sz="1400" b="1" spc="-20" dirty="0">
                  <a:effectLst/>
                  <a:latin typeface="Calibri"/>
                  <a:ea typeface="Times New Roman"/>
                  <a:cs typeface="Times New Roman"/>
                </a:rPr>
                <a:t> </a:t>
              </a:r>
              <a:r>
                <a:rPr lang="ro-RO" sz="1400" b="1" dirty="0">
                  <a:effectLst/>
                  <a:latin typeface="Calibri"/>
                  <a:ea typeface="Times New Roman"/>
                  <a:cs typeface="Times New Roman"/>
                </a:rPr>
                <a:t>ADC-ul</a:t>
              </a:r>
              <a:r>
                <a:rPr lang="ro-RO" sz="1400" b="1" spc="-30" dirty="0">
                  <a:effectLst/>
                  <a:latin typeface="Calibri"/>
                  <a:ea typeface="Times New Roman"/>
                  <a:cs typeface="Times New Roman"/>
                </a:rPr>
                <a:t> </a:t>
              </a:r>
              <a:r>
                <a:rPr lang="ro-RO" sz="1400" b="1" spc="-10" dirty="0">
                  <a:effectLst/>
                  <a:latin typeface="Calibri"/>
                  <a:ea typeface="Times New Roman"/>
                  <a:cs typeface="Times New Roman"/>
                </a:rPr>
                <a:t>extern</a:t>
              </a:r>
              <a:endParaRPr lang="ro-RO" sz="1000" dirty="0">
                <a:effectLst/>
                <a:latin typeface="Times New Roman"/>
                <a:ea typeface="Times New Roman"/>
              </a:endParaRPr>
            </a:p>
          </p:txBody>
        </p:sp>
        <p:sp>
          <p:nvSpPr>
            <p:cNvPr id="29" name="Textbox 39"/>
            <p:cNvSpPr txBox="1"/>
            <p:nvPr/>
          </p:nvSpPr>
          <p:spPr>
            <a:xfrm>
              <a:off x="85826" y="758316"/>
              <a:ext cx="302260" cy="2175510"/>
            </a:xfrm>
            <a:prstGeom prst="rect">
              <a:avLst/>
            </a:prstGeom>
          </p:spPr>
          <p:txBody>
            <a:bodyPr wrap="square" lIns="0" tIns="0" rIns="0" bIns="0" rtlCol="0">
              <a:noAutofit/>
            </a:bodyPr>
            <a:lstStyle/>
            <a:p>
              <a:pPr marR="11430" algn="r">
                <a:lnSpc>
                  <a:spcPts val="1015"/>
                </a:lnSpc>
                <a:spcAft>
                  <a:spcPts val="0"/>
                </a:spcAft>
              </a:pPr>
              <a:r>
                <a:rPr lang="ro-RO" sz="1000" spc="-10">
                  <a:effectLst/>
                  <a:latin typeface="Calibri"/>
                  <a:ea typeface="Times New Roman"/>
                  <a:cs typeface="Times New Roman"/>
                </a:rPr>
                <a:t>100,0</a:t>
              </a:r>
              <a:endParaRPr lang="ro-RO" sz="1100">
                <a:effectLst/>
                <a:latin typeface="Times New Roman"/>
                <a:ea typeface="Times New Roman"/>
              </a:endParaRPr>
            </a:p>
            <a:p>
              <a:pPr marR="12700" algn="r">
                <a:spcBef>
                  <a:spcPts val="390"/>
                </a:spcBef>
                <a:spcAft>
                  <a:spcPts val="0"/>
                </a:spcAft>
              </a:pPr>
              <a:r>
                <a:rPr lang="ro-RO" sz="1000" spc="-20">
                  <a:effectLst/>
                  <a:latin typeface="Calibri"/>
                  <a:ea typeface="Times New Roman"/>
                  <a:cs typeface="Times New Roman"/>
                </a:rPr>
                <a:t>90,0</a:t>
              </a:r>
              <a:endParaRPr lang="ro-RO" sz="1100">
                <a:effectLst/>
                <a:latin typeface="Times New Roman"/>
                <a:ea typeface="Times New Roman"/>
              </a:endParaRPr>
            </a:p>
            <a:p>
              <a:pPr marR="12700" algn="r">
                <a:spcBef>
                  <a:spcPts val="395"/>
                </a:spcBef>
                <a:spcAft>
                  <a:spcPts val="0"/>
                </a:spcAft>
              </a:pPr>
              <a:r>
                <a:rPr lang="ro-RO" sz="1000" spc="-20">
                  <a:effectLst/>
                  <a:latin typeface="Calibri"/>
                  <a:ea typeface="Times New Roman"/>
                  <a:cs typeface="Times New Roman"/>
                </a:rPr>
                <a:t>80,0</a:t>
              </a:r>
              <a:endParaRPr lang="ro-RO" sz="1100">
                <a:effectLst/>
                <a:latin typeface="Times New Roman"/>
                <a:ea typeface="Times New Roman"/>
              </a:endParaRPr>
            </a:p>
            <a:p>
              <a:pPr marR="12700" algn="r">
                <a:spcBef>
                  <a:spcPts val="390"/>
                </a:spcBef>
                <a:spcAft>
                  <a:spcPts val="0"/>
                </a:spcAft>
              </a:pPr>
              <a:r>
                <a:rPr lang="ro-RO" sz="1000" spc="-20">
                  <a:effectLst/>
                  <a:latin typeface="Calibri"/>
                  <a:ea typeface="Times New Roman"/>
                  <a:cs typeface="Times New Roman"/>
                </a:rPr>
                <a:t>70,0</a:t>
              </a:r>
              <a:endParaRPr lang="ro-RO" sz="1100">
                <a:effectLst/>
                <a:latin typeface="Times New Roman"/>
                <a:ea typeface="Times New Roman"/>
              </a:endParaRPr>
            </a:p>
            <a:p>
              <a:pPr marR="12700" algn="r">
                <a:spcBef>
                  <a:spcPts val="395"/>
                </a:spcBef>
                <a:spcAft>
                  <a:spcPts val="0"/>
                </a:spcAft>
              </a:pPr>
              <a:r>
                <a:rPr lang="ro-RO" sz="1000" spc="-20">
                  <a:effectLst/>
                  <a:latin typeface="Calibri"/>
                  <a:ea typeface="Times New Roman"/>
                  <a:cs typeface="Times New Roman"/>
                </a:rPr>
                <a:t>60,0</a:t>
              </a:r>
              <a:endParaRPr lang="ro-RO" sz="1100">
                <a:effectLst/>
                <a:latin typeface="Times New Roman"/>
                <a:ea typeface="Times New Roman"/>
              </a:endParaRPr>
            </a:p>
            <a:p>
              <a:pPr marR="12700" algn="r">
                <a:spcBef>
                  <a:spcPts val="390"/>
                </a:spcBef>
                <a:spcAft>
                  <a:spcPts val="0"/>
                </a:spcAft>
              </a:pPr>
              <a:r>
                <a:rPr lang="ro-RO" sz="1000" spc="-20">
                  <a:effectLst/>
                  <a:latin typeface="Calibri"/>
                  <a:ea typeface="Times New Roman"/>
                  <a:cs typeface="Times New Roman"/>
                </a:rPr>
                <a:t>50,0</a:t>
              </a:r>
              <a:endParaRPr lang="ro-RO" sz="1100">
                <a:effectLst/>
                <a:latin typeface="Times New Roman"/>
                <a:ea typeface="Times New Roman"/>
              </a:endParaRPr>
            </a:p>
            <a:p>
              <a:pPr marR="12700" algn="r">
                <a:spcBef>
                  <a:spcPts val="395"/>
                </a:spcBef>
                <a:spcAft>
                  <a:spcPts val="0"/>
                </a:spcAft>
              </a:pPr>
              <a:r>
                <a:rPr lang="ro-RO" sz="1000" spc="-20">
                  <a:effectLst/>
                  <a:latin typeface="Calibri"/>
                  <a:ea typeface="Times New Roman"/>
                  <a:cs typeface="Times New Roman"/>
                </a:rPr>
                <a:t>40,0</a:t>
              </a:r>
              <a:endParaRPr lang="ro-RO" sz="1100">
                <a:effectLst/>
                <a:latin typeface="Times New Roman"/>
                <a:ea typeface="Times New Roman"/>
              </a:endParaRPr>
            </a:p>
            <a:p>
              <a:pPr marR="12700" algn="r">
                <a:spcBef>
                  <a:spcPts val="395"/>
                </a:spcBef>
                <a:spcAft>
                  <a:spcPts val="0"/>
                </a:spcAft>
              </a:pPr>
              <a:r>
                <a:rPr lang="ro-RO" sz="1000" spc="-20">
                  <a:effectLst/>
                  <a:latin typeface="Calibri"/>
                  <a:ea typeface="Times New Roman"/>
                  <a:cs typeface="Times New Roman"/>
                </a:rPr>
                <a:t>30,0</a:t>
              </a:r>
              <a:endParaRPr lang="ro-RO" sz="1100">
                <a:effectLst/>
                <a:latin typeface="Times New Roman"/>
                <a:ea typeface="Times New Roman"/>
              </a:endParaRPr>
            </a:p>
            <a:p>
              <a:pPr marR="12700" algn="r">
                <a:spcBef>
                  <a:spcPts val="390"/>
                </a:spcBef>
                <a:spcAft>
                  <a:spcPts val="0"/>
                </a:spcAft>
              </a:pPr>
              <a:r>
                <a:rPr lang="ro-RO" sz="1000" spc="-20">
                  <a:effectLst/>
                  <a:latin typeface="Calibri"/>
                  <a:ea typeface="Times New Roman"/>
                  <a:cs typeface="Times New Roman"/>
                </a:rPr>
                <a:t>20,0</a:t>
              </a:r>
              <a:endParaRPr lang="ro-RO" sz="1100">
                <a:effectLst/>
                <a:latin typeface="Times New Roman"/>
                <a:ea typeface="Times New Roman"/>
              </a:endParaRPr>
            </a:p>
            <a:p>
              <a:pPr marR="12700" algn="r">
                <a:spcBef>
                  <a:spcPts val="390"/>
                </a:spcBef>
                <a:spcAft>
                  <a:spcPts val="0"/>
                </a:spcAft>
              </a:pPr>
              <a:r>
                <a:rPr lang="ro-RO" sz="1000" spc="-20">
                  <a:effectLst/>
                  <a:latin typeface="Calibri"/>
                  <a:ea typeface="Times New Roman"/>
                  <a:cs typeface="Times New Roman"/>
                </a:rPr>
                <a:t>10,0</a:t>
              </a:r>
              <a:endParaRPr lang="ro-RO" sz="1100">
                <a:effectLst/>
                <a:latin typeface="Times New Roman"/>
                <a:ea typeface="Times New Roman"/>
              </a:endParaRPr>
            </a:p>
            <a:p>
              <a:pPr marR="11430" algn="r">
                <a:lnSpc>
                  <a:spcPts val="1200"/>
                </a:lnSpc>
                <a:spcBef>
                  <a:spcPts val="395"/>
                </a:spcBef>
                <a:spcAft>
                  <a:spcPts val="0"/>
                </a:spcAft>
              </a:pPr>
              <a:r>
                <a:rPr lang="ro-RO" sz="1000" spc="-25">
                  <a:effectLst/>
                  <a:latin typeface="Calibri"/>
                  <a:ea typeface="Times New Roman"/>
                  <a:cs typeface="Times New Roman"/>
                </a:rPr>
                <a:t>0,0</a:t>
              </a:r>
              <a:endParaRPr lang="ro-RO" sz="1100">
                <a:effectLst/>
                <a:latin typeface="Times New Roman"/>
                <a:ea typeface="Times New Roman"/>
              </a:endParaRPr>
            </a:p>
          </p:txBody>
        </p:sp>
        <p:sp>
          <p:nvSpPr>
            <p:cNvPr id="30" name="Textbox 40"/>
            <p:cNvSpPr txBox="1"/>
            <p:nvPr/>
          </p:nvSpPr>
          <p:spPr>
            <a:xfrm>
              <a:off x="573151" y="2972435"/>
              <a:ext cx="4597400" cy="127000"/>
            </a:xfrm>
            <a:prstGeom prst="rect">
              <a:avLst/>
            </a:prstGeom>
          </p:spPr>
          <p:txBody>
            <a:bodyPr wrap="square" lIns="0" tIns="0" rIns="0" bIns="0" rtlCol="0">
              <a:noAutofit/>
            </a:bodyPr>
            <a:lstStyle/>
            <a:p>
              <a:pPr>
                <a:lnSpc>
                  <a:spcPts val="995"/>
                </a:lnSpc>
                <a:spcAft>
                  <a:spcPts val="0"/>
                </a:spcAft>
                <a:tabLst>
                  <a:tab pos="224155" algn="l"/>
                  <a:tab pos="448310" algn="l"/>
                  <a:tab pos="673100" algn="l"/>
                  <a:tab pos="897255" algn="l"/>
                  <a:tab pos="1121410" algn="l"/>
                  <a:tab pos="1346200" algn="l"/>
                  <a:tab pos="1570355" algn="l"/>
                  <a:tab pos="1795145" algn="l"/>
                  <a:tab pos="1987550" algn="l"/>
                </a:tabLst>
              </a:pPr>
              <a:r>
                <a:rPr lang="ro-RO" sz="1000" spc="-50">
                  <a:effectLst/>
                  <a:latin typeface="Calibri"/>
                  <a:ea typeface="Times New Roman"/>
                  <a:cs typeface="Times New Roman"/>
                </a:rPr>
                <a:t>1</a:t>
              </a:r>
              <a:r>
                <a:rPr lang="ro-RO" sz="1000">
                  <a:effectLst/>
                  <a:latin typeface="Calibri"/>
                  <a:ea typeface="Times New Roman"/>
                  <a:cs typeface="Times New Roman"/>
                </a:rPr>
                <a:t>	</a:t>
              </a:r>
              <a:r>
                <a:rPr lang="ro-RO" sz="1000" spc="-50">
                  <a:effectLst/>
                  <a:latin typeface="Calibri"/>
                  <a:ea typeface="Times New Roman"/>
                  <a:cs typeface="Times New Roman"/>
                </a:rPr>
                <a:t>2</a:t>
              </a:r>
              <a:r>
                <a:rPr lang="ro-RO" sz="1000">
                  <a:effectLst/>
                  <a:latin typeface="Calibri"/>
                  <a:ea typeface="Times New Roman"/>
                  <a:cs typeface="Times New Roman"/>
                </a:rPr>
                <a:t>	</a:t>
              </a:r>
              <a:r>
                <a:rPr lang="ro-RO" sz="1000" spc="-50">
                  <a:effectLst/>
                  <a:latin typeface="Calibri"/>
                  <a:ea typeface="Times New Roman"/>
                  <a:cs typeface="Times New Roman"/>
                </a:rPr>
                <a:t>3</a:t>
              </a:r>
              <a:r>
                <a:rPr lang="ro-RO" sz="1000">
                  <a:effectLst/>
                  <a:latin typeface="Calibri"/>
                  <a:ea typeface="Times New Roman"/>
                  <a:cs typeface="Times New Roman"/>
                </a:rPr>
                <a:t>	</a:t>
              </a:r>
              <a:r>
                <a:rPr lang="ro-RO" sz="1000" spc="-50">
                  <a:effectLst/>
                  <a:latin typeface="Calibri"/>
                  <a:ea typeface="Times New Roman"/>
                  <a:cs typeface="Times New Roman"/>
                </a:rPr>
                <a:t>4</a:t>
              </a:r>
              <a:r>
                <a:rPr lang="ro-RO" sz="1000">
                  <a:effectLst/>
                  <a:latin typeface="Calibri"/>
                  <a:ea typeface="Times New Roman"/>
                  <a:cs typeface="Times New Roman"/>
                </a:rPr>
                <a:t>	</a:t>
              </a:r>
              <a:r>
                <a:rPr lang="ro-RO" sz="1000" spc="-50">
                  <a:effectLst/>
                  <a:latin typeface="Calibri"/>
                  <a:ea typeface="Times New Roman"/>
                  <a:cs typeface="Times New Roman"/>
                </a:rPr>
                <a:t>5</a:t>
              </a:r>
              <a:r>
                <a:rPr lang="ro-RO" sz="1000">
                  <a:effectLst/>
                  <a:latin typeface="Calibri"/>
                  <a:ea typeface="Times New Roman"/>
                  <a:cs typeface="Times New Roman"/>
                </a:rPr>
                <a:t>	</a:t>
              </a:r>
              <a:r>
                <a:rPr lang="ro-RO" sz="1000" spc="-50">
                  <a:effectLst/>
                  <a:latin typeface="Calibri"/>
                  <a:ea typeface="Times New Roman"/>
                  <a:cs typeface="Times New Roman"/>
                </a:rPr>
                <a:t>6</a:t>
              </a:r>
              <a:r>
                <a:rPr lang="ro-RO" sz="1000">
                  <a:effectLst/>
                  <a:latin typeface="Calibri"/>
                  <a:ea typeface="Times New Roman"/>
                  <a:cs typeface="Times New Roman"/>
                </a:rPr>
                <a:t>	</a:t>
              </a:r>
              <a:r>
                <a:rPr lang="ro-RO" sz="1000" spc="-50">
                  <a:effectLst/>
                  <a:latin typeface="Calibri"/>
                  <a:ea typeface="Times New Roman"/>
                  <a:cs typeface="Times New Roman"/>
                </a:rPr>
                <a:t>7</a:t>
              </a:r>
              <a:r>
                <a:rPr lang="ro-RO" sz="1000">
                  <a:effectLst/>
                  <a:latin typeface="Calibri"/>
                  <a:ea typeface="Times New Roman"/>
                  <a:cs typeface="Times New Roman"/>
                </a:rPr>
                <a:t>	</a:t>
              </a:r>
              <a:r>
                <a:rPr lang="ro-RO" sz="1000" spc="-50">
                  <a:effectLst/>
                  <a:latin typeface="Calibri"/>
                  <a:ea typeface="Times New Roman"/>
                  <a:cs typeface="Times New Roman"/>
                </a:rPr>
                <a:t>8</a:t>
              </a:r>
              <a:r>
                <a:rPr lang="ro-RO" sz="1000">
                  <a:effectLst/>
                  <a:latin typeface="Calibri"/>
                  <a:ea typeface="Times New Roman"/>
                  <a:cs typeface="Times New Roman"/>
                </a:rPr>
                <a:t>	</a:t>
              </a:r>
              <a:r>
                <a:rPr lang="ro-RO" sz="1000" spc="-50">
                  <a:effectLst/>
                  <a:latin typeface="Calibri"/>
                  <a:ea typeface="Times New Roman"/>
                  <a:cs typeface="Times New Roman"/>
                </a:rPr>
                <a:t>9</a:t>
              </a:r>
              <a:r>
                <a:rPr lang="ro-RO" sz="1000">
                  <a:effectLst/>
                  <a:latin typeface="Calibri"/>
                  <a:ea typeface="Times New Roman"/>
                  <a:cs typeface="Times New Roman"/>
                </a:rPr>
                <a:t>	10</a:t>
              </a:r>
              <a:r>
                <a:rPr lang="ro-RO" sz="1000" spc="140">
                  <a:effectLst/>
                  <a:latin typeface="Calibri"/>
                  <a:ea typeface="Times New Roman"/>
                  <a:cs typeface="Times New Roman"/>
                </a:rPr>
                <a:t>  </a:t>
              </a:r>
              <a:r>
                <a:rPr lang="ro-RO" sz="1000">
                  <a:effectLst/>
                  <a:latin typeface="Calibri"/>
                  <a:ea typeface="Times New Roman"/>
                  <a:cs typeface="Times New Roman"/>
                </a:rPr>
                <a:t>11</a:t>
              </a:r>
              <a:r>
                <a:rPr lang="ro-RO" sz="1000" spc="145">
                  <a:effectLst/>
                  <a:latin typeface="Calibri"/>
                  <a:ea typeface="Times New Roman"/>
                  <a:cs typeface="Times New Roman"/>
                </a:rPr>
                <a:t>  </a:t>
              </a:r>
              <a:r>
                <a:rPr lang="ro-RO" sz="1000">
                  <a:effectLst/>
                  <a:latin typeface="Calibri"/>
                  <a:ea typeface="Times New Roman"/>
                  <a:cs typeface="Times New Roman"/>
                </a:rPr>
                <a:t>12</a:t>
              </a:r>
              <a:r>
                <a:rPr lang="ro-RO" sz="1000" spc="395">
                  <a:effectLst/>
                  <a:latin typeface="Calibri"/>
                  <a:ea typeface="Times New Roman"/>
                  <a:cs typeface="Times New Roman"/>
                </a:rPr>
                <a:t> </a:t>
              </a:r>
              <a:r>
                <a:rPr lang="ro-RO" sz="1000">
                  <a:effectLst/>
                  <a:latin typeface="Calibri"/>
                  <a:ea typeface="Times New Roman"/>
                  <a:cs typeface="Times New Roman"/>
                </a:rPr>
                <a:t>13</a:t>
              </a:r>
              <a:r>
                <a:rPr lang="ro-RO" sz="1000" spc="145">
                  <a:effectLst/>
                  <a:latin typeface="Calibri"/>
                  <a:ea typeface="Times New Roman"/>
                  <a:cs typeface="Times New Roman"/>
                </a:rPr>
                <a:t>  </a:t>
              </a:r>
              <a:r>
                <a:rPr lang="ro-RO" sz="1000">
                  <a:effectLst/>
                  <a:latin typeface="Calibri"/>
                  <a:ea typeface="Times New Roman"/>
                  <a:cs typeface="Times New Roman"/>
                </a:rPr>
                <a:t>14</a:t>
              </a:r>
              <a:r>
                <a:rPr lang="ro-RO" sz="1000" spc="145">
                  <a:effectLst/>
                  <a:latin typeface="Calibri"/>
                  <a:ea typeface="Times New Roman"/>
                  <a:cs typeface="Times New Roman"/>
                </a:rPr>
                <a:t>  </a:t>
              </a:r>
              <a:r>
                <a:rPr lang="ro-RO" sz="1000">
                  <a:effectLst/>
                  <a:latin typeface="Calibri"/>
                  <a:ea typeface="Times New Roman"/>
                  <a:cs typeface="Times New Roman"/>
                </a:rPr>
                <a:t>15</a:t>
              </a:r>
              <a:r>
                <a:rPr lang="ro-RO" sz="1000" spc="395">
                  <a:effectLst/>
                  <a:latin typeface="Calibri"/>
                  <a:ea typeface="Times New Roman"/>
                  <a:cs typeface="Times New Roman"/>
                </a:rPr>
                <a:t> </a:t>
              </a:r>
              <a:r>
                <a:rPr lang="ro-RO" sz="1000">
                  <a:effectLst/>
                  <a:latin typeface="Calibri"/>
                  <a:ea typeface="Times New Roman"/>
                  <a:cs typeface="Times New Roman"/>
                </a:rPr>
                <a:t>16</a:t>
              </a:r>
              <a:r>
                <a:rPr lang="ro-RO" sz="1000" spc="145">
                  <a:effectLst/>
                  <a:latin typeface="Calibri"/>
                  <a:ea typeface="Times New Roman"/>
                  <a:cs typeface="Times New Roman"/>
                </a:rPr>
                <a:t>  </a:t>
              </a:r>
              <a:r>
                <a:rPr lang="ro-RO" sz="1000">
                  <a:effectLst/>
                  <a:latin typeface="Calibri"/>
                  <a:ea typeface="Times New Roman"/>
                  <a:cs typeface="Times New Roman"/>
                </a:rPr>
                <a:t>17</a:t>
              </a:r>
              <a:r>
                <a:rPr lang="ro-RO" sz="1000" spc="395">
                  <a:effectLst/>
                  <a:latin typeface="Calibri"/>
                  <a:ea typeface="Times New Roman"/>
                  <a:cs typeface="Times New Roman"/>
                </a:rPr>
                <a:t> </a:t>
              </a:r>
              <a:r>
                <a:rPr lang="ro-RO" sz="1000">
                  <a:effectLst/>
                  <a:latin typeface="Calibri"/>
                  <a:ea typeface="Times New Roman"/>
                  <a:cs typeface="Times New Roman"/>
                </a:rPr>
                <a:t>18</a:t>
              </a:r>
              <a:r>
                <a:rPr lang="ro-RO" sz="1000" spc="145">
                  <a:effectLst/>
                  <a:latin typeface="Calibri"/>
                  <a:ea typeface="Times New Roman"/>
                  <a:cs typeface="Times New Roman"/>
                </a:rPr>
                <a:t>  </a:t>
              </a:r>
              <a:r>
                <a:rPr lang="ro-RO" sz="1000">
                  <a:effectLst/>
                  <a:latin typeface="Calibri"/>
                  <a:ea typeface="Times New Roman"/>
                  <a:cs typeface="Times New Roman"/>
                </a:rPr>
                <a:t>19</a:t>
              </a:r>
              <a:r>
                <a:rPr lang="ro-RO" sz="1000" spc="145">
                  <a:effectLst/>
                  <a:latin typeface="Calibri"/>
                  <a:ea typeface="Times New Roman"/>
                  <a:cs typeface="Times New Roman"/>
                </a:rPr>
                <a:t>  </a:t>
              </a:r>
              <a:r>
                <a:rPr lang="ro-RO" sz="1000">
                  <a:effectLst/>
                  <a:latin typeface="Calibri"/>
                  <a:ea typeface="Times New Roman"/>
                  <a:cs typeface="Times New Roman"/>
                </a:rPr>
                <a:t>20</a:t>
              </a:r>
              <a:r>
                <a:rPr lang="ro-RO" sz="1000" spc="145">
                  <a:effectLst/>
                  <a:latin typeface="Calibri"/>
                  <a:ea typeface="Times New Roman"/>
                  <a:cs typeface="Times New Roman"/>
                </a:rPr>
                <a:t>  </a:t>
              </a:r>
              <a:r>
                <a:rPr lang="ro-RO" sz="1000" spc="-25">
                  <a:effectLst/>
                  <a:latin typeface="Calibri"/>
                  <a:ea typeface="Times New Roman"/>
                  <a:cs typeface="Times New Roman"/>
                </a:rPr>
                <a:t>21</a:t>
              </a:r>
              <a:endParaRPr lang="ro-RO" sz="1100">
                <a:effectLst/>
                <a:latin typeface="Times New Roman"/>
                <a:ea typeface="Times New Roman"/>
              </a:endParaRPr>
            </a:p>
          </p:txBody>
        </p:sp>
        <p:sp>
          <p:nvSpPr>
            <p:cNvPr id="31" name="Textbox 41"/>
            <p:cNvSpPr txBox="1"/>
            <p:nvPr/>
          </p:nvSpPr>
          <p:spPr>
            <a:xfrm>
              <a:off x="1153286" y="3214668"/>
              <a:ext cx="1402080" cy="141605"/>
            </a:xfrm>
            <a:prstGeom prst="rect">
              <a:avLst/>
            </a:prstGeom>
          </p:spPr>
          <p:txBody>
            <a:bodyPr wrap="square" lIns="0" tIns="0" rIns="0" bIns="0" rtlCol="0">
              <a:noAutofit/>
            </a:bodyPr>
            <a:lstStyle/>
            <a:p>
              <a:pPr>
                <a:lnSpc>
                  <a:spcPts val="1110"/>
                </a:lnSpc>
                <a:spcAft>
                  <a:spcPts val="0"/>
                </a:spcAft>
              </a:pPr>
              <a:r>
                <a:rPr lang="ro-RO" sz="1000">
                  <a:effectLst/>
                  <a:latin typeface="Microsoft Sans Serif"/>
                  <a:ea typeface="Times New Roman"/>
                  <a:cs typeface="Times New Roman"/>
                </a:rPr>
                <a:t>Temperatură</a:t>
              </a:r>
              <a:r>
                <a:rPr lang="ro-RO" sz="1000" spc="-35">
                  <a:effectLst/>
                  <a:latin typeface="Microsoft Sans Serif"/>
                  <a:ea typeface="Times New Roman"/>
                  <a:cs typeface="Times New Roman"/>
                </a:rPr>
                <a:t> </a:t>
              </a:r>
              <a:r>
                <a:rPr lang="ro-RO" sz="1000">
                  <a:effectLst/>
                  <a:latin typeface="Microsoft Sans Serif"/>
                  <a:ea typeface="Times New Roman"/>
                  <a:cs typeface="Times New Roman"/>
                </a:rPr>
                <a:t>ADC</a:t>
              </a:r>
              <a:r>
                <a:rPr lang="ro-RO" sz="1000" spc="-35">
                  <a:effectLst/>
                  <a:latin typeface="Microsoft Sans Serif"/>
                  <a:ea typeface="Times New Roman"/>
                  <a:cs typeface="Times New Roman"/>
                </a:rPr>
                <a:t> </a:t>
              </a:r>
              <a:r>
                <a:rPr lang="ro-RO" sz="1000" spc="-10">
                  <a:effectLst/>
                  <a:latin typeface="Microsoft Sans Serif"/>
                  <a:ea typeface="Times New Roman"/>
                  <a:cs typeface="Times New Roman"/>
                </a:rPr>
                <a:t>Intern</a:t>
              </a:r>
              <a:endParaRPr lang="ro-RO" sz="1100">
                <a:effectLst/>
                <a:latin typeface="Times New Roman"/>
                <a:ea typeface="Times New Roman"/>
              </a:endParaRPr>
            </a:p>
          </p:txBody>
        </p:sp>
        <p:sp>
          <p:nvSpPr>
            <p:cNvPr id="32" name="Textbox 42"/>
            <p:cNvSpPr txBox="1"/>
            <p:nvPr/>
          </p:nvSpPr>
          <p:spPr>
            <a:xfrm>
              <a:off x="3077717" y="3214668"/>
              <a:ext cx="1444625" cy="141605"/>
            </a:xfrm>
            <a:prstGeom prst="rect">
              <a:avLst/>
            </a:prstGeom>
          </p:spPr>
          <p:txBody>
            <a:bodyPr wrap="square" lIns="0" tIns="0" rIns="0" bIns="0" rtlCol="0">
              <a:noAutofit/>
            </a:bodyPr>
            <a:lstStyle/>
            <a:p>
              <a:pPr>
                <a:lnSpc>
                  <a:spcPts val="1110"/>
                </a:lnSpc>
                <a:spcAft>
                  <a:spcPts val="0"/>
                </a:spcAft>
              </a:pPr>
              <a:r>
                <a:rPr lang="ro-RO" sz="1000">
                  <a:effectLst/>
                  <a:latin typeface="Microsoft Sans Serif"/>
                  <a:ea typeface="Times New Roman"/>
                  <a:cs typeface="Times New Roman"/>
                </a:rPr>
                <a:t>Temperatură</a:t>
              </a:r>
              <a:r>
                <a:rPr lang="ro-RO" sz="1000" spc="-35">
                  <a:effectLst/>
                  <a:latin typeface="Microsoft Sans Serif"/>
                  <a:ea typeface="Times New Roman"/>
                  <a:cs typeface="Times New Roman"/>
                </a:rPr>
                <a:t> </a:t>
              </a:r>
              <a:r>
                <a:rPr lang="ro-RO" sz="1000">
                  <a:effectLst/>
                  <a:latin typeface="Microsoft Sans Serif"/>
                  <a:ea typeface="Times New Roman"/>
                  <a:cs typeface="Times New Roman"/>
                </a:rPr>
                <a:t>ADC</a:t>
              </a:r>
              <a:r>
                <a:rPr lang="ro-RO" sz="1000" spc="-35">
                  <a:effectLst/>
                  <a:latin typeface="Microsoft Sans Serif"/>
                  <a:ea typeface="Times New Roman"/>
                  <a:cs typeface="Times New Roman"/>
                </a:rPr>
                <a:t> </a:t>
              </a:r>
              <a:r>
                <a:rPr lang="ro-RO" sz="1000" spc="-10">
                  <a:effectLst/>
                  <a:latin typeface="Microsoft Sans Serif"/>
                  <a:ea typeface="Times New Roman"/>
                  <a:cs typeface="Times New Roman"/>
                </a:rPr>
                <a:t>Extern</a:t>
              </a:r>
              <a:endParaRPr lang="ro-RO" sz="1100">
                <a:effectLst/>
                <a:latin typeface="Times New Roman"/>
                <a:ea typeface="Times New Roman"/>
              </a:endParaRPr>
            </a:p>
          </p:txBody>
        </p:sp>
      </p:grpSp>
    </p:spTree>
    <p:extLst>
      <p:ext uri="{BB962C8B-B14F-4D97-AF65-F5344CB8AC3E}">
        <p14:creationId xmlns:p14="http://schemas.microsoft.com/office/powerpoint/2010/main" val="3003697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a:grpSpLocks/>
          </p:cNvGrpSpPr>
          <p:nvPr/>
        </p:nvGrpSpPr>
        <p:grpSpPr>
          <a:xfrm>
            <a:off x="1061296" y="608124"/>
            <a:ext cx="6297170" cy="5641752"/>
            <a:chOff x="3175" y="3175"/>
            <a:chExt cx="5715000" cy="4438650"/>
          </a:xfrm>
        </p:grpSpPr>
        <p:pic>
          <p:nvPicPr>
            <p:cNvPr id="5" name="Image 44"/>
            <p:cNvPicPr/>
            <p:nvPr/>
          </p:nvPicPr>
          <p:blipFill>
            <a:blip r:embed="rId2" cstate="print"/>
            <a:stretch>
              <a:fillRect/>
            </a:stretch>
          </p:blipFill>
          <p:spPr>
            <a:xfrm>
              <a:off x="546602" y="1132184"/>
              <a:ext cx="4959112" cy="2673124"/>
            </a:xfrm>
            <a:prstGeom prst="rect">
              <a:avLst/>
            </a:prstGeom>
          </p:spPr>
        </p:pic>
        <p:pic>
          <p:nvPicPr>
            <p:cNvPr id="6" name="Image 45"/>
            <p:cNvPicPr/>
            <p:nvPr/>
          </p:nvPicPr>
          <p:blipFill>
            <a:blip r:embed="rId3" cstate="print"/>
            <a:stretch>
              <a:fillRect/>
            </a:stretch>
          </p:blipFill>
          <p:spPr>
            <a:xfrm>
              <a:off x="524763" y="4215862"/>
              <a:ext cx="69752" cy="69752"/>
            </a:xfrm>
            <a:prstGeom prst="rect">
              <a:avLst/>
            </a:prstGeom>
          </p:spPr>
        </p:pic>
        <p:pic>
          <p:nvPicPr>
            <p:cNvPr id="7" name="Image 46"/>
            <p:cNvPicPr/>
            <p:nvPr/>
          </p:nvPicPr>
          <p:blipFill>
            <a:blip r:embed="rId4" cstate="print"/>
            <a:stretch>
              <a:fillRect/>
            </a:stretch>
          </p:blipFill>
          <p:spPr>
            <a:xfrm>
              <a:off x="2245995" y="4215862"/>
              <a:ext cx="69752" cy="69752"/>
            </a:xfrm>
            <a:prstGeom prst="rect">
              <a:avLst/>
            </a:prstGeom>
          </p:spPr>
        </p:pic>
        <p:pic>
          <p:nvPicPr>
            <p:cNvPr id="8" name="Image 47"/>
            <p:cNvPicPr/>
            <p:nvPr/>
          </p:nvPicPr>
          <p:blipFill>
            <a:blip r:embed="rId5" cstate="print"/>
            <a:stretch>
              <a:fillRect/>
            </a:stretch>
          </p:blipFill>
          <p:spPr>
            <a:xfrm>
              <a:off x="4009516" y="4215862"/>
              <a:ext cx="69752" cy="69752"/>
            </a:xfrm>
            <a:prstGeom prst="rect">
              <a:avLst/>
            </a:prstGeom>
          </p:spPr>
        </p:pic>
        <p:sp>
          <p:nvSpPr>
            <p:cNvPr id="9" name="Graphic 48"/>
            <p:cNvSpPr/>
            <p:nvPr/>
          </p:nvSpPr>
          <p:spPr>
            <a:xfrm>
              <a:off x="3175" y="3175"/>
              <a:ext cx="5715000" cy="4438650"/>
            </a:xfrm>
            <a:custGeom>
              <a:avLst/>
              <a:gdLst/>
              <a:ahLst/>
              <a:cxnLst/>
              <a:rect l="l" t="t" r="r" b="b"/>
              <a:pathLst>
                <a:path w="5715000" h="4438650">
                  <a:moveTo>
                    <a:pt x="0" y="4438650"/>
                  </a:moveTo>
                  <a:lnTo>
                    <a:pt x="5715000" y="4438650"/>
                  </a:lnTo>
                  <a:lnTo>
                    <a:pt x="5715000" y="0"/>
                  </a:lnTo>
                  <a:lnTo>
                    <a:pt x="0" y="0"/>
                  </a:lnTo>
                  <a:lnTo>
                    <a:pt x="0" y="4438650"/>
                  </a:lnTo>
                  <a:close/>
                </a:path>
              </a:pathLst>
            </a:custGeom>
            <a:ln w="6350">
              <a:solidFill>
                <a:srgbClr val="888888"/>
              </a:solidFill>
              <a:prstDash val="solid"/>
            </a:ln>
          </p:spPr>
          <p:txBody>
            <a:bodyPr wrap="square" lIns="0" tIns="0" rIns="0" bIns="0" rtlCol="0">
              <a:prstTxWarp prst="textNoShape">
                <a:avLst/>
              </a:prstTxWarp>
              <a:noAutofit/>
            </a:bodyPr>
            <a:lstStyle/>
            <a:p>
              <a:endParaRPr lang="ro-RO" b="1"/>
            </a:p>
          </p:txBody>
        </p:sp>
        <p:sp>
          <p:nvSpPr>
            <p:cNvPr id="10" name="Textbox 49"/>
            <p:cNvSpPr txBox="1"/>
            <p:nvPr/>
          </p:nvSpPr>
          <p:spPr>
            <a:xfrm>
              <a:off x="730758" y="145161"/>
              <a:ext cx="4272280" cy="786765"/>
            </a:xfrm>
            <a:prstGeom prst="rect">
              <a:avLst/>
            </a:prstGeom>
          </p:spPr>
          <p:txBody>
            <a:bodyPr wrap="square" lIns="0" tIns="0" rIns="0" bIns="0" rtlCol="0">
              <a:noAutofit/>
            </a:bodyPr>
            <a:lstStyle/>
            <a:p>
              <a:pPr>
                <a:lnSpc>
                  <a:spcPts val="1835"/>
                </a:lnSpc>
                <a:spcAft>
                  <a:spcPts val="0"/>
                </a:spcAft>
              </a:pPr>
              <a:r>
                <a:rPr lang="ro-RO" sz="1800" b="1" spc="-10">
                  <a:effectLst/>
                  <a:latin typeface="Calibri"/>
                  <a:ea typeface="Times New Roman"/>
                  <a:cs typeface="Times New Roman"/>
                </a:rPr>
                <a:t>Temperatură</a:t>
              </a:r>
              <a:r>
                <a:rPr lang="ro-RO" sz="1800" b="1" spc="-70">
                  <a:effectLst/>
                  <a:latin typeface="Calibri"/>
                  <a:ea typeface="Times New Roman"/>
                  <a:cs typeface="Times New Roman"/>
                </a:rPr>
                <a:t> </a:t>
              </a:r>
              <a:r>
                <a:rPr lang="ro-RO" sz="1800" b="1" spc="-10">
                  <a:effectLst/>
                  <a:latin typeface="Calibri"/>
                  <a:ea typeface="Times New Roman"/>
                  <a:cs typeface="Times New Roman"/>
                </a:rPr>
                <a:t>afişată</a:t>
              </a:r>
              <a:r>
                <a:rPr lang="ro-RO" sz="1800" b="1" spc="-35">
                  <a:effectLst/>
                  <a:latin typeface="Calibri"/>
                  <a:ea typeface="Times New Roman"/>
                  <a:cs typeface="Times New Roman"/>
                </a:rPr>
                <a:t> </a:t>
              </a:r>
              <a:r>
                <a:rPr lang="ro-RO" sz="1800" b="1" spc="-10">
                  <a:effectLst/>
                  <a:latin typeface="Calibri"/>
                  <a:ea typeface="Times New Roman"/>
                  <a:cs typeface="Times New Roman"/>
                </a:rPr>
                <a:t>vs</a:t>
              </a:r>
              <a:r>
                <a:rPr lang="ro-RO" sz="1800" b="1" spc="-40">
                  <a:effectLst/>
                  <a:latin typeface="Calibri"/>
                  <a:ea typeface="Times New Roman"/>
                  <a:cs typeface="Times New Roman"/>
                </a:rPr>
                <a:t> </a:t>
              </a:r>
              <a:r>
                <a:rPr lang="ro-RO" sz="1800" b="1" spc="-10">
                  <a:effectLst/>
                  <a:latin typeface="Calibri"/>
                  <a:ea typeface="Times New Roman"/>
                  <a:cs typeface="Times New Roman"/>
                </a:rPr>
                <a:t>temperatură</a:t>
              </a:r>
              <a:r>
                <a:rPr lang="ro-RO" sz="1800" b="1" spc="-55">
                  <a:effectLst/>
                  <a:latin typeface="Calibri"/>
                  <a:ea typeface="Times New Roman"/>
                  <a:cs typeface="Times New Roman"/>
                </a:rPr>
                <a:t> </a:t>
              </a:r>
              <a:r>
                <a:rPr lang="ro-RO" sz="1800" b="1" spc="-10">
                  <a:effectLst/>
                  <a:latin typeface="Calibri"/>
                  <a:ea typeface="Times New Roman"/>
                  <a:cs typeface="Times New Roman"/>
                </a:rPr>
                <a:t>obţinută</a:t>
              </a:r>
              <a:endParaRPr lang="ro-RO" sz="1100" b="1">
                <a:effectLst/>
                <a:latin typeface="Times New Roman"/>
                <a:ea typeface="Times New Roman"/>
              </a:endParaRPr>
            </a:p>
            <a:p>
              <a:pPr marL="1273810" indent="-1202690">
                <a:spcAft>
                  <a:spcPts val="0"/>
                </a:spcAft>
              </a:pPr>
              <a:r>
                <a:rPr lang="ro-RO" sz="1800" b="1">
                  <a:effectLst/>
                  <a:latin typeface="Calibri"/>
                  <a:ea typeface="Times New Roman"/>
                  <a:cs typeface="Times New Roman"/>
                </a:rPr>
                <a:t>prin</a:t>
              </a:r>
              <a:r>
                <a:rPr lang="ro-RO" sz="1800" b="1" spc="-70">
                  <a:effectLst/>
                  <a:latin typeface="Calibri"/>
                  <a:ea typeface="Times New Roman"/>
                  <a:cs typeface="Times New Roman"/>
                </a:rPr>
                <a:t> </a:t>
              </a:r>
              <a:r>
                <a:rPr lang="ro-RO" sz="1800" b="1">
                  <a:effectLst/>
                  <a:latin typeface="Calibri"/>
                  <a:ea typeface="Times New Roman"/>
                  <a:cs typeface="Times New Roman"/>
                </a:rPr>
                <a:t>ADC-ul</a:t>
              </a:r>
              <a:r>
                <a:rPr lang="ro-RO" sz="1800" b="1" spc="-70">
                  <a:effectLst/>
                  <a:latin typeface="Calibri"/>
                  <a:ea typeface="Times New Roman"/>
                  <a:cs typeface="Times New Roman"/>
                </a:rPr>
                <a:t> </a:t>
              </a:r>
              <a:r>
                <a:rPr lang="ro-RO" sz="1800" b="1">
                  <a:effectLst/>
                  <a:latin typeface="Calibri"/>
                  <a:ea typeface="Times New Roman"/>
                  <a:cs typeface="Times New Roman"/>
                </a:rPr>
                <a:t>extern</a:t>
              </a:r>
              <a:r>
                <a:rPr lang="ro-RO" sz="1800" b="1" spc="-70">
                  <a:effectLst/>
                  <a:latin typeface="Calibri"/>
                  <a:ea typeface="Times New Roman"/>
                  <a:cs typeface="Times New Roman"/>
                </a:rPr>
                <a:t> </a:t>
              </a:r>
              <a:r>
                <a:rPr lang="ro-RO" sz="1800" b="1">
                  <a:effectLst/>
                  <a:latin typeface="Calibri"/>
                  <a:ea typeface="Times New Roman"/>
                  <a:cs typeface="Times New Roman"/>
                </a:rPr>
                <a:t>vs</a:t>
              </a:r>
              <a:r>
                <a:rPr lang="ro-RO" sz="1800" b="1" spc="-70">
                  <a:effectLst/>
                  <a:latin typeface="Calibri"/>
                  <a:ea typeface="Times New Roman"/>
                  <a:cs typeface="Times New Roman"/>
                </a:rPr>
                <a:t> </a:t>
              </a:r>
              <a:r>
                <a:rPr lang="ro-RO" sz="1800" b="1">
                  <a:effectLst/>
                  <a:latin typeface="Calibri"/>
                  <a:ea typeface="Times New Roman"/>
                  <a:cs typeface="Times New Roman"/>
                </a:rPr>
                <a:t>temperatură</a:t>
              </a:r>
              <a:r>
                <a:rPr lang="ro-RO" sz="1800" b="1" spc="-85">
                  <a:effectLst/>
                  <a:latin typeface="Calibri"/>
                  <a:ea typeface="Times New Roman"/>
                  <a:cs typeface="Times New Roman"/>
                </a:rPr>
                <a:t> </a:t>
              </a:r>
              <a:r>
                <a:rPr lang="ro-RO" sz="1800" b="1">
                  <a:effectLst/>
                  <a:latin typeface="Calibri"/>
                  <a:ea typeface="Times New Roman"/>
                  <a:cs typeface="Times New Roman"/>
                </a:rPr>
                <a:t>obţinută prin ADC-ul intern</a:t>
              </a:r>
              <a:endParaRPr lang="ro-RO" sz="1100" b="1">
                <a:effectLst/>
                <a:latin typeface="Times New Roman"/>
                <a:ea typeface="Times New Roman"/>
              </a:endParaRPr>
            </a:p>
          </p:txBody>
        </p:sp>
        <p:sp>
          <p:nvSpPr>
            <p:cNvPr id="11" name="Textbox 50"/>
            <p:cNvSpPr txBox="1"/>
            <p:nvPr/>
          </p:nvSpPr>
          <p:spPr>
            <a:xfrm>
              <a:off x="147015" y="1123950"/>
              <a:ext cx="302260" cy="2744470"/>
            </a:xfrm>
            <a:prstGeom prst="rect">
              <a:avLst/>
            </a:prstGeom>
          </p:spPr>
          <p:txBody>
            <a:bodyPr wrap="square" lIns="0" tIns="0" rIns="0" bIns="0" rtlCol="0">
              <a:noAutofit/>
            </a:bodyPr>
            <a:lstStyle/>
            <a:p>
              <a:pPr marR="11430" algn="r">
                <a:lnSpc>
                  <a:spcPts val="1015"/>
                </a:lnSpc>
                <a:spcAft>
                  <a:spcPts val="0"/>
                </a:spcAft>
              </a:pPr>
              <a:r>
                <a:rPr lang="ro-RO" sz="1000" b="1" spc="-10">
                  <a:effectLst/>
                  <a:latin typeface="Calibri"/>
                  <a:ea typeface="Times New Roman"/>
                  <a:cs typeface="Times New Roman"/>
                </a:rPr>
                <a:t>100,0</a:t>
              </a:r>
              <a:endParaRPr lang="ro-RO" sz="1100" b="1">
                <a:effectLst/>
                <a:latin typeface="Times New Roman"/>
                <a:ea typeface="Times New Roman"/>
              </a:endParaRPr>
            </a:p>
            <a:p>
              <a:pPr marL="64135">
                <a:spcBef>
                  <a:spcPts val="840"/>
                </a:spcBef>
                <a:spcAft>
                  <a:spcPts val="0"/>
                </a:spcAft>
              </a:pPr>
              <a:r>
                <a:rPr lang="ro-RO" sz="1000" b="1" spc="-20">
                  <a:effectLst/>
                  <a:latin typeface="Calibri"/>
                  <a:ea typeface="Times New Roman"/>
                  <a:cs typeface="Times New Roman"/>
                </a:rPr>
                <a:t>90,0</a:t>
              </a:r>
              <a:endParaRPr lang="ro-RO" sz="1100" b="1">
                <a:effectLst/>
                <a:latin typeface="Times New Roman"/>
                <a:ea typeface="Times New Roman"/>
              </a:endParaRPr>
            </a:p>
            <a:p>
              <a:pPr marL="64135">
                <a:spcBef>
                  <a:spcPts val="840"/>
                </a:spcBef>
                <a:spcAft>
                  <a:spcPts val="0"/>
                </a:spcAft>
              </a:pPr>
              <a:r>
                <a:rPr lang="ro-RO" sz="1000" b="1" spc="-20">
                  <a:effectLst/>
                  <a:latin typeface="Calibri"/>
                  <a:ea typeface="Times New Roman"/>
                  <a:cs typeface="Times New Roman"/>
                </a:rPr>
                <a:t>80,0</a:t>
              </a:r>
              <a:endParaRPr lang="ro-RO" sz="1100" b="1">
                <a:effectLst/>
                <a:latin typeface="Times New Roman"/>
                <a:ea typeface="Times New Roman"/>
              </a:endParaRPr>
            </a:p>
            <a:p>
              <a:pPr marL="64135">
                <a:spcBef>
                  <a:spcPts val="840"/>
                </a:spcBef>
                <a:spcAft>
                  <a:spcPts val="0"/>
                </a:spcAft>
              </a:pPr>
              <a:r>
                <a:rPr lang="ro-RO" sz="1000" b="1" spc="-20">
                  <a:effectLst/>
                  <a:latin typeface="Calibri"/>
                  <a:ea typeface="Times New Roman"/>
                  <a:cs typeface="Times New Roman"/>
                </a:rPr>
                <a:t>70,0</a:t>
              </a:r>
              <a:endParaRPr lang="ro-RO" sz="1100" b="1">
                <a:effectLst/>
                <a:latin typeface="Times New Roman"/>
                <a:ea typeface="Times New Roman"/>
              </a:endParaRPr>
            </a:p>
            <a:p>
              <a:pPr marL="64135">
                <a:spcBef>
                  <a:spcPts val="840"/>
                </a:spcBef>
                <a:spcAft>
                  <a:spcPts val="0"/>
                </a:spcAft>
              </a:pPr>
              <a:r>
                <a:rPr lang="ro-RO" sz="1000" b="1" spc="-20">
                  <a:effectLst/>
                  <a:latin typeface="Calibri"/>
                  <a:ea typeface="Times New Roman"/>
                  <a:cs typeface="Times New Roman"/>
                </a:rPr>
                <a:t>60,0</a:t>
              </a:r>
              <a:endParaRPr lang="ro-RO" sz="1100" b="1">
                <a:effectLst/>
                <a:latin typeface="Times New Roman"/>
                <a:ea typeface="Times New Roman"/>
              </a:endParaRPr>
            </a:p>
            <a:p>
              <a:pPr marL="64135">
                <a:spcBef>
                  <a:spcPts val="840"/>
                </a:spcBef>
                <a:spcAft>
                  <a:spcPts val="0"/>
                </a:spcAft>
              </a:pPr>
              <a:r>
                <a:rPr lang="ro-RO" sz="1000" b="1" spc="-20">
                  <a:effectLst/>
                  <a:latin typeface="Calibri"/>
                  <a:ea typeface="Times New Roman"/>
                  <a:cs typeface="Times New Roman"/>
                </a:rPr>
                <a:t>50,0</a:t>
              </a:r>
              <a:endParaRPr lang="ro-RO" sz="1100" b="1">
                <a:effectLst/>
                <a:latin typeface="Times New Roman"/>
                <a:ea typeface="Times New Roman"/>
              </a:endParaRPr>
            </a:p>
            <a:p>
              <a:pPr marL="64135">
                <a:spcBef>
                  <a:spcPts val="840"/>
                </a:spcBef>
                <a:spcAft>
                  <a:spcPts val="0"/>
                </a:spcAft>
              </a:pPr>
              <a:r>
                <a:rPr lang="ro-RO" sz="1000" b="1" spc="-20">
                  <a:effectLst/>
                  <a:latin typeface="Calibri"/>
                  <a:ea typeface="Times New Roman"/>
                  <a:cs typeface="Times New Roman"/>
                </a:rPr>
                <a:t>40,0</a:t>
              </a:r>
              <a:endParaRPr lang="ro-RO" sz="1100" b="1">
                <a:effectLst/>
                <a:latin typeface="Times New Roman"/>
                <a:ea typeface="Times New Roman"/>
              </a:endParaRPr>
            </a:p>
            <a:p>
              <a:pPr marL="64135">
                <a:spcBef>
                  <a:spcPts val="840"/>
                </a:spcBef>
                <a:spcAft>
                  <a:spcPts val="0"/>
                </a:spcAft>
              </a:pPr>
              <a:r>
                <a:rPr lang="ro-RO" sz="1000" b="1" spc="-20">
                  <a:effectLst/>
                  <a:latin typeface="Calibri"/>
                  <a:ea typeface="Times New Roman"/>
                  <a:cs typeface="Times New Roman"/>
                </a:rPr>
                <a:t>30,0</a:t>
              </a:r>
              <a:endParaRPr lang="ro-RO" sz="1100" b="1">
                <a:effectLst/>
                <a:latin typeface="Times New Roman"/>
                <a:ea typeface="Times New Roman"/>
              </a:endParaRPr>
            </a:p>
            <a:p>
              <a:pPr marL="64135">
                <a:spcBef>
                  <a:spcPts val="840"/>
                </a:spcBef>
                <a:spcAft>
                  <a:spcPts val="0"/>
                </a:spcAft>
              </a:pPr>
              <a:r>
                <a:rPr lang="ro-RO" sz="1000" b="1" spc="-20">
                  <a:effectLst/>
                  <a:latin typeface="Calibri"/>
                  <a:ea typeface="Times New Roman"/>
                  <a:cs typeface="Times New Roman"/>
                </a:rPr>
                <a:t>20,0</a:t>
              </a:r>
              <a:endParaRPr lang="ro-RO" sz="1100" b="1">
                <a:effectLst/>
                <a:latin typeface="Times New Roman"/>
                <a:ea typeface="Times New Roman"/>
              </a:endParaRPr>
            </a:p>
            <a:p>
              <a:pPr marL="64135">
                <a:spcBef>
                  <a:spcPts val="840"/>
                </a:spcBef>
                <a:spcAft>
                  <a:spcPts val="0"/>
                </a:spcAft>
              </a:pPr>
              <a:r>
                <a:rPr lang="ro-RO" sz="1000" b="1" spc="-20">
                  <a:effectLst/>
                  <a:latin typeface="Calibri"/>
                  <a:ea typeface="Times New Roman"/>
                  <a:cs typeface="Times New Roman"/>
                </a:rPr>
                <a:t>10,0</a:t>
              </a:r>
              <a:endParaRPr lang="ro-RO" sz="1100" b="1">
                <a:effectLst/>
                <a:latin typeface="Times New Roman"/>
                <a:ea typeface="Times New Roman"/>
              </a:endParaRPr>
            </a:p>
            <a:p>
              <a:pPr marR="11430" algn="r">
                <a:lnSpc>
                  <a:spcPts val="1200"/>
                </a:lnSpc>
                <a:spcBef>
                  <a:spcPts val="840"/>
                </a:spcBef>
                <a:spcAft>
                  <a:spcPts val="0"/>
                </a:spcAft>
              </a:pPr>
              <a:r>
                <a:rPr lang="ro-RO" sz="1000" b="1" spc="-25">
                  <a:effectLst/>
                  <a:latin typeface="Calibri"/>
                  <a:ea typeface="Times New Roman"/>
                  <a:cs typeface="Times New Roman"/>
                </a:rPr>
                <a:t>0,0</a:t>
              </a:r>
              <a:endParaRPr lang="ro-RO" sz="1100" b="1">
                <a:effectLst/>
                <a:latin typeface="Times New Roman"/>
                <a:ea typeface="Times New Roman"/>
              </a:endParaRPr>
            </a:p>
          </p:txBody>
        </p:sp>
        <p:sp>
          <p:nvSpPr>
            <p:cNvPr id="12" name="Textbox 51"/>
            <p:cNvSpPr txBox="1"/>
            <p:nvPr/>
          </p:nvSpPr>
          <p:spPr>
            <a:xfrm>
              <a:off x="638937" y="3900296"/>
              <a:ext cx="4766310" cy="127000"/>
            </a:xfrm>
            <a:prstGeom prst="rect">
              <a:avLst/>
            </a:prstGeom>
          </p:spPr>
          <p:txBody>
            <a:bodyPr wrap="square" lIns="0" tIns="0" rIns="0" bIns="0" rtlCol="0">
              <a:noAutofit/>
            </a:bodyPr>
            <a:lstStyle/>
            <a:p>
              <a:pPr>
                <a:lnSpc>
                  <a:spcPts val="995"/>
                </a:lnSpc>
                <a:spcAft>
                  <a:spcPts val="0"/>
                </a:spcAft>
                <a:tabLst>
                  <a:tab pos="232410" algn="l"/>
                  <a:tab pos="465455" algn="l"/>
                  <a:tab pos="698500" algn="l"/>
                  <a:tab pos="930910" algn="l"/>
                  <a:tab pos="1164590" algn="l"/>
                  <a:tab pos="1397000" algn="l"/>
                  <a:tab pos="1630045" algn="l"/>
                  <a:tab pos="1863090" algn="l"/>
                  <a:tab pos="2063750" algn="l"/>
                </a:tabLst>
              </a:pPr>
              <a:r>
                <a:rPr lang="ro-RO" sz="1000" b="1" spc="-50">
                  <a:effectLst/>
                  <a:latin typeface="Calibri"/>
                  <a:ea typeface="Times New Roman"/>
                  <a:cs typeface="Times New Roman"/>
                </a:rPr>
                <a:t>1</a:t>
              </a:r>
              <a:r>
                <a:rPr lang="ro-RO" sz="1000" b="1">
                  <a:effectLst/>
                  <a:latin typeface="Calibri"/>
                  <a:ea typeface="Times New Roman"/>
                  <a:cs typeface="Times New Roman"/>
                </a:rPr>
                <a:t>	</a:t>
              </a:r>
              <a:r>
                <a:rPr lang="ro-RO" sz="1000" b="1" spc="-50">
                  <a:effectLst/>
                  <a:latin typeface="Calibri"/>
                  <a:ea typeface="Times New Roman"/>
                  <a:cs typeface="Times New Roman"/>
                </a:rPr>
                <a:t>2</a:t>
              </a:r>
              <a:r>
                <a:rPr lang="ro-RO" sz="1000" b="1">
                  <a:effectLst/>
                  <a:latin typeface="Calibri"/>
                  <a:ea typeface="Times New Roman"/>
                  <a:cs typeface="Times New Roman"/>
                </a:rPr>
                <a:t>	</a:t>
              </a:r>
              <a:r>
                <a:rPr lang="ro-RO" sz="1000" b="1" spc="-50">
                  <a:effectLst/>
                  <a:latin typeface="Calibri"/>
                  <a:ea typeface="Times New Roman"/>
                  <a:cs typeface="Times New Roman"/>
                </a:rPr>
                <a:t>3</a:t>
              </a:r>
              <a:r>
                <a:rPr lang="ro-RO" sz="1000" b="1">
                  <a:effectLst/>
                  <a:latin typeface="Calibri"/>
                  <a:ea typeface="Times New Roman"/>
                  <a:cs typeface="Times New Roman"/>
                </a:rPr>
                <a:t>	</a:t>
              </a:r>
              <a:r>
                <a:rPr lang="ro-RO" sz="1000" b="1" spc="-50">
                  <a:effectLst/>
                  <a:latin typeface="Calibri"/>
                  <a:ea typeface="Times New Roman"/>
                  <a:cs typeface="Times New Roman"/>
                </a:rPr>
                <a:t>4</a:t>
              </a:r>
              <a:r>
                <a:rPr lang="ro-RO" sz="1000" b="1">
                  <a:effectLst/>
                  <a:latin typeface="Calibri"/>
                  <a:ea typeface="Times New Roman"/>
                  <a:cs typeface="Times New Roman"/>
                </a:rPr>
                <a:t>	</a:t>
              </a:r>
              <a:r>
                <a:rPr lang="ro-RO" sz="1000" b="1" spc="-50">
                  <a:effectLst/>
                  <a:latin typeface="Calibri"/>
                  <a:ea typeface="Times New Roman"/>
                  <a:cs typeface="Times New Roman"/>
                </a:rPr>
                <a:t>5</a:t>
              </a:r>
              <a:r>
                <a:rPr lang="ro-RO" sz="1000" b="1">
                  <a:effectLst/>
                  <a:latin typeface="Calibri"/>
                  <a:ea typeface="Times New Roman"/>
                  <a:cs typeface="Times New Roman"/>
                </a:rPr>
                <a:t>	</a:t>
              </a:r>
              <a:r>
                <a:rPr lang="ro-RO" sz="1000" b="1" spc="-50">
                  <a:effectLst/>
                  <a:latin typeface="Calibri"/>
                  <a:ea typeface="Times New Roman"/>
                  <a:cs typeface="Times New Roman"/>
                </a:rPr>
                <a:t>6</a:t>
              </a:r>
              <a:r>
                <a:rPr lang="ro-RO" sz="1000" b="1">
                  <a:effectLst/>
                  <a:latin typeface="Calibri"/>
                  <a:ea typeface="Times New Roman"/>
                  <a:cs typeface="Times New Roman"/>
                </a:rPr>
                <a:t>	</a:t>
              </a:r>
              <a:r>
                <a:rPr lang="ro-RO" sz="1000" b="1" spc="-50">
                  <a:effectLst/>
                  <a:latin typeface="Calibri"/>
                  <a:ea typeface="Times New Roman"/>
                  <a:cs typeface="Times New Roman"/>
                </a:rPr>
                <a:t>7</a:t>
              </a:r>
              <a:r>
                <a:rPr lang="ro-RO" sz="1000" b="1">
                  <a:effectLst/>
                  <a:latin typeface="Calibri"/>
                  <a:ea typeface="Times New Roman"/>
                  <a:cs typeface="Times New Roman"/>
                </a:rPr>
                <a:t>	</a:t>
              </a:r>
              <a:r>
                <a:rPr lang="ro-RO" sz="1000" b="1" spc="-50">
                  <a:effectLst/>
                  <a:latin typeface="Calibri"/>
                  <a:ea typeface="Times New Roman"/>
                  <a:cs typeface="Times New Roman"/>
                </a:rPr>
                <a:t>8</a:t>
              </a:r>
              <a:r>
                <a:rPr lang="ro-RO" sz="1000" b="1">
                  <a:effectLst/>
                  <a:latin typeface="Calibri"/>
                  <a:ea typeface="Times New Roman"/>
                  <a:cs typeface="Times New Roman"/>
                </a:rPr>
                <a:t>	</a:t>
              </a:r>
              <a:r>
                <a:rPr lang="ro-RO" sz="1000" b="1" spc="-50">
                  <a:effectLst/>
                  <a:latin typeface="Calibri"/>
                  <a:ea typeface="Times New Roman"/>
                  <a:cs typeface="Times New Roman"/>
                </a:rPr>
                <a:t>9</a:t>
              </a:r>
              <a:r>
                <a:rPr lang="ro-RO" sz="1000" b="1">
                  <a:effectLst/>
                  <a:latin typeface="Calibri"/>
                  <a:ea typeface="Times New Roman"/>
                  <a:cs typeface="Times New Roman"/>
                </a:rPr>
                <a:t>	10</a:t>
              </a:r>
              <a:r>
                <a:rPr lang="ro-RO" sz="1000" b="1" spc="170">
                  <a:effectLst/>
                  <a:latin typeface="Calibri"/>
                  <a:ea typeface="Times New Roman"/>
                  <a:cs typeface="Times New Roman"/>
                </a:rPr>
                <a:t>  </a:t>
              </a:r>
              <a:r>
                <a:rPr lang="ro-RO" sz="1000" b="1">
                  <a:effectLst/>
                  <a:latin typeface="Calibri"/>
                  <a:ea typeface="Times New Roman"/>
                  <a:cs typeface="Times New Roman"/>
                </a:rPr>
                <a:t>11</a:t>
              </a:r>
              <a:r>
                <a:rPr lang="ro-RO" sz="1000" b="1" spc="180">
                  <a:effectLst/>
                  <a:latin typeface="Calibri"/>
                  <a:ea typeface="Times New Roman"/>
                  <a:cs typeface="Times New Roman"/>
                </a:rPr>
                <a:t>  </a:t>
              </a:r>
              <a:r>
                <a:rPr lang="ro-RO" sz="1000" b="1">
                  <a:effectLst/>
                  <a:latin typeface="Calibri"/>
                  <a:ea typeface="Times New Roman"/>
                  <a:cs typeface="Times New Roman"/>
                </a:rPr>
                <a:t>12</a:t>
              </a:r>
              <a:r>
                <a:rPr lang="ro-RO" sz="1000" b="1" spc="175">
                  <a:effectLst/>
                  <a:latin typeface="Calibri"/>
                  <a:ea typeface="Times New Roman"/>
                  <a:cs typeface="Times New Roman"/>
                </a:rPr>
                <a:t>  </a:t>
              </a:r>
              <a:r>
                <a:rPr lang="ro-RO" sz="1000" b="1">
                  <a:effectLst/>
                  <a:latin typeface="Calibri"/>
                  <a:ea typeface="Times New Roman"/>
                  <a:cs typeface="Times New Roman"/>
                </a:rPr>
                <a:t>13</a:t>
              </a:r>
              <a:r>
                <a:rPr lang="ro-RO" sz="1000" b="1" spc="175">
                  <a:effectLst/>
                  <a:latin typeface="Calibri"/>
                  <a:ea typeface="Times New Roman"/>
                  <a:cs typeface="Times New Roman"/>
                </a:rPr>
                <a:t>  </a:t>
              </a:r>
              <a:r>
                <a:rPr lang="ro-RO" sz="1000" b="1">
                  <a:effectLst/>
                  <a:latin typeface="Calibri"/>
                  <a:ea typeface="Times New Roman"/>
                  <a:cs typeface="Times New Roman"/>
                </a:rPr>
                <a:t>14</a:t>
              </a:r>
              <a:r>
                <a:rPr lang="ro-RO" sz="1000" b="1" spc="175">
                  <a:effectLst/>
                  <a:latin typeface="Calibri"/>
                  <a:ea typeface="Times New Roman"/>
                  <a:cs typeface="Times New Roman"/>
                </a:rPr>
                <a:t>  </a:t>
              </a:r>
              <a:r>
                <a:rPr lang="ro-RO" sz="1000" b="1">
                  <a:effectLst/>
                  <a:latin typeface="Calibri"/>
                  <a:ea typeface="Times New Roman"/>
                  <a:cs typeface="Times New Roman"/>
                </a:rPr>
                <a:t>15</a:t>
              </a:r>
              <a:r>
                <a:rPr lang="ro-RO" sz="1000" b="1" spc="175">
                  <a:effectLst/>
                  <a:latin typeface="Calibri"/>
                  <a:ea typeface="Times New Roman"/>
                  <a:cs typeface="Times New Roman"/>
                </a:rPr>
                <a:t>  </a:t>
              </a:r>
              <a:r>
                <a:rPr lang="ro-RO" sz="1000" b="1">
                  <a:effectLst/>
                  <a:latin typeface="Calibri"/>
                  <a:ea typeface="Times New Roman"/>
                  <a:cs typeface="Times New Roman"/>
                </a:rPr>
                <a:t>16</a:t>
              </a:r>
              <a:r>
                <a:rPr lang="ro-RO" sz="1000" b="1" spc="180">
                  <a:effectLst/>
                  <a:latin typeface="Calibri"/>
                  <a:ea typeface="Times New Roman"/>
                  <a:cs typeface="Times New Roman"/>
                </a:rPr>
                <a:t>  </a:t>
              </a:r>
              <a:r>
                <a:rPr lang="ro-RO" sz="1000" b="1">
                  <a:effectLst/>
                  <a:latin typeface="Calibri"/>
                  <a:ea typeface="Times New Roman"/>
                  <a:cs typeface="Times New Roman"/>
                </a:rPr>
                <a:t>17</a:t>
              </a:r>
              <a:r>
                <a:rPr lang="ro-RO" sz="1000" b="1" spc="175">
                  <a:effectLst/>
                  <a:latin typeface="Calibri"/>
                  <a:ea typeface="Times New Roman"/>
                  <a:cs typeface="Times New Roman"/>
                </a:rPr>
                <a:t>  </a:t>
              </a:r>
              <a:r>
                <a:rPr lang="ro-RO" sz="1000" b="1">
                  <a:effectLst/>
                  <a:latin typeface="Calibri"/>
                  <a:ea typeface="Times New Roman"/>
                  <a:cs typeface="Times New Roman"/>
                </a:rPr>
                <a:t>18</a:t>
              </a:r>
              <a:r>
                <a:rPr lang="ro-RO" sz="1000" b="1" spc="175">
                  <a:effectLst/>
                  <a:latin typeface="Calibri"/>
                  <a:ea typeface="Times New Roman"/>
                  <a:cs typeface="Times New Roman"/>
                </a:rPr>
                <a:t>  </a:t>
              </a:r>
              <a:r>
                <a:rPr lang="ro-RO" sz="1000" b="1">
                  <a:effectLst/>
                  <a:latin typeface="Calibri"/>
                  <a:ea typeface="Times New Roman"/>
                  <a:cs typeface="Times New Roman"/>
                </a:rPr>
                <a:t>19</a:t>
              </a:r>
              <a:r>
                <a:rPr lang="ro-RO" sz="1000" b="1" spc="175">
                  <a:effectLst/>
                  <a:latin typeface="Calibri"/>
                  <a:ea typeface="Times New Roman"/>
                  <a:cs typeface="Times New Roman"/>
                </a:rPr>
                <a:t>  </a:t>
              </a:r>
              <a:r>
                <a:rPr lang="ro-RO" sz="1000" b="1">
                  <a:effectLst/>
                  <a:latin typeface="Calibri"/>
                  <a:ea typeface="Times New Roman"/>
                  <a:cs typeface="Times New Roman"/>
                </a:rPr>
                <a:t>20</a:t>
              </a:r>
              <a:r>
                <a:rPr lang="ro-RO" sz="1000" b="1" spc="175">
                  <a:effectLst/>
                  <a:latin typeface="Calibri"/>
                  <a:ea typeface="Times New Roman"/>
                  <a:cs typeface="Times New Roman"/>
                </a:rPr>
                <a:t>  </a:t>
              </a:r>
              <a:r>
                <a:rPr lang="ro-RO" sz="1000" b="1" spc="-25">
                  <a:effectLst/>
                  <a:latin typeface="Calibri"/>
                  <a:ea typeface="Times New Roman"/>
                  <a:cs typeface="Times New Roman"/>
                </a:rPr>
                <a:t>21</a:t>
              </a:r>
              <a:endParaRPr lang="ro-RO" sz="1100" b="1">
                <a:effectLst/>
                <a:latin typeface="Times New Roman"/>
                <a:ea typeface="Times New Roman"/>
              </a:endParaRPr>
            </a:p>
          </p:txBody>
        </p:sp>
        <p:sp>
          <p:nvSpPr>
            <p:cNvPr id="13" name="Textbox 52"/>
            <p:cNvSpPr txBox="1"/>
            <p:nvPr/>
          </p:nvSpPr>
          <p:spPr>
            <a:xfrm>
              <a:off x="624966" y="4166914"/>
              <a:ext cx="1402080" cy="141605"/>
            </a:xfrm>
            <a:prstGeom prst="rect">
              <a:avLst/>
            </a:prstGeom>
          </p:spPr>
          <p:txBody>
            <a:bodyPr wrap="square" lIns="0" tIns="0" rIns="0" bIns="0" rtlCol="0">
              <a:noAutofit/>
            </a:bodyPr>
            <a:lstStyle/>
            <a:p>
              <a:pPr>
                <a:lnSpc>
                  <a:spcPts val="1110"/>
                </a:lnSpc>
                <a:spcAft>
                  <a:spcPts val="0"/>
                </a:spcAft>
              </a:pPr>
              <a:r>
                <a:rPr lang="ro-RO" sz="1000" b="1">
                  <a:effectLst/>
                  <a:latin typeface="Microsoft Sans Serif"/>
                  <a:ea typeface="Times New Roman"/>
                  <a:cs typeface="Times New Roman"/>
                </a:rPr>
                <a:t>Temperatură</a:t>
              </a:r>
              <a:r>
                <a:rPr lang="ro-RO" sz="1000" b="1" spc="-35">
                  <a:effectLst/>
                  <a:latin typeface="Microsoft Sans Serif"/>
                  <a:ea typeface="Times New Roman"/>
                  <a:cs typeface="Times New Roman"/>
                </a:rPr>
                <a:t> </a:t>
              </a:r>
              <a:r>
                <a:rPr lang="ro-RO" sz="1000" b="1">
                  <a:effectLst/>
                  <a:latin typeface="Microsoft Sans Serif"/>
                  <a:ea typeface="Times New Roman"/>
                  <a:cs typeface="Times New Roman"/>
                </a:rPr>
                <a:t>ADC</a:t>
              </a:r>
              <a:r>
                <a:rPr lang="ro-RO" sz="1000" b="1" spc="-35">
                  <a:effectLst/>
                  <a:latin typeface="Microsoft Sans Serif"/>
                  <a:ea typeface="Times New Roman"/>
                  <a:cs typeface="Times New Roman"/>
                </a:rPr>
                <a:t> </a:t>
              </a:r>
              <a:r>
                <a:rPr lang="ro-RO" sz="1000" b="1" spc="-10">
                  <a:effectLst/>
                  <a:latin typeface="Microsoft Sans Serif"/>
                  <a:ea typeface="Times New Roman"/>
                  <a:cs typeface="Times New Roman"/>
                </a:rPr>
                <a:t>Intern</a:t>
              </a:r>
              <a:endParaRPr lang="ro-RO" sz="1100" b="1">
                <a:effectLst/>
                <a:latin typeface="Times New Roman"/>
                <a:ea typeface="Times New Roman"/>
              </a:endParaRPr>
            </a:p>
          </p:txBody>
        </p:sp>
        <p:sp>
          <p:nvSpPr>
            <p:cNvPr id="14" name="Textbox 53"/>
            <p:cNvSpPr txBox="1"/>
            <p:nvPr/>
          </p:nvSpPr>
          <p:spPr>
            <a:xfrm>
              <a:off x="2346451" y="4166914"/>
              <a:ext cx="1444625" cy="141605"/>
            </a:xfrm>
            <a:prstGeom prst="rect">
              <a:avLst/>
            </a:prstGeom>
          </p:spPr>
          <p:txBody>
            <a:bodyPr wrap="square" lIns="0" tIns="0" rIns="0" bIns="0" rtlCol="0">
              <a:noAutofit/>
            </a:bodyPr>
            <a:lstStyle/>
            <a:p>
              <a:pPr>
                <a:lnSpc>
                  <a:spcPts val="1110"/>
                </a:lnSpc>
                <a:spcAft>
                  <a:spcPts val="0"/>
                </a:spcAft>
              </a:pPr>
              <a:r>
                <a:rPr lang="ro-RO" sz="1000" b="1">
                  <a:effectLst/>
                  <a:latin typeface="Microsoft Sans Serif"/>
                  <a:ea typeface="Times New Roman"/>
                  <a:cs typeface="Times New Roman"/>
                </a:rPr>
                <a:t>Temperatură</a:t>
              </a:r>
              <a:r>
                <a:rPr lang="ro-RO" sz="1000" b="1" spc="-35">
                  <a:effectLst/>
                  <a:latin typeface="Microsoft Sans Serif"/>
                  <a:ea typeface="Times New Roman"/>
                  <a:cs typeface="Times New Roman"/>
                </a:rPr>
                <a:t> </a:t>
              </a:r>
              <a:r>
                <a:rPr lang="ro-RO" sz="1000" b="1">
                  <a:effectLst/>
                  <a:latin typeface="Microsoft Sans Serif"/>
                  <a:ea typeface="Times New Roman"/>
                  <a:cs typeface="Times New Roman"/>
                </a:rPr>
                <a:t>ADC</a:t>
              </a:r>
              <a:r>
                <a:rPr lang="ro-RO" sz="1000" b="1" spc="-35">
                  <a:effectLst/>
                  <a:latin typeface="Microsoft Sans Serif"/>
                  <a:ea typeface="Times New Roman"/>
                  <a:cs typeface="Times New Roman"/>
                </a:rPr>
                <a:t> </a:t>
              </a:r>
              <a:r>
                <a:rPr lang="ro-RO" sz="1000" b="1" spc="-10">
                  <a:effectLst/>
                  <a:latin typeface="Microsoft Sans Serif"/>
                  <a:ea typeface="Times New Roman"/>
                  <a:cs typeface="Times New Roman"/>
                </a:rPr>
                <a:t>Extern</a:t>
              </a:r>
              <a:endParaRPr lang="ro-RO" sz="1100" b="1">
                <a:effectLst/>
                <a:latin typeface="Times New Roman"/>
                <a:ea typeface="Times New Roman"/>
              </a:endParaRPr>
            </a:p>
          </p:txBody>
        </p:sp>
        <p:sp>
          <p:nvSpPr>
            <p:cNvPr id="15" name="Textbox 54"/>
            <p:cNvSpPr txBox="1"/>
            <p:nvPr/>
          </p:nvSpPr>
          <p:spPr>
            <a:xfrm>
              <a:off x="4110354" y="4171486"/>
              <a:ext cx="1148080" cy="141605"/>
            </a:xfrm>
            <a:prstGeom prst="rect">
              <a:avLst/>
            </a:prstGeom>
          </p:spPr>
          <p:txBody>
            <a:bodyPr wrap="square" lIns="0" tIns="0" rIns="0" bIns="0" rtlCol="0">
              <a:noAutofit/>
            </a:bodyPr>
            <a:lstStyle/>
            <a:p>
              <a:pPr>
                <a:lnSpc>
                  <a:spcPts val="1110"/>
                </a:lnSpc>
                <a:spcAft>
                  <a:spcPts val="0"/>
                </a:spcAft>
              </a:pPr>
              <a:r>
                <a:rPr lang="ro-RO" sz="1000" b="1">
                  <a:effectLst/>
                  <a:latin typeface="Microsoft Sans Serif"/>
                  <a:ea typeface="Times New Roman"/>
                  <a:cs typeface="Times New Roman"/>
                </a:rPr>
                <a:t>Temperatură</a:t>
              </a:r>
              <a:r>
                <a:rPr lang="ro-RO" sz="1000" b="1" spc="-60">
                  <a:effectLst/>
                  <a:latin typeface="Microsoft Sans Serif"/>
                  <a:ea typeface="Times New Roman"/>
                  <a:cs typeface="Times New Roman"/>
                </a:rPr>
                <a:t> </a:t>
              </a:r>
              <a:r>
                <a:rPr lang="ro-RO" sz="1000" b="1" spc="-10">
                  <a:effectLst/>
                  <a:latin typeface="Microsoft Sans Serif"/>
                  <a:ea typeface="Times New Roman"/>
                  <a:cs typeface="Times New Roman"/>
                </a:rPr>
                <a:t>afișată</a:t>
              </a:r>
              <a:endParaRPr lang="ro-RO" sz="1100" b="1">
                <a:effectLst/>
                <a:latin typeface="Times New Roman"/>
                <a:ea typeface="Times New Roman"/>
              </a:endParaRPr>
            </a:p>
          </p:txBody>
        </p:sp>
      </p:grpSp>
    </p:spTree>
    <p:extLst>
      <p:ext uri="{BB962C8B-B14F-4D97-AF65-F5344CB8AC3E}">
        <p14:creationId xmlns:p14="http://schemas.microsoft.com/office/powerpoint/2010/main" val="44527942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ro-RO" dirty="0" smtClean="0"/>
              <a:t>Concluzii</a:t>
            </a:r>
            <a:endParaRPr lang="ro-RO" dirty="0"/>
          </a:p>
        </p:txBody>
      </p:sp>
      <p:sp>
        <p:nvSpPr>
          <p:cNvPr id="3" name="Content Placeholder 2"/>
          <p:cNvSpPr>
            <a:spLocks noGrp="1"/>
          </p:cNvSpPr>
          <p:nvPr>
            <p:ph idx="1"/>
          </p:nvPr>
        </p:nvSpPr>
        <p:spPr>
          <a:xfrm>
            <a:off x="0" y="1609416"/>
            <a:ext cx="8153400" cy="5248584"/>
          </a:xfrm>
        </p:spPr>
        <p:txBody>
          <a:bodyPr>
            <a:normAutofit fontScale="92500" lnSpcReduction="10000"/>
          </a:bodyPr>
          <a:lstStyle/>
          <a:p>
            <a:r>
              <a:rPr lang="vi-VN" dirty="0"/>
              <a:t>În această lucrare a fost realizat și validat un sistem educațional de măsurare a temperaturii cu senzor PT100, bazat pe punte Wheatstone, amplificare analogică și conversie dual-ADC. </a:t>
            </a:r>
            <a:endParaRPr lang="ro-RO" dirty="0" smtClean="0"/>
          </a:p>
          <a:p>
            <a:r>
              <a:rPr lang="vi-VN" dirty="0" smtClean="0"/>
              <a:t>Utilizarea </a:t>
            </a:r>
            <a:r>
              <a:rPr lang="vi-VN" dirty="0"/>
              <a:t>simultană a ADC-ului intern al microcontrolerului PIC16F877A și a convertorului extern PCF8591, împreună cu un algoritm de fuziune inteligentă, a condus la obținerea unei erori medii de aproximativ 0,8°C pe intervalul 0–100°C, demonstrând precizia și fiabilitatea soluției. </a:t>
            </a:r>
            <a:endParaRPr lang="ro-RO" dirty="0" smtClean="0"/>
          </a:p>
          <a:p>
            <a:r>
              <a:rPr lang="vi-VN" dirty="0" smtClean="0"/>
              <a:t>Sistemul </a:t>
            </a:r>
            <a:r>
              <a:rPr lang="vi-VN" dirty="0"/>
              <a:t>confirmă faptul că, folosind componente uzuale și o arhitectură simplificată, pot fi obținute performanțe apropiate de cele ale sistemelor industriale, reprezentând o bază solidă pentru dezvoltări ulterioare.</a:t>
            </a:r>
            <a:endParaRPr lang="ro-RO" dirty="0"/>
          </a:p>
        </p:txBody>
      </p:sp>
    </p:spTree>
    <p:extLst>
      <p:ext uri="{BB962C8B-B14F-4D97-AF65-F5344CB8AC3E}">
        <p14:creationId xmlns:p14="http://schemas.microsoft.com/office/powerpoint/2010/main" val="135776055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153400" cy="685800"/>
          </a:xfrm>
        </p:spPr>
        <p:txBody>
          <a:bodyPr/>
          <a:lstStyle/>
          <a:p>
            <a:pPr algn="ctr"/>
            <a:r>
              <a:rPr lang="en-US" dirty="0" err="1" smtClean="0"/>
              <a:t>Bibliografie</a:t>
            </a:r>
            <a:endParaRPr lang="ro-RO" dirty="0"/>
          </a:p>
        </p:txBody>
      </p:sp>
      <p:sp>
        <p:nvSpPr>
          <p:cNvPr id="3" name="Content Placeholder 2"/>
          <p:cNvSpPr>
            <a:spLocks noGrp="1"/>
          </p:cNvSpPr>
          <p:nvPr>
            <p:ph idx="1"/>
          </p:nvPr>
        </p:nvSpPr>
        <p:spPr>
          <a:xfrm>
            <a:off x="0" y="1371600"/>
            <a:ext cx="8153400" cy="5486400"/>
          </a:xfrm>
        </p:spPr>
        <p:txBody>
          <a:bodyPr>
            <a:normAutofit fontScale="40000" lnSpcReduction="20000"/>
          </a:bodyPr>
          <a:lstStyle/>
          <a:p>
            <a:r>
              <a:rPr lang="ro-RO" dirty="0" smtClean="0"/>
              <a:t>[</a:t>
            </a:r>
            <a:r>
              <a:rPr lang="en-US" sz="2900" dirty="0" smtClean="0"/>
              <a:t>1</a:t>
            </a:r>
            <a:r>
              <a:rPr lang="ro-RO" sz="2900" dirty="0" smtClean="0"/>
              <a:t>]</a:t>
            </a:r>
            <a:r>
              <a:rPr lang="en-US" sz="2900" dirty="0" smtClean="0"/>
              <a:t> R</a:t>
            </a:r>
            <a:r>
              <a:rPr lang="ro-RO" sz="2900" dirty="0" smtClean="0"/>
              <a:t>ealPars</a:t>
            </a:r>
            <a:r>
              <a:rPr lang="ro-RO" sz="2900" dirty="0"/>
              <a:t>, “Pt100 Sensor Explained | Working Principles,” 2025. [Online]. Available: https://www.realpars.com/blog/pt100 [Accesat la data de: 23-Dec-2025</a:t>
            </a:r>
            <a:r>
              <a:rPr lang="ro-RO" sz="2900" dirty="0" smtClean="0"/>
              <a:t>]</a:t>
            </a:r>
            <a:endParaRPr lang="en-US" sz="2900" dirty="0" smtClean="0"/>
          </a:p>
          <a:p>
            <a:r>
              <a:rPr lang="en-US" sz="2900" dirty="0"/>
              <a:t>[2] </a:t>
            </a:r>
            <a:r>
              <a:rPr lang="en-US" sz="2900" dirty="0" smtClean="0"/>
              <a:t>El‑Watch</a:t>
            </a:r>
            <a:r>
              <a:rPr lang="en-US" sz="2900" dirty="0"/>
              <a:t>, “PT100 Sensors: What are they, and which types are best for your needs?”, 05‑May‑2023. [Online]. Available: https://el-watch.com/pt100-a-complete-guide/. [</a:t>
            </a:r>
            <a:r>
              <a:rPr lang="en-US" sz="2900" dirty="0" err="1"/>
              <a:t>Accesat</a:t>
            </a:r>
            <a:r>
              <a:rPr lang="en-US" sz="2900" dirty="0"/>
              <a:t> la data de: 23-Dec-2025</a:t>
            </a:r>
            <a:r>
              <a:rPr lang="en-US" sz="2900" dirty="0" smtClean="0"/>
              <a:t>].</a:t>
            </a:r>
          </a:p>
          <a:p>
            <a:r>
              <a:rPr lang="en-US" sz="2900" dirty="0" smtClean="0"/>
              <a:t>[3</a:t>
            </a:r>
            <a:r>
              <a:rPr lang="en-US" sz="2900" dirty="0"/>
              <a:t>] </a:t>
            </a:r>
            <a:r>
              <a:rPr lang="en-US" sz="2900" dirty="0">
                <a:hlinkClick r:id="rId2"/>
              </a:rPr>
              <a:t>https://</a:t>
            </a:r>
            <a:r>
              <a:rPr lang="en-US" sz="2900" dirty="0" smtClean="0">
                <a:hlinkClick r:id="rId2"/>
              </a:rPr>
              <a:t>ro.rsdelivers.com/product/rs-pro/rs-pro-pt100-rtd-sensor-3mm-dia-100mm-long-4-wire/4-bspp-250c-max/2842378</a:t>
            </a:r>
            <a:endParaRPr lang="en-US" sz="2900" dirty="0" smtClean="0"/>
          </a:p>
          <a:p>
            <a:r>
              <a:rPr lang="ro-RO" sz="2900" dirty="0" smtClean="0"/>
              <a:t>[</a:t>
            </a:r>
            <a:r>
              <a:rPr lang="en-US" sz="2900" dirty="0" smtClean="0"/>
              <a:t>4</a:t>
            </a:r>
            <a:r>
              <a:rPr lang="ro-RO" sz="2900" dirty="0" smtClean="0"/>
              <a:t>]</a:t>
            </a:r>
            <a:r>
              <a:rPr lang="en-US" sz="2900" dirty="0" smtClean="0"/>
              <a:t> </a:t>
            </a:r>
            <a:r>
              <a:rPr lang="ro-RO" sz="2900" dirty="0" smtClean="0"/>
              <a:t>C. Bini, S. Ahmed, M. Del Bianco, “Temperature Probe and Method for Manufacturing a Temperature Probe,” European Patent EP 21215112.0, granted Feb. 5, 2025.</a:t>
            </a:r>
            <a:endParaRPr lang="en-US" sz="2900" dirty="0" smtClean="0"/>
          </a:p>
          <a:p>
            <a:r>
              <a:rPr lang="en-US" sz="2900" dirty="0"/>
              <a:t>[5] </a:t>
            </a:r>
            <a:r>
              <a:rPr lang="en-US" sz="2900" dirty="0" smtClean="0"/>
              <a:t>X</a:t>
            </a:r>
            <a:r>
              <a:rPr lang="en-US" sz="2900" dirty="0"/>
              <a:t>. Wang, X. Yin, Design of Signal Conditioning Module of PT100 Temperature Sensor Detection System, Key Engineering Materials, 428–429, 556–560, 2010</a:t>
            </a:r>
            <a:r>
              <a:rPr lang="en-US" sz="2900" dirty="0" smtClean="0"/>
              <a:t>.</a:t>
            </a:r>
          </a:p>
          <a:p>
            <a:r>
              <a:rPr lang="en-US" sz="2900" dirty="0"/>
              <a:t>[6] </a:t>
            </a:r>
            <a:r>
              <a:rPr lang="en-US" sz="2900" dirty="0" smtClean="0"/>
              <a:t>M.T</a:t>
            </a:r>
            <a:r>
              <a:rPr lang="en-US" sz="2900" dirty="0"/>
              <a:t>. </a:t>
            </a:r>
            <a:r>
              <a:rPr lang="en-US" sz="2900" dirty="0" err="1"/>
              <a:t>Małek</a:t>
            </a:r>
            <a:r>
              <a:rPr lang="en-US" sz="2900" dirty="0"/>
              <a:t>, H. </a:t>
            </a:r>
            <a:r>
              <a:rPr lang="en-US" sz="2900" dirty="0" err="1"/>
              <a:t>Koczyk</a:t>
            </a:r>
            <a:r>
              <a:rPr lang="en-US" sz="2900" dirty="0"/>
              <a:t>, Influence of Temperature Sensor (PT100) Accuracy on the Interpretation of Experimental Results of Measuring Temperature on the Surface, Civil and Environmental Engineering Reports, vol. 34, nr. 4, 2024, pp. 1–21, doi:10.59440/</a:t>
            </a:r>
            <a:r>
              <a:rPr lang="en-US" sz="2900" dirty="0" err="1"/>
              <a:t>ceer</a:t>
            </a:r>
            <a:r>
              <a:rPr lang="en-US" sz="2900" dirty="0"/>
              <a:t>/192146</a:t>
            </a:r>
            <a:r>
              <a:rPr lang="en-US" sz="2900" dirty="0" smtClean="0"/>
              <a:t>.</a:t>
            </a:r>
          </a:p>
          <a:p>
            <a:r>
              <a:rPr lang="en-US" sz="2900" dirty="0"/>
              <a:t>[</a:t>
            </a:r>
            <a:r>
              <a:rPr lang="en-US" sz="2900" dirty="0" smtClean="0"/>
              <a:t>7] Qing </a:t>
            </a:r>
            <a:r>
              <a:rPr lang="en-US" sz="2900" dirty="0"/>
              <a:t>Wang et al., Simulation for Temperature Measurement and Control System Based on PT100, </a:t>
            </a:r>
            <a:r>
              <a:rPr lang="en-US" sz="2900" dirty="0" smtClean="0"/>
              <a:t>2019</a:t>
            </a:r>
          </a:p>
          <a:p>
            <a:pPr lvl="0"/>
            <a:r>
              <a:rPr lang="en-US" sz="2900" dirty="0" smtClean="0"/>
              <a:t>[8] </a:t>
            </a:r>
            <a:r>
              <a:rPr lang="ro-RO" sz="2900" dirty="0"/>
              <a:t>Q. Wang, G. Wang, X. Xie, L. Zhou, “Design and Simulation for Temperature Measurement and Control System Based on PT100,” Elektronika ir Elektrotehnika, vol. 21, no. 4, 2015</a:t>
            </a:r>
            <a:r>
              <a:rPr lang="ro-RO" sz="2900" dirty="0" smtClean="0"/>
              <a:t>.</a:t>
            </a:r>
            <a:endParaRPr lang="en-US" sz="2900" dirty="0" smtClean="0"/>
          </a:p>
          <a:p>
            <a:pPr lvl="0"/>
            <a:r>
              <a:rPr lang="en-US" sz="2900" dirty="0"/>
              <a:t>[9] </a:t>
            </a:r>
            <a:r>
              <a:rPr lang="en-US" sz="2900" dirty="0" smtClean="0"/>
              <a:t>J</a:t>
            </a:r>
            <a:r>
              <a:rPr lang="en-US" sz="2900" dirty="0"/>
              <a:t>. A. </a:t>
            </a:r>
            <a:r>
              <a:rPr lang="en-US" sz="2900" dirty="0" err="1"/>
              <a:t>Prakosa</a:t>
            </a:r>
            <a:r>
              <a:rPr lang="en-US" sz="2900" dirty="0"/>
              <a:t>, P. </a:t>
            </a:r>
            <a:r>
              <a:rPr lang="en-US" sz="2900" dirty="0" err="1"/>
              <a:t>Purwowibowo</a:t>
            </a:r>
            <a:r>
              <a:rPr lang="en-US" sz="2900" dirty="0"/>
              <a:t>, D. </a:t>
            </a:r>
            <a:r>
              <a:rPr lang="en-US" sz="2900" dirty="0" err="1"/>
              <a:t>Larassati</a:t>
            </a:r>
            <a:r>
              <a:rPr lang="en-US" sz="2900" dirty="0"/>
              <a:t>, “Development of Simple Method for Quality Testing of PT100 Sensors Due to Temperature Coefficient of Resistance Measurement,” IEEE ISESD, 2021</a:t>
            </a:r>
            <a:r>
              <a:rPr lang="en-US" sz="2900" dirty="0" smtClean="0"/>
              <a:t>.</a:t>
            </a:r>
          </a:p>
          <a:p>
            <a:pPr lvl="0"/>
            <a:r>
              <a:rPr lang="en-US" sz="2900" dirty="0" smtClean="0"/>
              <a:t>[10] Rika </a:t>
            </a:r>
            <a:r>
              <a:rPr lang="en-US" sz="2900" dirty="0"/>
              <a:t>Sensor, “The Advantages of PT100 Temperature Sensors in Industrial Applications,” 26-Aug-2023. [Online]. Available: https://www.rikasensor.com/the-advantages-of-pt100- temperature-sensors-in-industrial-applications.html. [</a:t>
            </a:r>
            <a:r>
              <a:rPr lang="en-US" sz="2900" dirty="0" err="1"/>
              <a:t>Accesat</a:t>
            </a:r>
            <a:r>
              <a:rPr lang="en-US" sz="2900" dirty="0"/>
              <a:t> la data de: 23-Dec-2025].</a:t>
            </a:r>
          </a:p>
          <a:p>
            <a:pPr lvl="0"/>
            <a:r>
              <a:rPr lang="en-US" sz="2900" dirty="0" smtClean="0"/>
              <a:t>[11] </a:t>
            </a:r>
            <a:r>
              <a:rPr lang="en-US" sz="2900" dirty="0" err="1" smtClean="0"/>
              <a:t>Optimus</a:t>
            </a:r>
            <a:r>
              <a:rPr lang="en-US" sz="2900" dirty="0" smtClean="0"/>
              <a:t> </a:t>
            </a:r>
            <a:r>
              <a:rPr lang="en-US" sz="2900" dirty="0"/>
              <a:t>Digital S.R.L., “</a:t>
            </a:r>
            <a:r>
              <a:rPr lang="en-US" sz="2900" dirty="0" err="1"/>
              <a:t>Modul</a:t>
            </a:r>
            <a:r>
              <a:rPr lang="en-US" sz="2900" dirty="0"/>
              <a:t> Convertor AD/DA PCF8591 cu </a:t>
            </a:r>
            <a:r>
              <a:rPr lang="en-US" sz="2900" dirty="0" err="1"/>
              <a:t>Fotorezistor</a:t>
            </a:r>
            <a:r>
              <a:rPr lang="en-US" sz="2900" dirty="0"/>
              <a:t> </a:t>
            </a:r>
            <a:r>
              <a:rPr lang="en-US" sz="2900" dirty="0" err="1"/>
              <a:t>și</a:t>
            </a:r>
            <a:r>
              <a:rPr lang="en-US" sz="2900" dirty="0"/>
              <a:t> </a:t>
            </a:r>
            <a:r>
              <a:rPr lang="en-US" sz="2900" dirty="0" err="1"/>
              <a:t>Termistor</a:t>
            </a:r>
            <a:r>
              <a:rPr lang="en-US" sz="2900" dirty="0"/>
              <a:t>,” *OptimusDigital.ro*. [Online]. Available: https://www.optimusdigital.ro/ro/convertoare-analogic-numerice-adc/170-modul-convertor- adda-pcf8591.html. [</a:t>
            </a:r>
            <a:r>
              <a:rPr lang="en-US" sz="2900" dirty="0" err="1"/>
              <a:t>Accesat</a:t>
            </a:r>
            <a:r>
              <a:rPr lang="en-US" sz="2900" dirty="0"/>
              <a:t> la data de: 23-Dec-2025</a:t>
            </a:r>
            <a:r>
              <a:rPr lang="en-US" sz="2900" dirty="0" smtClean="0"/>
              <a:t>].]</a:t>
            </a:r>
          </a:p>
          <a:p>
            <a:pPr lvl="0"/>
            <a:r>
              <a:rPr lang="en-US" sz="2900" dirty="0" smtClean="0"/>
              <a:t>[12] S</a:t>
            </a:r>
            <a:r>
              <a:rPr lang="en-US" sz="2900" dirty="0"/>
              <a:t>. Smith, “PIC16F877A </a:t>
            </a:r>
            <a:r>
              <a:rPr lang="en-US" sz="2900" dirty="0" err="1"/>
              <a:t>Pinout</a:t>
            </a:r>
            <a:r>
              <a:rPr lang="en-US" sz="2900" dirty="0"/>
              <a:t> and Pin Configuration Guide,” *SUNPCB*, Apr. 19, 2025. [Online]. Available: https://www.sunpcb.com/blog/pic16f877a-pinout-and-pin- configuration-guide.html</a:t>
            </a:r>
            <a:endParaRPr lang="ro-RO" sz="2900" dirty="0" smtClean="0"/>
          </a:p>
          <a:p>
            <a:endParaRPr lang="en-US" sz="2900" dirty="0"/>
          </a:p>
        </p:txBody>
      </p:sp>
    </p:spTree>
    <p:extLst>
      <p:ext uri="{BB962C8B-B14F-4D97-AF65-F5344CB8AC3E}">
        <p14:creationId xmlns:p14="http://schemas.microsoft.com/office/powerpoint/2010/main" val="225648154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20040"/>
            <a:ext cx="8153400" cy="1508760"/>
          </a:xfrm>
        </p:spPr>
        <p:txBody>
          <a:bodyPr>
            <a:normAutofit fontScale="90000"/>
          </a:bodyPr>
          <a:lstStyle/>
          <a:p>
            <a:pPr algn="ctr"/>
            <a:r>
              <a:rPr lang="vi-VN" dirty="0"/>
              <a:t>Anexă. Codul sursă al proiectului </a:t>
            </a:r>
            <a:br>
              <a:rPr lang="vi-VN" dirty="0"/>
            </a:br>
            <a:endParaRPr lang="ro-RO" dirty="0"/>
          </a:p>
        </p:txBody>
      </p:sp>
      <p:sp>
        <p:nvSpPr>
          <p:cNvPr id="3" name="Content Placeholder 2"/>
          <p:cNvSpPr>
            <a:spLocks noGrp="1"/>
          </p:cNvSpPr>
          <p:nvPr>
            <p:ph idx="1"/>
          </p:nvPr>
        </p:nvSpPr>
        <p:spPr/>
        <p:txBody>
          <a:bodyPr/>
          <a:lstStyle/>
          <a:p>
            <a:r>
              <a:rPr lang="ro-RO" dirty="0" smtClean="0"/>
              <a:t>https://github.com/ciobotaruionutandrei/Cod-surs-proiect-ST</a:t>
            </a:r>
            <a:endParaRPr lang="ro-RO" dirty="0"/>
          </a:p>
        </p:txBody>
      </p:sp>
    </p:spTree>
    <p:extLst>
      <p:ext uri="{BB962C8B-B14F-4D97-AF65-F5344CB8AC3E}">
        <p14:creationId xmlns:p14="http://schemas.microsoft.com/office/powerpoint/2010/main" val="215931041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153400" cy="1143000"/>
          </a:xfrm>
        </p:spPr>
        <p:txBody>
          <a:bodyPr>
            <a:normAutofit fontScale="90000"/>
          </a:bodyPr>
          <a:lstStyle/>
          <a:p>
            <a:pPr algn="ctr"/>
            <a:r>
              <a:rPr lang="vi-VN" dirty="0"/>
              <a:t>Anexă. Imagine 3D a circuitului</a:t>
            </a:r>
            <a:br>
              <a:rPr lang="vi-VN" dirty="0"/>
            </a:br>
            <a:endParaRPr lang="ro-RO" dirty="0"/>
          </a:p>
        </p:txBody>
      </p:sp>
      <p:pic>
        <p:nvPicPr>
          <p:cNvPr id="4" name="Image 58"/>
          <p:cNvPicPr/>
          <p:nvPr/>
        </p:nvPicPr>
        <p:blipFill>
          <a:blip r:embed="rId2" cstate="print"/>
          <a:stretch>
            <a:fillRect/>
          </a:stretch>
        </p:blipFill>
        <p:spPr>
          <a:xfrm>
            <a:off x="0" y="762000"/>
            <a:ext cx="8153400" cy="6116782"/>
          </a:xfrm>
          <a:prstGeom prst="rect">
            <a:avLst/>
          </a:prstGeom>
        </p:spPr>
      </p:pic>
    </p:spTree>
    <p:extLst>
      <p:ext uri="{BB962C8B-B14F-4D97-AF65-F5344CB8AC3E}">
        <p14:creationId xmlns:p14="http://schemas.microsoft.com/office/powerpoint/2010/main" val="385355041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52</TotalTime>
  <Words>1441</Words>
  <Application>Microsoft Office PowerPoint</Application>
  <PresentationFormat>On-screen Show (4:3)</PresentationFormat>
  <Paragraphs>259</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Opulent</vt:lpstr>
      <vt:lpstr>Proiect Senzori și Traductoare Sistem integrat de achiziție și afișare a temperaturii utilizând senzor PT100 și microcontroler PIC16F877A</vt:lpstr>
      <vt:lpstr>CUPRINS</vt:lpstr>
      <vt:lpstr>Stadiul ACTUAL</vt:lpstr>
      <vt:lpstr>PowerPoint Presentation</vt:lpstr>
      <vt:lpstr>PowerPoint Presentation</vt:lpstr>
      <vt:lpstr>Arhitectura</vt:lpstr>
      <vt:lpstr>Arhitectura</vt:lpstr>
      <vt:lpstr>PowerPoint Presentation</vt:lpstr>
      <vt:lpstr>PowerPoint Presentation</vt:lpstr>
      <vt:lpstr>PowerPoint Presentation</vt:lpstr>
      <vt:lpstr>Schema electronica</vt:lpstr>
      <vt:lpstr>Funcționarea circuitului</vt:lpstr>
      <vt:lpstr>PowerPoint Presentation</vt:lpstr>
      <vt:lpstr>Editarea codului</vt:lpstr>
      <vt:lpstr>PowerPoint Presentation</vt:lpstr>
      <vt:lpstr>Testare și validare</vt:lpstr>
      <vt:lpstr>PowerPoint Presentation</vt:lpstr>
      <vt:lpstr>PowerPoint Presentation</vt:lpstr>
      <vt:lpstr>PowerPoint Presentation</vt:lpstr>
      <vt:lpstr>PowerPoint Presentation</vt:lpstr>
      <vt:lpstr>Concluzii</vt:lpstr>
      <vt:lpstr>Bibliografie</vt:lpstr>
      <vt:lpstr>Anexă. Codul sursă al proiectului  </vt:lpstr>
      <vt:lpstr>Anexă. Imagine 3D a circuitului </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Proiect Senzori și Traductoare Sistem integrat de achiziție și afișare a temperaturii utilizând senzor PT100 și microcontroler PIC16F877A</dc:title>
  <dc:creator>Dell</dc:creator>
  <cp:lastModifiedBy>Dell</cp:lastModifiedBy>
  <cp:revision>32</cp:revision>
  <dcterms:created xsi:type="dcterms:W3CDTF">2006-08-16T00:00:00Z</dcterms:created>
  <dcterms:modified xsi:type="dcterms:W3CDTF">2026-01-12T10:46:16Z</dcterms:modified>
</cp:coreProperties>
</file>